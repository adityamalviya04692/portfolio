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4b01f47eef4f7d" /><Relationship Type="http://schemas.openxmlformats.org/officeDocument/2006/relationships/extended-properties" Target="/docProps/app.xml" Id="Rd7d4d7a939434197" /><Relationship Type="http://schemas.openxmlformats.org/officeDocument/2006/relationships/officeDocument" Target="/ppt/presentation.xml" Id="R1a4f7fac65014e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d879eb261d4ddb"/>
  </p:sldMasterIdLst>
  <p:notesMasterIdLst>
    <p:notesMasterId xmlns:r="http://schemas.openxmlformats.org/officeDocument/2006/relationships" r:id="R8e1b57c19a84436d"/>
  </p:notesMasterIdLst>
  <p:sldIdLst>
    <p:sldId xmlns:r="http://schemas.openxmlformats.org/officeDocument/2006/relationships" id="256" r:id="R884e56c8cfd74bec"/>
    <p:sldId xmlns:r="http://schemas.openxmlformats.org/officeDocument/2006/relationships" id="257" r:id="R748187490abe4271"/>
    <p:sldId xmlns:r="http://schemas.openxmlformats.org/officeDocument/2006/relationships" id="258" r:id="R5f9534e927904c93"/>
    <p:sldId xmlns:r="http://schemas.openxmlformats.org/officeDocument/2006/relationships" id="259" r:id="R26fa0ed009034875"/>
    <p:sldId xmlns:r="http://schemas.openxmlformats.org/officeDocument/2006/relationships" id="260" r:id="R407198e406944b05"/>
    <p:sldId xmlns:r="http://schemas.openxmlformats.org/officeDocument/2006/relationships" id="261" r:id="Rd1a2039349084f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87105c58ad43d4" /><Relationship Type="http://schemas.openxmlformats.org/officeDocument/2006/relationships/slideMaster" Target="/ppt/slideMasters/slideMaster1.xml" Id="Rbad879eb261d4ddb" /><Relationship Type="http://schemas.openxmlformats.org/officeDocument/2006/relationships/notesMaster" Target="/ppt/notesMasters/notesMaster1.xml" Id="R8e1b57c19a84436d" /><Relationship Type="http://schemas.openxmlformats.org/officeDocument/2006/relationships/presProps" Target="/ppt/presProps.xml" Id="R6a42d27416cc42dd" /><Relationship Type="http://schemas.openxmlformats.org/officeDocument/2006/relationships/tableStyles" Target="/ppt/tableStyles.xml" Id="Rc50b2a5a6c8140cb" /><Relationship Type="http://schemas.openxmlformats.org/officeDocument/2006/relationships/slide" Target="/ppt/slides/slide1.xml" Id="R884e56c8cfd74bec" /><Relationship Type="http://schemas.openxmlformats.org/officeDocument/2006/relationships/slide" Target="/ppt/slides/slide2.xml" Id="R748187490abe4271" /><Relationship Type="http://schemas.openxmlformats.org/officeDocument/2006/relationships/slide" Target="/ppt/slides/slide3.xml" Id="R5f9534e927904c93" /><Relationship Type="http://schemas.openxmlformats.org/officeDocument/2006/relationships/slide" Target="/ppt/slides/slide4.xml" Id="R26fa0ed009034875" /><Relationship Type="http://schemas.openxmlformats.org/officeDocument/2006/relationships/slide" Target="/ppt/slides/slide5.xml" Id="R407198e406944b05" /><Relationship Type="http://schemas.openxmlformats.org/officeDocument/2006/relationships/slide" Target="/ppt/slides/slide6.xml" Id="Rd1a2039349084f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5855e2a7e445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971d0c975d4436" /><Relationship Type="http://schemas.openxmlformats.org/officeDocument/2006/relationships/notesMaster" Target="/ppt/notesMasters/notesMaster1.xml" Id="R716f1411bc8548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d9828638ff4907" /><Relationship Type="http://schemas.openxmlformats.org/officeDocument/2006/relationships/notesMaster" Target="/ppt/notesMasters/notesMaster1.xml" Id="R471156f8e9a240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29200811254982" /><Relationship Type="http://schemas.openxmlformats.org/officeDocument/2006/relationships/notesMaster" Target="/ppt/notesMasters/notesMaster1.xml" Id="Rf3930b0a832240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a830608024496a" /><Relationship Type="http://schemas.openxmlformats.org/officeDocument/2006/relationships/notesMaster" Target="/ppt/notesMasters/notesMaster1.xml" Id="R5a2551c7f7d348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a3d8060f7c4aed" /><Relationship Type="http://schemas.openxmlformats.org/officeDocument/2006/relationships/notesMaster" Target="/ppt/notesMasters/notesMaster1.xml" Id="R7bb3f5925af849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55b885fc35460c" /><Relationship Type="http://schemas.openxmlformats.org/officeDocument/2006/relationships/notesMaster" Target="/ppt/notesMasters/notesMaster1.xml" Id="Rf27c7476f1c04c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https://github.com/adityamalviya04692/flowforge and https://adityamalviya04692.github.io/flowforge/ . Screenshots captured from the live application during this revision.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https://github.com/adityamalviya04692/flowforge and https://adityamalviya04692.github.io/flowforge/ . Screenshots captured from the live application during this revision.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https://github.com/adityamalviya04692/flowforge and https://adityamalviya04692.github.io/flowforge/ . Screenshots captured from the live application during this revision. Live workspace contains user-added incomplete steps. Screenshot intentionally demonstrates validation, not a clean benchmark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https://github.com/adityamalviya04692/flowforge and https://adityamalviya04692.github.io/flowforge/ . Screenshots captured from the live application during this revision.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https://github.com/adityamalviya04692/flowforge and https://adityamalviya04692.github.io/flowforge/ . Screenshots captured from the live application during this revision.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https://github.com/adityamalviya04692/flowforge and https://adityamalviya04692.github.io/flowforge/ . Screenshots captured from the live application during this revision.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83d5c32ce844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e9d481f6547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acdb2f9c947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13c611a9a4e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f70915c2e24b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65329d41d43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63361D-896E-412F-9170-E17F10DD74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EA4E08-F330-45B1-A800-4ACC93A969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F808CA-0635-445F-AC8B-C74C8FE2E7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F13D65-3EFE-4A0A-9DB7-9196EF1082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F7315D-B84D-4D27-9C58-9D39B36D53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F509B5-2AFC-4725-8202-C3D46F5017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1A0ADC-C9CF-4A89-AA4D-F41DDD6B5F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179B91-407B-4D10-8483-FBF1841099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CB8F37-4D32-4850-9F63-D8B656811E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8241A8-1C3D-4ED5-9045-7F5CCF98DD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f50be0a1e74ffb" /><Relationship Type="http://schemas.openxmlformats.org/officeDocument/2006/relationships/slideLayout" Target="/ppt/slideLayouts/slideLayout1.xml" Id="R431c4f167cfa434b" /><Relationship Type="http://schemas.openxmlformats.org/officeDocument/2006/relationships/slideLayout" Target="/ppt/slideLayouts/slideLayout2.xml" Id="Re37bec970ca84bc8" /><Relationship Type="http://schemas.openxmlformats.org/officeDocument/2006/relationships/slideLayout" Target="/ppt/slideLayouts/slideLayout3.xml" Id="R73fa0f0cf4ff40b7" /><Relationship Type="http://schemas.openxmlformats.org/officeDocument/2006/relationships/slideLayout" Target="/ppt/slideLayouts/slideLayout4.xml" Id="Rbe294b35621c41d4" /><Relationship Type="http://schemas.openxmlformats.org/officeDocument/2006/relationships/slideLayout" Target="/ppt/slideLayouts/slideLayout5.xml" Id="R018dd8c06fe9415c" /><Relationship Type="http://schemas.openxmlformats.org/officeDocument/2006/relationships/slideLayout" Target="/ppt/slideLayouts/slideLayout6.xml" Id="R5e5f6369659a49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1c4f167cfa434b"/>
    <p:sldLayoutId xmlns:r="http://schemas.openxmlformats.org/officeDocument/2006/relationships" id="2147483650" r:id="Re37bec970ca84bc8"/>
    <p:sldLayoutId xmlns:r="http://schemas.openxmlformats.org/officeDocument/2006/relationships" id="2147483651" r:id="R73fa0f0cf4ff40b7"/>
    <p:sldLayoutId xmlns:r="http://schemas.openxmlformats.org/officeDocument/2006/relationships" id="2147483652" r:id="Rbe294b35621c41d4"/>
    <p:sldLayoutId xmlns:r="http://schemas.openxmlformats.org/officeDocument/2006/relationships" id="2147483653" r:id="R018dd8c06fe9415c"/>
    <p:sldLayoutId xmlns:r="http://schemas.openxmlformats.org/officeDocument/2006/relationships" id="2147483654" r:id="R5e5f6369659a49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d20c573674835" /><Relationship Type="http://schemas.openxmlformats.org/officeDocument/2006/relationships/notesSlide" Target="/ppt/notesSlides/notesSlide1.xml" Id="R22d037517a9b46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ad488ead6a46d5" /><Relationship Type="http://schemas.openxmlformats.org/officeDocument/2006/relationships/notesSlide" Target="/ppt/notesSlides/notesSlide2.xml" Id="R9d03d9cf8f3a4c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0b1da98724f81" /><Relationship Type="http://schemas.openxmlformats.org/officeDocument/2006/relationships/image" Target="/ppt/media/image.jpeg" Id="Rf3b8b751b6e2418d" /><Relationship Type="http://schemas.openxmlformats.org/officeDocument/2006/relationships/notesSlide" Target="/ppt/notesSlides/notesSlide3.xml" Id="Rb1d83fdbc53441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5433956674419" /><Relationship Type="http://schemas.openxmlformats.org/officeDocument/2006/relationships/notesSlide" Target="/ppt/notesSlides/notesSlide4.xml" Id="Rde157d6f3e7848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fe3bd88e54b75" /><Relationship Type="http://schemas.openxmlformats.org/officeDocument/2006/relationships/image" Target="/ppt/media/image2.jpeg" Id="R92d2363426a34aec" /><Relationship Type="http://schemas.openxmlformats.org/officeDocument/2006/relationships/notesSlide" Target="/ppt/notesSlides/notesSlide5.xml" Id="R794ec33a46834e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9913a8c7d4190" /><Relationship Type="http://schemas.openxmlformats.org/officeDocument/2006/relationships/notesSlide" Target="/ppt/notesSlides/notesSlide6.xml" Id="R1bed222d1bfe4d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4AA94-E4BF-470A-93E9-00E27320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4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A4D9B-DD65-4897-A761-7398BE22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FLOWFORGE OS   //   ENGINEERING CASE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05DC6-7931-4A0E-B85D-CA4547B1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1E123-1B8D-4ACE-9ADF-3F151DE7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ADITYA MALVIYA   /   LOCAL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152C8-49DE-4EBB-924F-C52F3B80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674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[01/06]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B4847-C393-418A-8E79-D15BBAE4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5700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FLOWFORGE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A5138-6B16-4238-93A8-A484AD82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479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pPr>
            <a:r>
              <a:rPr sz="2550" b="0">
                <a:solidFill>
                  <a:srgbClr val="E5EFE5"/>
                </a:solidFill>
                <a:latin typeface="Menlo"/>
                <a:ea typeface="Menlo"/>
                <a:cs typeface="Menlo"/>
              </a:rPr>
              <a:t>Visual pipelines. Inspectable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F0885-0D90-488B-AAD5-234E11E3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108585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115"/>
          </a:solidFill>
          <a:ln xmlns:a="http://schemas.openxmlformats.org/drawingml/2006/main" w="9525">
            <a:solidFill>
              <a:srgbClr val="355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95D4C-50CB-4AF3-9F29-5436C8AF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38550"/>
            <a:ext cx="10382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&gt; BUILD    Connect transformations on a graph</a:t>
            </a:r>
          </a:p>
          <a:p xmlns:a="http://schemas.openxmlformats.org/drawingml/2006/main">
            <a:pPr algn="l">
              <a:defRPr sz="18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&gt; RUN      Preview each step in DuckDB</a:t>
            </a:r>
          </a:p>
          <a:p xmlns:a="http://schemas.openxmlformats.org/drawingml/2006/main">
            <a:pPr algn="l">
              <a:defRPr sz="18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&gt; EXPORT   SQL, PySpark and a dbt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BB89F-B5F6-40CF-BA3C-3F368650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12 STEP TYPES     4 CODE TARGETS</a:t>
            </a:r>
          </a:p>
        </p:txBody>
      </p:sp>
    </p:spTree>
    <p:extLst>
      <p:ext uri="{BB962C8B-B14F-4D97-AF65-F5344CB8AC3E}">
        <p14:creationId xmlns:p14="http://schemas.microsoft.com/office/powerpoint/2010/main" val="1276365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84D94-BE02-4995-B545-C3CFAC12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4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B3720-436B-476F-BB35-42A1B7A7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FLOWFORGE OS   //   ENGINEERING CASE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CAAC7-FF9F-40D1-A31F-FCC2017D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5A0EB-B8CC-49F2-94CD-BB881850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3000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[01] WHY A VISUAL WORKSTATION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B7531-A4A7-4977-B5B3-B7D4C6E7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ADITYA MALVIYA   /   LOCAL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21044-8124-46AE-8950-74E4E421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674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[02/06]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AD806-87FC-4688-86E8-21E971F1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THE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8E6A9-FF98-4CF8-AFED-678DB20F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4810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6983"/>
          </a:bodyPr>
          <a:lstStyle xmlns:a="http://schemas.openxmlformats.org/drawingml/2006/main">
            <a:defPPr algn="l">
              <a:defRPr sz="2175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E5EFE5"/>
                </a:solidFill>
                <a:latin typeface="Menlo"/>
                <a:ea typeface="Menlo"/>
                <a:cs typeface="Menlo"/>
              </a:rPr>
              <a:t>A pipeline diagram alone cannot show what a join changed or what code will run after export.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0F7C2-0C76-4B6D-97C2-66C5FE7D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THE IMPLEMENTATION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7506C-8846-4D3E-9BAA-3E95C27A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5000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E5EFE5"/>
                </a:solidFill>
                <a:latin typeface="Menlo"/>
                <a:ea typeface="Menlo"/>
                <a:cs typeface="Menlo"/>
              </a:rPr>
              <a:t>A typed graph drives local execution. Each node exposes its schema and preview, while exports remain readable.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B7D55-587E-456D-8262-94C59825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0065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719"/>
          </a:solidFill>
          <a:ln xmlns:a="http://schemas.openxmlformats.org/drawingml/2006/main" w="9525">
            <a:solidFill>
              <a:srgbClr val="355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07FCC-D314-4800-A453-528F5E48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95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Design goal: shorten the loop between graph, data and code.</a:t>
            </a:r>
          </a:p>
        </p:txBody>
      </p:sp>
    </p:spTree>
    <p:extLst>
      <p:ext uri="{BB962C8B-B14F-4D97-AF65-F5344CB8AC3E}">
        <p14:creationId xmlns:p14="http://schemas.microsoft.com/office/powerpoint/2010/main" val="1294776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406C8-C63B-4B99-8166-1A0F25B5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4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A0156-27ED-4C2D-9C1A-FF7496AD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FLOWFORGE OS   //   ENGINEERING CASE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6DEA0-852C-41EA-8A7A-4AE7A55C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6BFF4-A427-4BFF-BCC0-13D23B61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3000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[02] THE GRAPH MAKES ERRORS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1E13F-AEB9-4971-B731-071B4798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ADITYA MALVIYA   /   LOCAL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9382A-8E7C-428E-A051-7198F085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674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[03/06]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A8E0E-4B32-41B9-B550-86EB384EB2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8b751b6e2418d"/>
          <a:stretch xmlns:a="http://schemas.openxmlformats.org/drawingml/2006/main"/>
        </p:blipFill>
        <p:spPr>
          <a:xfrm xmlns:a="http://schemas.openxmlformats.org/drawingml/2006/main">
            <a:off x="2161953" y="2095500"/>
            <a:ext cx="7868093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DEC01-6B19-4602-B410-2784FA07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Current workspace: disconnected steps trigger topology warnings.</a:t>
            </a:r>
          </a:p>
          <a:p xmlns:a="http://schemas.openxmlformats.org/drawingml/2006/main">
            <a:pPr algn="l">
              <a:defRPr sz="1500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Valid branches still expose row counts and schemas.</a:t>
            </a:r>
          </a:p>
        </p:txBody>
      </p:sp>
    </p:spTree>
    <p:extLst>
      <p:ext uri="{BB962C8B-B14F-4D97-AF65-F5344CB8AC3E}">
        <p14:creationId xmlns:p14="http://schemas.microsoft.com/office/powerpoint/2010/main" val="321400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327090-7DB5-439F-9DCC-66263312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4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6365E-C032-4BA8-ABF2-57884D9C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FLOWFORGE OS   //   ENGINEERING CASE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F4D2-07ED-4259-828B-37E89558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98BAC-5349-4912-B01C-D1A7C287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3000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[03] COMPILER AND EXECUTION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6A67D-8181-43C6-A32A-45AA396E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ADITYA MALVIYA   /   LOCAL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77269-004F-480C-BDE2-721A0D5F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674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[04/06]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9ADBB-6BFE-4022-87F3-955EED23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42B22-2F61-4B4D-863D-625DD438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479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85CF2-5AEE-43A9-8DB8-5DB17BBE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702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E5EFE5"/>
                </a:solidFill>
                <a:latin typeface="Menlo"/>
                <a:ea typeface="Menlo"/>
                <a:cs typeface="Menlo"/>
              </a:rPr>
              <a:t>Typed step configuration and named input 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5CCD2-3400-46CA-81B3-8FEB62F3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7180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D3EC5-C452-44D0-ABE1-BD4874AC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242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0B4BB-EB5A-4304-B304-AF478AF2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4BA92-2616-47C3-9FC7-7F4D029F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24200"/>
            <a:ext cx="702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E5EFE5"/>
                </a:solidFill>
                <a:latin typeface="Menlo"/>
                <a:ea typeface="Menlo"/>
                <a:cs typeface="Menlo"/>
              </a:rPr>
              <a:t>Required inputs, invalid configuration and cycle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B90CC-5F82-4936-83EA-8902C56C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4810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D3B03-089D-41C3-ABDD-F3E00C0D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ABC35-702D-4532-BFE7-A6ADB816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65224-E340-41B9-BB2D-EBF51C85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702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E5EFE5"/>
                </a:solidFill>
                <a:latin typeface="Menlo"/>
                <a:ea typeface="Menlo"/>
                <a:cs typeface="Menlo"/>
              </a:rPr>
              <a:t>Dependency order with a DuckDB view for each step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78CC2-C9FC-4FF4-8277-A27A3458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47446-86A5-4227-9DA2-6A45D283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721B7-96AF-42FD-B6AC-8AEEC08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EXPORT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50377-F196-483C-85F6-B8FCE3F2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76800"/>
            <a:ext cx="702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E5EFE5"/>
                </a:solidFill>
                <a:latin typeface="Menlo"/>
                <a:ea typeface="Menlo"/>
                <a:cs typeface="Menlo"/>
              </a:rPr>
              <a:t>Shared SELECT compiler for SQL targets; separate PySpark emitter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2C813-5844-4487-9EC3-5510A77B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0070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3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3025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A24E1-661C-4B2D-885D-24643C48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4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D2E28-EE86-4218-924D-0A807F87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FLOWFORGE OS   //   ENGINEERING CASE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AA42D-78B7-431A-9EEA-61428482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767D2-FAFE-46F9-A60A-905D256E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3000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[04] SQL REMAINS AVAILABLE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5D074-3C14-49AB-9DB5-4982D12E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ADITYA MALVIYA   /   LOCAL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B6A9B-AFF4-42AB-AA49-2AB16B5B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674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[05/06]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576F5-3D94-4F8E-BA4C-99751ED7EF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2363426a34aec"/>
          <a:stretch xmlns:a="http://schemas.openxmlformats.org/drawingml/2006/main"/>
        </p:blipFill>
        <p:spPr>
          <a:xfrm xmlns:a="http://schemas.openxmlformats.org/drawingml/2006/main">
            <a:off x="2161953" y="2095500"/>
            <a:ext cx="7868093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C4D23-5B3D-462F-8A1A-30A4C71C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The terminal queries the same in-memory views as the graph.</a:t>
            </a:r>
          </a:p>
          <a:p xmlns:a="http://schemas.openxmlformats.org/drawingml/2006/main">
            <a:pPr algn="l">
              <a:defRPr sz="1500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This keeps the transformation logic open to inspection.</a:t>
            </a:r>
          </a:p>
        </p:txBody>
      </p:sp>
    </p:spTree>
    <p:extLst>
      <p:ext uri="{BB962C8B-B14F-4D97-AF65-F5344CB8AC3E}">
        <p14:creationId xmlns:p14="http://schemas.microsoft.com/office/powerpoint/2010/main" val="919284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11707-A3DE-4A50-87F4-F3095A47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4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11A8A-E838-4F09-9B80-F2929335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FLOWFORGE OS   //   ENGINEERING CASE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38EA4-F79E-4B7F-B4C0-0F8C67E7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1D499-3AC9-4386-8E25-F1313A7F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3000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[05] VALIDATION AND LESSONS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D04BB-7EF4-4ED2-B20E-BBADB2BB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ADITYA MALVIYA   /   LOCAL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7A971-72A0-4C6B-AA9E-90048C6D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674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[06/06]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0C339-DB12-4796-A6A6-BD41AB8E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555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5550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5550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3EA29-5789-4092-9901-BA09195E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native-engine tests</a:t>
            </a:r>
          </a:p>
          <a:p xmlns:a="http://schemas.openxmlformats.org/drawingml/2006/main">
            <a:pPr algn="l">
              <a:defRPr sz="172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reported in the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5D621-6CE9-4738-852B-EECFDE1F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33625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E5EFE5"/>
                </a:solidFill>
                <a:latin typeface="Menlo"/>
                <a:ea typeface="Menlo"/>
                <a:cs typeface="Menlo"/>
              </a:rPr>
              <a:t>Exported SQL: end-to-end DuckDB checks</a:t>
            </a:r>
          </a:p>
          <a:p xmlns:a="http://schemas.openxmlformats.org/drawingml/2006/main">
            <a:pPr algn="l">
              <a:defRPr sz="1800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E5EFE5"/>
                </a:solidFill>
                <a:latin typeface="Menlo"/>
                <a:ea typeface="Menlo"/>
                <a:cs typeface="Menlo"/>
              </a:rPr>
              <a:t>PySpark: Python AST syntax checks</a:t>
            </a:r>
          </a:p>
          <a:p xmlns:a="http://schemas.openxmlformats.org/drawingml/2006/main">
            <a:pPr algn="l">
              <a:defRPr sz="1800" b="0">
                <a:solidFill>
                  <a:srgbClr val="E5EFE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E5EFE5"/>
                </a:solidFill>
                <a:latin typeface="Menlo"/>
                <a:ea typeface="Menlo"/>
                <a:cs typeface="Menlo"/>
              </a:rPr>
              <a:t>Joins: explicit, collision-free 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968B8-98DD-4B5C-AD28-C6EEEC2B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386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9AF7A2"/>
                </a:solidFill>
                <a:latin typeface="Menlo"/>
                <a:ea typeface="Menlo"/>
                <a:cs typeface="Menlo"/>
              </a:rPr>
              <a:t>LIMITS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A0A45-6105-460A-820F-30554ABE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6247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6BAA7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A6BAA7"/>
                </a:solidFill>
                <a:latin typeface="Menlo"/>
                <a:ea typeface="Menlo"/>
                <a:cs typeface="Menlo"/>
              </a:rPr>
              <a:t>AST checks do not prove Spark runtime parity. Expressions need target compatibility. Browser memory limits scale.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C9A3B-8147-464F-90C2-E93F20D9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53100"/>
            <a:ext cx="1100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9AF7A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9AF7A2"/>
                </a:solidFill>
                <a:latin typeface="Menlo"/>
                <a:ea typeface="Menlo"/>
                <a:cs typeface="Menlo"/>
              </a:rPr>
              <a:t>adityamalviya04692.github.io/flowforge/</a:t>
            </a:r>
          </a:p>
        </p:txBody>
      </p:sp>
    </p:spTree>
    <p:extLst>
      <p:ext uri="{BB962C8B-B14F-4D97-AF65-F5344CB8AC3E}">
        <p14:creationId xmlns:p14="http://schemas.microsoft.com/office/powerpoint/2010/main" val="1511691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2026-10-16T04:11:18.2920000Z</dcterms:created>
  <dcterms:modified xsi:type="dcterms:W3CDTF">2026-10-16T04:11:18.2920000Z</dcterms:modified>
</coreProperties>
</file>