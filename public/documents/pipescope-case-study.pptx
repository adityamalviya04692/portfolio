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2b374ebe04a34" /><Relationship Type="http://schemas.openxmlformats.org/officeDocument/2006/relationships/extended-properties" Target="/docProps/app.xml" Id="R94d16b1318a34ecb" /><Relationship Type="http://schemas.openxmlformats.org/officeDocument/2006/relationships/officeDocument" Target="/ppt/presentation.xml" Id="R55ef46463f32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158eb98f74060"/>
  </p:sldMasterIdLst>
  <p:notesMasterIdLst>
    <p:notesMasterId xmlns:r="http://schemas.openxmlformats.org/officeDocument/2006/relationships" r:id="R54cc3f3f44d64856"/>
  </p:notesMasterIdLst>
  <p:sldIdLst>
    <p:sldId xmlns:r="http://schemas.openxmlformats.org/officeDocument/2006/relationships" id="256" r:id="R66831357d2b64116"/>
    <p:sldId xmlns:r="http://schemas.openxmlformats.org/officeDocument/2006/relationships" id="257" r:id="Rb998f8feda95410f"/>
    <p:sldId xmlns:r="http://schemas.openxmlformats.org/officeDocument/2006/relationships" id="258" r:id="Rf0c0f841ca7e45a7"/>
    <p:sldId xmlns:r="http://schemas.openxmlformats.org/officeDocument/2006/relationships" id="259" r:id="R311fa37625eb491c"/>
    <p:sldId xmlns:r="http://schemas.openxmlformats.org/officeDocument/2006/relationships" id="260" r:id="Rba84ea7e2861405d"/>
    <p:sldId xmlns:r="http://schemas.openxmlformats.org/officeDocument/2006/relationships" id="261" r:id="R0d912476cf15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e30d41817642fa" /><Relationship Type="http://schemas.openxmlformats.org/officeDocument/2006/relationships/slideMaster" Target="/ppt/slideMasters/slideMaster1.xml" Id="R62b158eb98f74060" /><Relationship Type="http://schemas.openxmlformats.org/officeDocument/2006/relationships/notesMaster" Target="/ppt/notesMasters/notesMaster1.xml" Id="R54cc3f3f44d64856" /><Relationship Type="http://schemas.openxmlformats.org/officeDocument/2006/relationships/presProps" Target="/ppt/presProps.xml" Id="R71b058b365ca4dd9" /><Relationship Type="http://schemas.openxmlformats.org/officeDocument/2006/relationships/tableStyles" Target="/ppt/tableStyles.xml" Id="R648088bae9b442fe" /><Relationship Type="http://schemas.openxmlformats.org/officeDocument/2006/relationships/slide" Target="/ppt/slides/slide1.xml" Id="R66831357d2b64116" /><Relationship Type="http://schemas.openxmlformats.org/officeDocument/2006/relationships/slide" Target="/ppt/slides/slide2.xml" Id="Rb998f8feda95410f" /><Relationship Type="http://schemas.openxmlformats.org/officeDocument/2006/relationships/slide" Target="/ppt/slides/slide3.xml" Id="Rf0c0f841ca7e45a7" /><Relationship Type="http://schemas.openxmlformats.org/officeDocument/2006/relationships/slide" Target="/ppt/slides/slide4.xml" Id="R311fa37625eb491c" /><Relationship Type="http://schemas.openxmlformats.org/officeDocument/2006/relationships/slide" Target="/ppt/slides/slide5.xml" Id="Rba84ea7e2861405d" /><Relationship Type="http://schemas.openxmlformats.org/officeDocument/2006/relationships/slide" Target="/ppt/slides/slide6.xml" Id="R0d912476cf15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75d515cdbc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4aa76271a4926" /><Relationship Type="http://schemas.openxmlformats.org/officeDocument/2006/relationships/notesMaster" Target="/ppt/notesMasters/notesMaster1.xml" Id="Rd5a611c0c030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423c0b2d3d47ec" /><Relationship Type="http://schemas.openxmlformats.org/officeDocument/2006/relationships/notesMaster" Target="/ppt/notesMasters/notesMaster1.xml" Id="Red597b2112a6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e58ae946574145" /><Relationship Type="http://schemas.openxmlformats.org/officeDocument/2006/relationships/notesMaster" Target="/ppt/notesMasters/notesMaster1.xml" Id="R754e5fff9d3b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efeba51244e47" /><Relationship Type="http://schemas.openxmlformats.org/officeDocument/2006/relationships/notesMaster" Target="/ppt/notesMasters/notesMaster1.xml" Id="R7d988b474d72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3d7c153ccb48af" /><Relationship Type="http://schemas.openxmlformats.org/officeDocument/2006/relationships/notesMaster" Target="/ppt/notesMasters/notesMaster1.xml" Id="R09506c251e1246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e5941a403b4e49" /><Relationship Type="http://schemas.openxmlformats.org/officeDocument/2006/relationships/notesMaster" Target="/ppt/notesMasters/notesMaster1.xml" Id="Rb913eddc737b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Screenshot displays synthetic demonstration logs, not measured client or employer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Synthetic demo execution waterfall and table build timings. 14m22s is the before-run build time for gold.fct_order_items.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Both event logs are synthetic fixtures. 1221 / 267 = 4.573, rounded to 4.6. Do not attribute this to employer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by Aditya Malviya. Sources: https://github.com/adityamalviya04692/pipescope and https://adityamalviya04692.github.io/pipescope/ . Screenshots captured from the live application during this revision. Repository reports 16 Python and 36 Vitest tests. The sqlglot wheel is version-pinned and checksum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52916088c41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10a820d0241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6b1bb5cc24e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ca825366b44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41c132b2f47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32154f52342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8AC501-D5C0-4C8B-BF1C-915021034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6A00A2-61B0-4A03-8327-83A7229AA3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CEB1EB-EFE0-4B99-B70F-355D400ED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43EE9B-A334-4A44-971B-00BAAF7AD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10D5FB-8052-48F2-9974-4D6C69A6E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B70AD6-615A-4AF4-AF4C-92E8E8976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F609A8-EF1C-49D1-A37F-1406CDD445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AF0ACF-2A97-466D-9384-99F651A21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E3F20-6CDD-4FE0-B6D8-4E4C0F3615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94038-58A3-4E72-BF54-802E3664E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8ad032458424e" /><Relationship Type="http://schemas.openxmlformats.org/officeDocument/2006/relationships/slideLayout" Target="/ppt/slideLayouts/slideLayout1.xml" Id="R66af4490df8a4cd3" /><Relationship Type="http://schemas.openxmlformats.org/officeDocument/2006/relationships/slideLayout" Target="/ppt/slideLayouts/slideLayout2.xml" Id="R1999a4c5f5114d78" /><Relationship Type="http://schemas.openxmlformats.org/officeDocument/2006/relationships/slideLayout" Target="/ppt/slideLayouts/slideLayout3.xml" Id="R4fe086af797e46be" /><Relationship Type="http://schemas.openxmlformats.org/officeDocument/2006/relationships/slideLayout" Target="/ppt/slideLayouts/slideLayout4.xml" Id="R89ae250d2d404975" /><Relationship Type="http://schemas.openxmlformats.org/officeDocument/2006/relationships/slideLayout" Target="/ppt/slideLayouts/slideLayout5.xml" Id="R7c80ceb180bc40e8" /><Relationship Type="http://schemas.openxmlformats.org/officeDocument/2006/relationships/slideLayout" Target="/ppt/slideLayouts/slideLayout6.xml" Id="R706964f1898f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af4490df8a4cd3"/>
    <p:sldLayoutId xmlns:r="http://schemas.openxmlformats.org/officeDocument/2006/relationships" id="2147483650" r:id="R1999a4c5f5114d78"/>
    <p:sldLayoutId xmlns:r="http://schemas.openxmlformats.org/officeDocument/2006/relationships" id="2147483651" r:id="R4fe086af797e46be"/>
    <p:sldLayoutId xmlns:r="http://schemas.openxmlformats.org/officeDocument/2006/relationships" id="2147483652" r:id="R89ae250d2d404975"/>
    <p:sldLayoutId xmlns:r="http://schemas.openxmlformats.org/officeDocument/2006/relationships" id="2147483653" r:id="R7c80ceb180bc40e8"/>
    <p:sldLayoutId xmlns:r="http://schemas.openxmlformats.org/officeDocument/2006/relationships" id="2147483654" r:id="R706964f1898f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752a1477849b0" /><Relationship Type="http://schemas.openxmlformats.org/officeDocument/2006/relationships/notesSlide" Target="/ppt/notesSlides/notesSlide1.xml" Id="R6ffc044f94d441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0d52d62dc476c" /><Relationship Type="http://schemas.openxmlformats.org/officeDocument/2006/relationships/notesSlide" Target="/ppt/notesSlides/notesSlide2.xml" Id="R30737dc3108f4e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f79146f8f45ec" /><Relationship Type="http://schemas.openxmlformats.org/officeDocument/2006/relationships/image" Target="/ppt/media/image.jpeg" Id="R04299bea1dd84e2e" /><Relationship Type="http://schemas.openxmlformats.org/officeDocument/2006/relationships/notesSlide" Target="/ppt/notesSlides/notesSlide3.xml" Id="R47bf559f332b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cb24b74ab4b0f" /><Relationship Type="http://schemas.openxmlformats.org/officeDocument/2006/relationships/image" Target="/ppt/media/image2.jpeg" Id="R657cf3f599fd4f53" /><Relationship Type="http://schemas.openxmlformats.org/officeDocument/2006/relationships/notesSlide" Target="/ppt/notesSlides/notesSlide4.xml" Id="R1f84de58b2bb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50bb802ac416e" /><Relationship Type="http://schemas.openxmlformats.org/officeDocument/2006/relationships/image" Target="/ppt/media/image3.jpeg" Id="R26df88b193684696" /><Relationship Type="http://schemas.openxmlformats.org/officeDocument/2006/relationships/notesSlide" Target="/ppt/notesSlides/notesSlide5.xml" Id="R00a200939daf4a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2ab63e79143ff" /><Relationship Type="http://schemas.openxmlformats.org/officeDocument/2006/relationships/notesSlide" Target="/ppt/notesSlides/notesSlide6.xml" Id="Rb539270d6bfe40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0A7C1-B840-4CD3-968A-13B0903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1879-717B-45DE-8A42-9C08918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AF7EF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16471-226D-4E21-BFFF-5422C9A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B098C-5C75-4A28-825F-E901A15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AF7EF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F803B-221E-4E86-ACD3-962DC6C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39185-C45D-4CF4-9E70-CB4197AB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48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8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Spark performance,</a:t>
            </a:r>
          </a:p>
          <a:p xmlns:a="http://schemas.openxmlformats.org/drawingml/2006/main">
            <a:pPr algn="ctr">
              <a:defRPr sz="48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with downstream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98F3A-9A27-463A-9BC1-868A6BE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33825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CAB3"/>
                </a:solidFill>
                <a:latin typeface="Arial"/>
                <a:ea typeface="Arial"/>
                <a:cs typeface="Arial"/>
              </a:rPr>
              <a:t>An investigation tool that connects execution evidence</a:t>
            </a:r>
          </a:p>
          <a:p xmlns:a="http://schemas.openxmlformats.org/drawingml/2006/main">
            <a:pPr algn="ctr">
              <a:defRPr sz="210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CAB3"/>
                </a:solidFill>
                <a:latin typeface="Arial"/>
                <a:ea typeface="Arial"/>
                <a:cs typeface="Arial"/>
              </a:rPr>
              <a:t>to the tables and columns a pipeline feeds.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F8525-DE1F-43C4-A2B9-498600DF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0CAB3"/>
                </a:solidFill>
                <a:latin typeface="Arial"/>
                <a:ea typeface="Arial"/>
                <a:cs typeface="Arial"/>
              </a:rPr>
              <a:t>Spark event logs    /    SQL lineage    /    In-browser analysis</a:t>
            </a:r>
          </a:p>
        </p:txBody>
      </p:sp>
    </p:spTree>
    <p:extLst>
      <p:ext uri="{BB962C8B-B14F-4D97-AF65-F5344CB8AC3E}">
        <p14:creationId xmlns:p14="http://schemas.microsoft.com/office/powerpoint/2010/main" val="889762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B4227-E9EB-4C96-997A-383AAE1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452C-8851-4880-8DD7-3769340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45F39-4C8B-41A0-A099-B6B4D306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5C6EE-28AD-4BCB-9C87-78234A0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Why runtime and lineage belong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EF74-D176-4B2D-9048-F3DE67B9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20318-DE35-49EC-AC79-1C2550C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48F18-D88F-435C-8929-41226DFA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The investigation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B6455-891C-4FC4-8592-CF459A44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Spark metrics explain where execution slows down. SQL dependencies explain what a change can affect.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C25B9-FAF3-46FA-8A55-065987A7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7AA7F-D471-40F5-A25A-DDE79D7C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My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E11FE-29A7-4CFD-BDEE-DC115DF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Parse event logs for evidence-backed findings. Resolve SQL at column level. Match statements to the tables they build.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F105-4D49-4B93-BD1B-CC4630D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The result is one place to prioritize a bottleneck and inspect its downstream impact.</a:t>
            </a:r>
          </a:p>
        </p:txBody>
      </p:sp>
    </p:spTree>
    <p:extLst>
      <p:ext uri="{BB962C8B-B14F-4D97-AF65-F5344CB8AC3E}">
        <p14:creationId xmlns:p14="http://schemas.microsoft.com/office/powerpoint/2010/main" val="1152217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C68DE-8736-450C-90B0-B80F5D04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DE138-69BB-4A14-8466-F102AD6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30B7-F23E-4168-99BA-6094878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4E4A2-5888-4178-983D-736F6CC3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Diagnostics start with execution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FB1C1-AD70-4EDC-9CFB-3E6BD02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8EC22-632C-42E8-9FF7-28DE980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0F440-D077-48E3-808A-24F1CD43A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99bea1dd84e2e"/>
          <a:stretch xmlns:a="http://schemas.openxmlformats.org/drawingml/2006/main"/>
        </p:blipFill>
        <p:spPr>
          <a:xfrm xmlns:a="http://schemas.openxmlformats.org/drawingml/2006/main">
            <a:off x="571500" y="2364581"/>
            <a:ext cx="7772400" cy="34813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3048B-E6A7-4F9B-894D-16D08A0A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17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F88A6-1D29-466A-AAEA-73CAD50A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762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Skew, spill, garbage collection, small files and idle cores.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3A0C4-BA77-4298-8D0B-95F066A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81525"/>
            <a:ext cx="2762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Each finding includes metrics, a threshold and a suggested fix.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6F281-10B8-41B0-B7CD-EAC5E10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Synthetic nightly-orders demo</a:t>
            </a:r>
          </a:p>
        </p:txBody>
      </p:sp>
    </p:spTree>
    <p:extLst>
      <p:ext uri="{BB962C8B-B14F-4D97-AF65-F5344CB8AC3E}">
        <p14:creationId xmlns:p14="http://schemas.microsoft.com/office/powerpoint/2010/main" val="55800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99424-4014-4475-8FA1-77EE81F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72772-051E-45C8-994D-52081F0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DA68-A2E7-4799-9C38-DC4459D7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065DD-C731-432D-B6BA-0B345506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The slowest build has downstream consequences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0F42C-9F2F-4E9A-AEF8-2A12743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1CBD6-61CE-4258-AA29-146DCAA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58D1C-983E-4B57-867B-AA75432B7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cf3f599fd4f53"/>
          <a:stretch xmlns:a="http://schemas.openxmlformats.org/drawingml/2006/main"/>
        </p:blipFill>
        <p:spPr>
          <a:xfrm xmlns:a="http://schemas.openxmlformats.org/drawingml/2006/main">
            <a:off x="2363972" y="2238375"/>
            <a:ext cx="7464056" cy="3343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F88A6-635B-48FC-BDC3-6554466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14m 22s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59BCC-39A1-4589-9D12-F215965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245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Synthetic demo: gold.fct_order_items dominates build time.</a:t>
            </a:r>
          </a:p>
          <a:p xmlns:a="http://schemas.openxmlformats.org/drawingml/2006/main">
            <a:pPr algn="l">
              <a:defRPr sz="157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The critical path helps distinguish blocking work from parallel work.</a:t>
            </a:r>
          </a:p>
        </p:txBody>
      </p:sp>
    </p:spTree>
    <p:extLst>
      <p:ext uri="{BB962C8B-B14F-4D97-AF65-F5344CB8AC3E}">
        <p14:creationId xmlns:p14="http://schemas.microsoft.com/office/powerpoint/2010/main" val="2135103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5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4808F-23D3-47D3-893B-DE280637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D59F0-E637-4A66-9319-8CF7297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AF7EF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6B950-B0B5-4640-BFB7-1A5DC05D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DFE9D-6158-41DB-BB1E-F84FAA6C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Before-and-after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1AAC3-27C9-4451-85E4-E52A5672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AF7EF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5172C-E41B-4612-AC1F-A234289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2EA37-E471-43B6-92D4-436E33C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00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9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75" b="0">
                <a:solidFill>
                  <a:srgbClr val="FAF7EF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FAF7EF"/>
                </a:solidFill>
                <a:latin typeface="Georgia"/>
                <a:ea typeface="Georgia"/>
                <a:cs typeface="Georgia"/>
              </a:rPr>
              <a:t>20m 21s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08ED3-B586-4998-88BB-B81BD27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CAB3"/>
                </a:solidFill>
                <a:latin typeface="Arial"/>
                <a:ea typeface="Arial"/>
                <a:cs typeface="Arial"/>
              </a:rPr>
              <a:t>Before tuning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B0592-4071-4CB9-8486-BECCD23D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400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975" b="0">
                <a:solidFill>
                  <a:srgbClr val="E0CAB3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75" b="0">
                <a:solidFill>
                  <a:srgbClr val="E0CAB3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E0CAB3"/>
                </a:solidFill>
                <a:latin typeface="Georgia"/>
                <a:ea typeface="Georgia"/>
                <a:cs typeface="Georgia"/>
              </a:rPr>
              <a:t>4m 27s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C194-4D82-4654-9AF1-FC40F40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0CAB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CAB3"/>
                </a:solidFill>
                <a:latin typeface="Arial"/>
                <a:ea typeface="Arial"/>
                <a:cs typeface="Arial"/>
              </a:rPr>
              <a:t>After tuning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6D429-29A1-4185-A076-29B84A239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f88b193684696"/>
          <a:stretch xmlns:a="http://schemas.openxmlformats.org/drawingml/2006/main"/>
        </p:blipFill>
        <p:spPr>
          <a:xfrm xmlns:a="http://schemas.openxmlformats.org/drawingml/2006/main">
            <a:off x="4667250" y="2381349"/>
            <a:ext cx="6953250" cy="311447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F02AF-7A1B-453A-88C2-8BC312AE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AF7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AF7EF"/>
                </a:solidFill>
                <a:latin typeface="Arial"/>
                <a:ea typeface="Arial"/>
                <a:cs typeface="Arial"/>
              </a:rPr>
              <a:t>Synthetic demonstration only. The 4.6× ratio illustrates comparison features, not a production result.</a:t>
            </a:r>
          </a:p>
        </p:txBody>
      </p:sp>
    </p:spTree>
    <p:extLst>
      <p:ext uri="{BB962C8B-B14F-4D97-AF65-F5344CB8AC3E}">
        <p14:creationId xmlns:p14="http://schemas.microsoft.com/office/powerpoint/2010/main" val="580976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C1661-F529-41E8-912F-CFF172B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PipeScope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1EFA-5531-4A87-BBE0-412EE95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PROJECT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BE381-3532-4F0D-AF58-2EE45062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742D5-FB7F-4713-BB3F-7016AB2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How I built the analysis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07DA6-A58D-46ED-A865-CF4A6FAC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Aditya Malviya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D02D0-E47D-42AD-8669-C555950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1C2B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51C2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0B322-6A41-48A2-90CD-3AD9470F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Execution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DDEB3-B274-4923-9B41-860B7816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 Web Worker streams event logs and computes stage percentiles, utilization and diagnostic findings.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F3E49-3F34-4DD5-9D67-BF63BEA0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669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SQL dependency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D8A99-2CE9-4E29-A175-B06A8C45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Pyodide runs sqlglot in the browser to resolve column dependencies and SQL or dbt lineage.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0A16B-EF94-404F-A270-C7A85D5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C666-AE6A-4BB3-85F5-789EC661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67550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A67550"/>
                </a:solidFill>
                <a:latin typeface="Georgia"/>
                <a:ea typeface="Georgia"/>
                <a:cs typeface="Georgia"/>
              </a:rPr>
              <a:t>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F5BD4-E6FE-40F4-8A1C-29DBF4E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833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5E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5E65"/>
                </a:solidFill>
                <a:latin typeface="Arial"/>
                <a:ea typeface="Arial"/>
                <a:cs typeface="Arial"/>
              </a:rPr>
              <a:t>SQL lineage does not cover DataFrame code. Gzip is the supported compressed-log format. Diagnostic thresholds need workload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087EB-161D-4795-B857-45C338E2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51C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1C2B"/>
                </a:solidFill>
                <a:latin typeface="Arial"/>
                <a:ea typeface="Arial"/>
                <a:cs typeface="Arial"/>
              </a:rPr>
              <a:t>adityamalviya04692.github.io/pipescope/</a:t>
            </a:r>
          </a:p>
        </p:txBody>
      </p:sp>
    </p:spTree>
    <p:extLst>
      <p:ext uri="{BB962C8B-B14F-4D97-AF65-F5344CB8AC3E}">
        <p14:creationId xmlns:p14="http://schemas.microsoft.com/office/powerpoint/2010/main" val="583195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2026-10-16T04:11:20.6110000Z</dcterms:created>
  <dcterms:modified xsi:type="dcterms:W3CDTF">2026-10-16T04:11:20.6110000Z</dcterms:modified>
</coreProperties>
</file>