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Aditya Malviya’s paper on skewed joins in Apache Spark. It covers the problem, the cost model and decision procedure, the benchmark, what the measurements showed, and ends with the full paper, page by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is a textbook straggler. At the thickest probe side (P = 320) the longest join-stage task ran about 101 times longer than the median task. This is what both remedies are supposed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separates the two salting variants because their costs differ by the ratio M over P, which in this benchmark is about 1,800 times. Most tutorials show uniform salting. The author found no peer-reviewed study of salting under that name, and no independent evaluation of Spark’s skew-join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advice is to “pick a reasonable k, say 16 or 32”. The paper argues that names a point on a curve whose shape nobody has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one term falls as 1/k and the other rises with k, total time is convex in k and has a single best point. The model predicts k* falls as one over the square root of P, and grows only with the square root of the skew. The figure is from the paper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procedure checks three AQE preconditions, not the two usually discussed. The hinge in the last step is whether skew is one-sided or two-sided, measured by μ, the hot key’s probe rows over the probe side’s mean rows per key. One sampled group-by gives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Shuffle records and bytes are the same on a laptop and a cluster for the same plan and data, so the transferable claims rest on them. Wall-clock time is reported but never used for a transferable claim. Automatic broadcast was turned off in every arm except the broadcast arm, so no strategy was silently replaced by another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45 cells ran in one Spark application, in randomised order. An earlier run that started the baseline on a cold JVM inflated this control to 17.7%. That is why the harness now randomises cell order and refuses to compare timings across Spark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does not claim AQE is useless in general. It says that on this join, with skew handling on and a straggler two orders of magnitude out, AQE gave no gain beyond noise and left the straggler as it was. The next slides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solid bars first: at P = 320 every salting variant cleared the 6.5% noise floor by a wide margin, while AQE’s 1.02× did not. Salting’s advantage grew as the probe side got thicker, from 1.34× to 1.68×. Broadcast is shown for honesty: the dimension table here is small enough to broadcast, and anyone in that regime should just broadcast.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chart that settles it. The straggler is the thing to fix, and only salting made it shorter: 17.0 s down to 9.1 s at P = 320, and 5.6 s down to 3.2 s at P = 100. With AQE on, the longest task was slightly longer in every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final adaptive plan showed AQEShuffleRead coalesced and never AQEShuffleRead skewed. The rule splits a skewed partition into pieces of the advisory size, so a partition smaller than that has nothing to split. Practitioners tune the two settings with “skew” in their names; the one that actually gated the rule is the one they don’t. One config change, no code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AQE cell was run twice, identical except for spark.sql.adaptive.coalescePartitions.enabled. A side effect worth knowing: coalescing changes what “the median task” means, so the usual max-over-median skew ratio can make AQE look far better than it is. The paper leads with the absolute longest task for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Records are counted, not timed, so they do not vary between runs or machines. An earlier version measured this in megabytes and reported a sevenfold gap, which was wrong: over 99% of the megabyte growth came from the extra salt column on all two million fact rows. In records, the replication term of the cost model is exact. The tutorial form of salting is the expensive one, by about three orders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respectable-looking R² values are misleading: the coefficient b, which is the whole denominator of k*, is statistically indistinguishable from zero. In one fit it even has the wrong sign. The practical upshot points against folklore: with selective salting, a larger k costs almost nothing, so salt at the saturation bound and stop worrying about the exact optimum. The warning against large k holds for uniform salting.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follow directly from the decision procedure and the measurements. Point 2 is the one the paper calls most practically consequential: one configuration change, no code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single-node limit is stated without hedging in the paper. What survives it: shuffle records and bytes, task-time ratios, and the model’s analytic structure. The cluster configuration is released with the harness so the k* prediction can be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seven slides show the paper itself, two pages per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9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53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B3139"/>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17650"/>
            <a:ext cx="10566400" cy="4127550"/>
          </a:xfrm>
          <a:prstGeom prst="rect">
            <a:avLst/>
          </a:prstGeom>
          <a:noFill/>
          <a:ln/>
        </p:spPr>
        <p:txBody>
          <a:bodyPr wrap="square" lIns="0" tIns="0" rIns="0" bIns="0" rtlCol="0" anchor="t"/>
          <a:lstStyle>
            <a:lvl1pPr algn="l" indent="0" marL="0">
              <a:lnSpc>
                <a:spcPct val="140000"/>
              </a:lnSpc>
              <a:buNone/>
              <a:defRPr lang="en-US" sz="1600" dirty="0">
                <a:solidFill>
                  <a:srgbClr val="1B3139"/>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53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B3139"/>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17650"/>
            <a:ext cx="10566400" cy="4127550"/>
          </a:xfrm>
          <a:prstGeom prst="rect">
            <a:avLst/>
          </a:prstGeom>
          <a:noFill/>
          <a:ln/>
        </p:spPr>
        <p:txBody>
          <a:bodyPr wrap="square" lIns="0" tIns="0" rIns="0" bIns="0" rtlCol="0" anchor="t"/>
          <a:lstStyle>
            <a:lvl1pPr algn="l" indent="0" marL="0">
              <a:lnSpc>
                <a:spcPct val="140000"/>
              </a:lnSpc>
              <a:buNone/>
              <a:defRPr lang="en-US" sz="1600" dirty="0">
                <a:solidFill>
                  <a:srgbClr val="1B3139"/>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139"/>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F5F46"/>
                </a:solidFill>
                <a:latin typeface="IBM Plex Sans" pitchFamily="34" charset="0"/>
                <a:ea typeface="IBM Plex Sans" pitchFamily="34" charset="-122"/>
                <a:cs typeface="IBM Plex Sans" pitchFamily="34" charset="-120"/>
              </a:rPr>
              <a:t>RESEARCH PAPER · APACHE SPARK</a:t>
            </a:r>
            <a:endParaRPr lang="en-US" sz="1400" dirty="0"/>
          </a:p>
        </p:txBody>
      </p:sp>
      <p:sp>
        <p:nvSpPr>
          <p:cNvPr id="3" name="Text 1"/>
          <p:cNvSpPr/>
          <p:nvPr>
            <p:ph type="title"/>
          </p:nvPr>
        </p:nvSpPr>
        <p:spPr>
          <a:xfrm>
            <a:off x="812800" y="1315690"/>
            <a:ext cx="9810750" cy="1451769"/>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F9F7F4"/>
                </a:solidFill>
                <a:latin typeface="IBM Plex Sans" pitchFamily="34" charset="0"/>
                <a:ea typeface="IBM Plex Sans" pitchFamily="34" charset="-122"/>
                <a:cs typeface="IBM Plex Sans" pitchFamily="34" charset="-120"/>
              </a:rPr>
              <a:t>Adaptive Query Execution or Salting?</a:t>
            </a:r>
            <a:endParaRPr lang="en-US" sz="5200" dirty="0"/>
          </a:p>
        </p:txBody>
      </p:sp>
      <p:sp>
        <p:nvSpPr>
          <p:cNvPr id="4" name="Text 2"/>
          <p:cNvSpPr/>
          <p:nvPr/>
        </p:nvSpPr>
        <p:spPr>
          <a:xfrm>
            <a:off x="812800" y="2996059"/>
            <a:ext cx="8829675"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CFD1"/>
                </a:solidFill>
                <a:latin typeface="IBM Plex Sans" pitchFamily="34" charset="0"/>
                <a:ea typeface="IBM Plex Sans" pitchFamily="34" charset="-122"/>
                <a:cs typeface="IBM Plex Sans" pitchFamily="34" charset="-120"/>
              </a:rPr>
              <a:t>A cost model and decision procedure for skewed joins in Apache Spark</a:t>
            </a:r>
            <a:endParaRPr lang="en-US" sz="2000" dirty="0"/>
          </a:p>
        </p:txBody>
      </p:sp>
      <p:sp>
        <p:nvSpPr>
          <p:cNvPr id="5" name="Text 3"/>
          <p:cNvSpPr/>
          <p:nvPr/>
        </p:nvSpPr>
        <p:spPr>
          <a:xfrm>
            <a:off x="812800" y="5425480"/>
            <a:ext cx="337443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9F7F4"/>
                </a:solidFill>
                <a:latin typeface="IBM Plex Sans" pitchFamily="34" charset="0"/>
                <a:ea typeface="IBM Plex Sans" pitchFamily="34" charset="-122"/>
                <a:cs typeface="IBM Plex Sans" pitchFamily="34" charset="-120"/>
              </a:rPr>
              <a:t>Aditya Malviya</a:t>
            </a:r>
            <a:endParaRPr lang="en-US" sz="1800" dirty="0"/>
          </a:p>
        </p:txBody>
      </p:sp>
      <p:sp>
        <p:nvSpPr>
          <p:cNvPr id="6" name="Text 4"/>
          <p:cNvSpPr/>
          <p:nvPr/>
        </p:nvSpPr>
        <p:spPr>
          <a:xfrm>
            <a:off x="812800" y="5796310"/>
            <a:ext cx="39313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4CFD1"/>
                </a:solidFill>
                <a:latin typeface="IBM Plex Sans" pitchFamily="34" charset="0"/>
                <a:ea typeface="IBM Plex Sans" pitchFamily="34" charset="-122"/>
                <a:cs typeface="IBM Plex Sans" pitchFamily="34" charset="-120"/>
              </a:rPr>
              <a:t>Independent Researcher · Mumbai, India</a:t>
            </a:r>
            <a:endParaRPr lang="en-US" sz="1400" dirty="0"/>
          </a:p>
        </p:txBody>
      </p:sp>
      <p:sp>
        <p:nvSpPr>
          <p:cNvPr id="7" name="Text 5"/>
          <p:cNvSpPr/>
          <p:nvPr/>
        </p:nvSpPr>
        <p:spPr>
          <a:xfrm>
            <a:off x="8407400" y="5814070"/>
            <a:ext cx="2971800" cy="25653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C4CFD1"/>
                </a:solidFill>
                <a:latin typeface="JetBrains Mono" pitchFamily="49" charset="0"/>
                <a:ea typeface="JetBrains Mono" pitchFamily="49" charset="-122"/>
                <a:cs typeface="JetBrains Mono" pitchFamily="49" charset="-120"/>
              </a:rPr>
              <a:t>T(k) = aH/k + bP(k−1) + c</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8240F"/>
                </a:solidFill>
                <a:latin typeface="IBM Plex Sans" pitchFamily="34" charset="0"/>
                <a:ea typeface="IBM Plex Sans" pitchFamily="34" charset="-122"/>
                <a:cs typeface="IBM Plex Sans" pitchFamily="34" charset="-120"/>
              </a:rPr>
              <a:t>THE PROBLEM</a:t>
            </a:r>
            <a:endParaRPr lang="en-US" sz="1300" dirty="0"/>
          </a:p>
        </p:txBody>
      </p:sp>
      <p:sp>
        <p:nvSpPr>
          <p:cNvPr id="3" name="Text 1"/>
          <p:cNvSpPr/>
          <p:nvPr>
            <p:ph type="title"/>
          </p:nvPr>
        </p:nvSpPr>
        <p:spPr>
          <a:xfrm>
            <a:off x="812800" y="1145530"/>
            <a:ext cx="1137920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3139"/>
                </a:solidFill>
                <a:latin typeface="IBM Plex Sans" pitchFamily="34" charset="0"/>
                <a:ea typeface="IBM Plex Sans" pitchFamily="34" charset="-122"/>
                <a:cs typeface="IBM Plex Sans" pitchFamily="34" charset="-120"/>
              </a:rPr>
              <a:t>One hot key makes one task run far longer than the rest</a:t>
            </a:r>
            <a:endParaRPr lang="en-US" sz="3200" dirty="0"/>
          </a:p>
        </p:txBody>
      </p:sp>
      <p:sp>
        <p:nvSpPr>
          <p:cNvPr id="4" name="Text 2"/>
          <p:cNvSpPr/>
          <p:nvPr/>
        </p:nvSpPr>
        <p:spPr>
          <a:xfrm>
            <a:off x="812800" y="3181350"/>
            <a:ext cx="6069584" cy="90929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4555B"/>
                </a:solidFill>
                <a:latin typeface="IBM Plex Sans" pitchFamily="34" charset="0"/>
                <a:ea typeface="IBM Plex Sans" pitchFamily="34" charset="-122"/>
                <a:cs typeface="IBM Plex Sans" pitchFamily="34" charset="-120"/>
              </a:rPr>
              <a:t>In a fact-to-dimension join, hash partitioning sends every row of a key to the same task. When one key holds a big share of the rows, that task becomes a </a:t>
            </a:r>
            <a:r>
              <a:rPr lang="en-US" sz="1600" b="1" dirty="0">
                <a:solidFill>
                  <a:srgbClr val="44555B"/>
                </a:solidFill>
                <a:latin typeface="IBM Plex Sans" pitchFamily="34" charset="0"/>
                <a:ea typeface="IBM Plex Sans" pitchFamily="34" charset="-122"/>
                <a:cs typeface="IBM Plex Sans" pitchFamily="34" charset="-120"/>
              </a:rPr>
              <a:t>straggler</a:t>
            </a:r>
            <a:r>
              <a:rPr lang="en-US" sz="1600" dirty="0">
                <a:solidFill>
                  <a:srgbClr val="44555B"/>
                </a:solidFill>
                <a:latin typeface="IBM Plex Sans" pitchFamily="34" charset="0"/>
                <a:ea typeface="IBM Plex Sans" pitchFamily="34" charset="-122"/>
                <a:cs typeface="IBM Plex Sans" pitchFamily="34" charset="-120"/>
              </a:rPr>
              <a:t>.</a:t>
            </a:r>
            <a:endParaRPr lang="en-US" sz="1600" dirty="0"/>
          </a:p>
        </p:txBody>
      </p:sp>
      <p:sp>
        <p:nvSpPr>
          <p:cNvPr id="5" name="Text 3"/>
          <p:cNvSpPr/>
          <p:nvPr/>
        </p:nvSpPr>
        <p:spPr>
          <a:xfrm>
            <a:off x="812800" y="4243040"/>
            <a:ext cx="6069584"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4555B"/>
                </a:solidFill>
                <a:latin typeface="IBM Plex Sans" pitchFamily="34" charset="0"/>
                <a:ea typeface="IBM Plex Sans" pitchFamily="34" charset="-122"/>
                <a:cs typeface="IBM Plex Sans" pitchFamily="34" charset="-120"/>
              </a:rPr>
              <a:t>The stage finishes only when the straggler finishes. More machines do not help, because one task runs on its own.</a:t>
            </a:r>
            <a:endParaRPr lang="en-US" sz="1600" dirty="0"/>
          </a:p>
        </p:txBody>
      </p:sp>
      <p:sp>
        <p:nvSpPr>
          <p:cNvPr id="6" name="Shape 4"/>
          <p:cNvSpPr/>
          <p:nvPr/>
        </p:nvSpPr>
        <p:spPr>
          <a:xfrm>
            <a:off x="7315200" y="2559050"/>
            <a:ext cx="4064000" cy="2895501"/>
          </a:xfrm>
          <a:prstGeom prst="roundRect">
            <a:avLst>
              <a:gd name="adj" fmla="val 1754"/>
            </a:avLst>
          </a:prstGeom>
          <a:solidFill>
            <a:srgbClr val="1B3139"/>
          </a:solidFill>
          <a:ln/>
        </p:spPr>
      </p:sp>
      <p:sp>
        <p:nvSpPr>
          <p:cNvPr id="7" name="Text 5"/>
          <p:cNvSpPr/>
          <p:nvPr/>
        </p:nvSpPr>
        <p:spPr>
          <a:xfrm>
            <a:off x="7670800" y="2914650"/>
            <a:ext cx="345338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FD1"/>
                </a:solidFill>
                <a:latin typeface="IBM Plex Sans" pitchFamily="34" charset="0"/>
                <a:ea typeface="IBM Plex Sans" pitchFamily="34" charset="-122"/>
                <a:cs typeface="IBM Plex Sans" pitchFamily="34" charset="-120"/>
              </a:rPr>
              <a:t>Unmitigated baseline, thickest probe side</a:t>
            </a:r>
            <a:endParaRPr lang="en-US" sz="1300" dirty="0"/>
          </a:p>
        </p:txBody>
      </p:sp>
      <p:sp>
        <p:nvSpPr>
          <p:cNvPr id="8" name="Text 6"/>
          <p:cNvSpPr/>
          <p:nvPr/>
        </p:nvSpPr>
        <p:spPr>
          <a:xfrm>
            <a:off x="7670800" y="3272780"/>
            <a:ext cx="3453384" cy="977900"/>
          </a:xfrm>
          <a:prstGeom prst="rect">
            <a:avLst/>
          </a:prstGeom>
          <a:noFill/>
          <a:ln/>
        </p:spPr>
        <p:txBody>
          <a:bodyPr wrap="square" lIns="0" tIns="0" rIns="0" bIns="0" rtlCol="0" anchor="t">
            <a:normAutofit/>
          </a:bodyPr>
          <a:lstStyle/>
          <a:p>
            <a:pPr algn="l" indent="0" marL="0">
              <a:lnSpc>
                <a:spcPts val="7500"/>
              </a:lnSpc>
              <a:buNone/>
            </a:pPr>
            <a:r>
              <a:rPr lang="en-US" sz="7500" b="1" dirty="0">
                <a:solidFill>
                  <a:srgbClr val="FF5F46"/>
                </a:solidFill>
                <a:latin typeface="IBM Plex Sans" pitchFamily="34" charset="0"/>
                <a:ea typeface="IBM Plex Sans" pitchFamily="34" charset="-122"/>
                <a:cs typeface="IBM Plex Sans" pitchFamily="34" charset="-120"/>
              </a:rPr>
              <a:t>101 : 1</a:t>
            </a:r>
            <a:endParaRPr lang="en-US" sz="7500" dirty="0"/>
          </a:p>
        </p:txBody>
      </p:sp>
      <p:sp>
        <p:nvSpPr>
          <p:cNvPr id="9" name="Text 7"/>
          <p:cNvSpPr/>
          <p:nvPr/>
        </p:nvSpPr>
        <p:spPr>
          <a:xfrm>
            <a:off x="7670800" y="4352280"/>
            <a:ext cx="345338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9F7F4"/>
                </a:solidFill>
                <a:latin typeface="IBM Plex Sans" pitchFamily="34" charset="0"/>
                <a:ea typeface="IBM Plex Sans" pitchFamily="34" charset="-122"/>
                <a:cs typeface="IBM Plex Sans" pitchFamily="34" charset="-120"/>
              </a:rPr>
              <a:t>Longest task vs median task in the join stage: 17.0 s against a fraction of a second</a:t>
            </a:r>
            <a:endParaRPr lang="en-US" sz="1400" dirty="0"/>
          </a:p>
        </p:txBody>
      </p:sp>
      <p:sp>
        <p:nvSpPr>
          <p:cNvPr id="10" name="Shape 8"/>
          <p:cNvSpPr/>
          <p:nvPr/>
        </p:nvSpPr>
        <p:spPr>
          <a:xfrm>
            <a:off x="0" y="0"/>
            <a:ext cx="12192000" cy="406400"/>
          </a:xfrm>
          <a:prstGeom prst="rect">
            <a:avLst/>
          </a:prstGeom>
          <a:solidFill>
            <a:srgbClr val="1B3139"/>
          </a:solidFill>
          <a:ln/>
        </p:spPr>
      </p:sp>
      <p:sp>
        <p:nvSpPr>
          <p:cNvPr id="11" name="Shape 9"/>
          <p:cNvSpPr/>
          <p:nvPr/>
        </p:nvSpPr>
        <p:spPr>
          <a:xfrm>
            <a:off x="0" y="393700"/>
            <a:ext cx="12192000" cy="0"/>
          </a:xfrm>
          <a:prstGeom prst="line">
            <a:avLst/>
          </a:prstGeom>
          <a:noFill/>
          <a:ln w="25400">
            <a:solidFill>
              <a:srgbClr val="FF3621"/>
            </a:solidFill>
            <a:prstDash val="solid"/>
          </a:ln>
        </p:spPr>
      </p:sp>
      <p:sp>
        <p:nvSpPr>
          <p:cNvPr id="12" name="Text 10"/>
          <p:cNvSpPr/>
          <p:nvPr/>
        </p:nvSpPr>
        <p:spPr>
          <a:xfrm>
            <a:off x="812800" y="8890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9F7F4"/>
                </a:solidFill>
                <a:latin typeface="IBM Plex Sans" pitchFamily="34" charset="0"/>
                <a:ea typeface="IBM Plex Sans" pitchFamily="34" charset="-122"/>
                <a:cs typeface="IBM Plex Sans" pitchFamily="34" charset="-120"/>
              </a:rPr>
              <a:t>skewbench › AQE vs Salting in Apache Spark</a:t>
            </a:r>
            <a:endParaRPr lang="en-US" sz="1200" dirty="0"/>
          </a:p>
        </p:txBody>
      </p:sp>
      <p:sp>
        <p:nvSpPr>
          <p:cNvPr id="13" name="Text 11"/>
          <p:cNvSpPr/>
          <p:nvPr/>
        </p:nvSpPr>
        <p:spPr>
          <a:xfrm>
            <a:off x="8108950" y="8890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4CFD1"/>
                </a:solidFill>
                <a:latin typeface="IBM Plex Sans" pitchFamily="34" charset="0"/>
                <a:ea typeface="IBM Plex Sans" pitchFamily="34" charset="-122"/>
                <a:cs typeface="IBM Plex Sans" pitchFamily="34" charset="-120"/>
              </a:rPr>
              <a:t>Aditya Malviya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8240F"/>
                </a:solidFill>
                <a:latin typeface="IBM Plex Sans" pitchFamily="34" charset="0"/>
                <a:ea typeface="IBM Plex Sans" pitchFamily="34" charset="-122"/>
                <a:cs typeface="IBM Plex Sans" pitchFamily="34" charset="-120"/>
              </a:rPr>
              <a:t>TWO REMEDIES</a:t>
            </a:r>
            <a:endParaRPr lang="en-US" sz="1300" dirty="0"/>
          </a:p>
        </p:txBody>
      </p:sp>
      <p:sp>
        <p:nvSpPr>
          <p:cNvPr id="3" name="Text 1"/>
          <p:cNvSpPr/>
          <p:nvPr>
            <p:ph type="title"/>
          </p:nvPr>
        </p:nvSpPr>
        <p:spPr>
          <a:xfrm>
            <a:off x="812800" y="1145530"/>
            <a:ext cx="1137920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3139"/>
                </a:solidFill>
                <a:latin typeface="IBM Plex Sans" pitchFamily="34" charset="0"/>
                <a:ea typeface="IBM Plex Sans" pitchFamily="34" charset="-122"/>
                <a:cs typeface="IBM Plex Sans" pitchFamily="34" charset="-120"/>
              </a:rPr>
              <a:t>Spark can split the hot partition, or you can salt the key</a:t>
            </a:r>
            <a:endParaRPr lang="en-US" sz="3200" dirty="0"/>
          </a:p>
        </p:txBody>
      </p:sp>
      <p:sp>
        <p:nvSpPr>
          <p:cNvPr id="4" name="Shape 2"/>
          <p:cNvSpPr/>
          <p:nvPr/>
        </p:nvSpPr>
        <p:spPr>
          <a:xfrm>
            <a:off x="819150" y="1974800"/>
            <a:ext cx="3378200" cy="4064050"/>
          </a:xfrm>
          <a:prstGeom prst="roundRect">
            <a:avLst>
              <a:gd name="adj" fmla="val 1316"/>
            </a:avLst>
          </a:prstGeom>
          <a:solidFill>
            <a:srgbClr val="FFFFFF"/>
          </a:solidFill>
          <a:ln w="12700">
            <a:solidFill>
              <a:srgbClr val="0078D4"/>
            </a:solidFill>
            <a:prstDash val="solid"/>
          </a:ln>
        </p:spPr>
      </p:sp>
      <p:sp>
        <p:nvSpPr>
          <p:cNvPr id="5" name="Text 3"/>
          <p:cNvSpPr/>
          <p:nvPr/>
        </p:nvSpPr>
        <p:spPr>
          <a:xfrm>
            <a:off x="1130300" y="2285950"/>
            <a:ext cx="283857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78D4"/>
                </a:solidFill>
                <a:latin typeface="IBM Plex Sans" pitchFamily="34" charset="0"/>
                <a:ea typeface="IBM Plex Sans" pitchFamily="34" charset="-122"/>
                <a:cs typeface="IBM Plex Sans" pitchFamily="34" charset="-120"/>
              </a:rPr>
              <a:t>AUTOMATIC</a:t>
            </a:r>
            <a:endParaRPr lang="en-US" sz="1200" dirty="0"/>
          </a:p>
        </p:txBody>
      </p:sp>
      <p:sp>
        <p:nvSpPr>
          <p:cNvPr id="6" name="Text 4"/>
          <p:cNvSpPr/>
          <p:nvPr/>
        </p:nvSpPr>
        <p:spPr>
          <a:xfrm>
            <a:off x="1130300" y="2626271"/>
            <a:ext cx="283857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3139"/>
                </a:solidFill>
                <a:latin typeface="IBM Plex Sans" pitchFamily="34" charset="0"/>
                <a:ea typeface="IBM Plex Sans" pitchFamily="34" charset="-122"/>
                <a:cs typeface="IBM Plex Sans" pitchFamily="34" charset="-120"/>
              </a:rPr>
              <a:t>AQE skew join</a:t>
            </a:r>
            <a:endParaRPr lang="en-US" sz="2000" dirty="0"/>
          </a:p>
        </p:txBody>
      </p:sp>
      <p:sp>
        <p:nvSpPr>
          <p:cNvPr id="7" name="Text 5"/>
          <p:cNvSpPr/>
          <p:nvPr/>
        </p:nvSpPr>
        <p:spPr>
          <a:xfrm>
            <a:off x="1130300" y="3058071"/>
            <a:ext cx="2838577" cy="1572022"/>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55B"/>
                </a:solidFill>
                <a:latin typeface="IBM Plex Sans" pitchFamily="34" charset="0"/>
                <a:ea typeface="IBM Plex Sans" pitchFamily="34" charset="-122"/>
                <a:cs typeface="IBM Plex Sans" pitchFamily="34" charset="-120"/>
              </a:rPr>
              <a:t>Since Spark 3.0, the </a:t>
            </a:r>
            <a:r>
              <a:rPr lang="en-US" sz="1400" b="1" dirty="0">
                <a:solidFill>
                  <a:srgbClr val="44555B"/>
                </a:solidFill>
                <a:latin typeface="IBM Plex Sans" pitchFamily="34" charset="0"/>
                <a:ea typeface="IBM Plex Sans" pitchFamily="34" charset="-122"/>
                <a:cs typeface="IBM Plex Sans" pitchFamily="34" charset="-120"/>
              </a:rPr>
              <a:t>OptimizeSkewedJoin</a:t>
            </a:r>
            <a:r>
              <a:rPr lang="en-US" sz="1400" dirty="0">
                <a:solidFill>
                  <a:srgbClr val="44555B"/>
                </a:solidFill>
                <a:latin typeface="IBM Plex Sans" pitchFamily="34" charset="0"/>
                <a:ea typeface="IBM Plex Sans" pitchFamily="34" charset="-122"/>
                <a:cs typeface="IBM Plex Sans" pitchFamily="34" charset="-120"/>
              </a:rPr>
              <a:t> rule finds an oversized shuffle partition, splits it, and copies the matching partition from the other side to each split.</a:t>
            </a:r>
            <a:endParaRPr lang="en-US" sz="1400" dirty="0"/>
          </a:p>
        </p:txBody>
      </p:sp>
      <p:sp>
        <p:nvSpPr>
          <p:cNvPr id="8" name="Text 6"/>
          <p:cNvSpPr/>
          <p:nvPr/>
        </p:nvSpPr>
        <p:spPr>
          <a:xfrm>
            <a:off x="1130300" y="4731693"/>
            <a:ext cx="2838577"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55B"/>
                </a:solidFill>
                <a:latin typeface="IBM Plex Sans" pitchFamily="34" charset="0"/>
                <a:ea typeface="IBM Plex Sans" pitchFamily="34" charset="-122"/>
                <a:cs typeface="IBM Plex Sans" pitchFamily="34" charset="-120"/>
              </a:rPr>
              <a:t>Cheap when only one side is skewed. Costly when both sides share the hot key.</a:t>
            </a:r>
            <a:endParaRPr lang="en-US" sz="1300" dirty="0"/>
          </a:p>
        </p:txBody>
      </p:sp>
      <p:sp>
        <p:nvSpPr>
          <p:cNvPr id="9" name="Shape 7"/>
          <p:cNvSpPr/>
          <p:nvPr/>
        </p:nvSpPr>
        <p:spPr>
          <a:xfrm>
            <a:off x="4410075" y="1971625"/>
            <a:ext cx="3371850" cy="4070400"/>
          </a:xfrm>
          <a:prstGeom prst="roundRect">
            <a:avLst>
              <a:gd name="adj" fmla="val 1412"/>
            </a:avLst>
          </a:prstGeom>
          <a:solidFill>
            <a:srgbClr val="FFFFFF"/>
          </a:solidFill>
          <a:ln w="6350">
            <a:solidFill>
              <a:srgbClr val="DCE0E2"/>
            </a:solidFill>
            <a:prstDash val="solid"/>
          </a:ln>
        </p:spPr>
      </p:sp>
      <p:sp>
        <p:nvSpPr>
          <p:cNvPr id="10" name="Text 8"/>
          <p:cNvSpPr/>
          <p:nvPr/>
        </p:nvSpPr>
        <p:spPr>
          <a:xfrm>
            <a:off x="4718050" y="2279600"/>
            <a:ext cx="283857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E73"/>
                </a:solidFill>
                <a:latin typeface="IBM Plex Sans" pitchFamily="34" charset="0"/>
                <a:ea typeface="IBM Plex Sans" pitchFamily="34" charset="-122"/>
                <a:cs typeface="IBM Plex Sans" pitchFamily="34" charset="-120"/>
              </a:rPr>
              <a:t>MANUAL · TUTORIAL FORM</a:t>
            </a:r>
            <a:endParaRPr lang="en-US" sz="1200" dirty="0"/>
          </a:p>
        </p:txBody>
      </p:sp>
      <p:sp>
        <p:nvSpPr>
          <p:cNvPr id="11" name="Text 9"/>
          <p:cNvSpPr/>
          <p:nvPr/>
        </p:nvSpPr>
        <p:spPr>
          <a:xfrm>
            <a:off x="4718050" y="2619921"/>
            <a:ext cx="283857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3139"/>
                </a:solidFill>
                <a:latin typeface="IBM Plex Sans" pitchFamily="34" charset="0"/>
                <a:ea typeface="IBM Plex Sans" pitchFamily="34" charset="-122"/>
                <a:cs typeface="IBM Plex Sans" pitchFamily="34" charset="-120"/>
              </a:rPr>
              <a:t>Uniform salting</a:t>
            </a:r>
            <a:endParaRPr lang="en-US" sz="2000" dirty="0"/>
          </a:p>
        </p:txBody>
      </p:sp>
      <p:sp>
        <p:nvSpPr>
          <p:cNvPr id="12" name="Text 10"/>
          <p:cNvSpPr/>
          <p:nvPr/>
        </p:nvSpPr>
        <p:spPr>
          <a:xfrm>
            <a:off x="4718050" y="3051721"/>
            <a:ext cx="2838577"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55B"/>
                </a:solidFill>
                <a:latin typeface="IBM Plex Sans" pitchFamily="34" charset="0"/>
                <a:ea typeface="IBM Plex Sans" pitchFamily="34" charset="-122"/>
                <a:cs typeface="IBM Plex Sans" pitchFamily="34" charset="-120"/>
              </a:rPr>
              <a:t>Add a random suffix 0 … k−1 to the skewed key. Copy </a:t>
            </a:r>
            <a:r>
              <a:rPr lang="en-US" sz="1400" b="1" dirty="0">
                <a:solidFill>
                  <a:srgbClr val="44555B"/>
                </a:solidFill>
                <a:latin typeface="IBM Plex Sans" pitchFamily="34" charset="0"/>
                <a:ea typeface="IBM Plex Sans" pitchFamily="34" charset="-122"/>
                <a:cs typeface="IBM Plex Sans" pitchFamily="34" charset="-120"/>
              </a:rPr>
              <a:t>every row</a:t>
            </a:r>
            <a:r>
              <a:rPr lang="en-US" sz="1400" dirty="0">
                <a:solidFill>
                  <a:srgbClr val="44555B"/>
                </a:solidFill>
                <a:latin typeface="IBM Plex Sans" pitchFamily="34" charset="0"/>
                <a:ea typeface="IBM Plex Sans" pitchFamily="34" charset="-122"/>
                <a:cs typeface="IBM Plex Sans" pitchFamily="34" charset="-120"/>
              </a:rPr>
              <a:t> of the other table k times.</a:t>
            </a:r>
            <a:endParaRPr lang="en-US" sz="1400" dirty="0"/>
          </a:p>
        </p:txBody>
      </p:sp>
      <p:sp>
        <p:nvSpPr>
          <p:cNvPr id="13" name="Text 11"/>
          <p:cNvSpPr/>
          <p:nvPr/>
        </p:nvSpPr>
        <p:spPr>
          <a:xfrm>
            <a:off x="4718050" y="3952032"/>
            <a:ext cx="283857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55B"/>
                </a:solidFill>
                <a:latin typeface="IBM Plex Sans" pitchFamily="34" charset="0"/>
                <a:ea typeface="IBM Plex Sans" pitchFamily="34" charset="-122"/>
                <a:cs typeface="IBM Plex Sans" pitchFamily="34" charset="-120"/>
              </a:rPr>
              <a:t>Copy cost grows with M, the whole probe table.</a:t>
            </a:r>
            <a:endParaRPr lang="en-US" sz="1300" dirty="0"/>
          </a:p>
        </p:txBody>
      </p:sp>
      <p:sp>
        <p:nvSpPr>
          <p:cNvPr id="14" name="Shape 12"/>
          <p:cNvSpPr/>
          <p:nvPr/>
        </p:nvSpPr>
        <p:spPr>
          <a:xfrm>
            <a:off x="7994650" y="1974800"/>
            <a:ext cx="3378200" cy="4064050"/>
          </a:xfrm>
          <a:prstGeom prst="roundRect">
            <a:avLst>
              <a:gd name="adj" fmla="val 1316"/>
            </a:avLst>
          </a:prstGeom>
          <a:solidFill>
            <a:srgbClr val="FFFFFF"/>
          </a:solidFill>
          <a:ln w="12700">
            <a:solidFill>
              <a:srgbClr val="FF3621"/>
            </a:solidFill>
            <a:prstDash val="solid"/>
          </a:ln>
        </p:spPr>
      </p:sp>
      <p:sp>
        <p:nvSpPr>
          <p:cNvPr id="15" name="Text 13"/>
          <p:cNvSpPr/>
          <p:nvPr/>
        </p:nvSpPr>
        <p:spPr>
          <a:xfrm>
            <a:off x="8305800" y="2285950"/>
            <a:ext cx="283857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8240F"/>
                </a:solidFill>
                <a:latin typeface="IBM Plex Sans" pitchFamily="34" charset="0"/>
                <a:ea typeface="IBM Plex Sans" pitchFamily="34" charset="-122"/>
                <a:cs typeface="IBM Plex Sans" pitchFamily="34" charset="-120"/>
              </a:rPr>
              <a:t>MANUAL · TARGETED</a:t>
            </a:r>
            <a:endParaRPr lang="en-US" sz="1200" dirty="0"/>
          </a:p>
        </p:txBody>
      </p:sp>
      <p:sp>
        <p:nvSpPr>
          <p:cNvPr id="16" name="Text 14"/>
          <p:cNvSpPr/>
          <p:nvPr/>
        </p:nvSpPr>
        <p:spPr>
          <a:xfrm>
            <a:off x="8305800" y="2626271"/>
            <a:ext cx="283857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3139"/>
                </a:solidFill>
                <a:latin typeface="IBM Plex Sans" pitchFamily="34" charset="0"/>
                <a:ea typeface="IBM Plex Sans" pitchFamily="34" charset="-122"/>
                <a:cs typeface="IBM Plex Sans" pitchFamily="34" charset="-120"/>
              </a:rPr>
              <a:t>Selective salting</a:t>
            </a:r>
            <a:endParaRPr lang="en-US" sz="2000" dirty="0"/>
          </a:p>
        </p:txBody>
      </p:sp>
      <p:sp>
        <p:nvSpPr>
          <p:cNvPr id="17" name="Text 15"/>
          <p:cNvSpPr/>
          <p:nvPr/>
        </p:nvSpPr>
        <p:spPr>
          <a:xfrm>
            <a:off x="8305800" y="3058071"/>
            <a:ext cx="2838577"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55B"/>
                </a:solidFill>
                <a:latin typeface="IBM Plex Sans" pitchFamily="34" charset="0"/>
                <a:ea typeface="IBM Plex Sans" pitchFamily="34" charset="-122"/>
                <a:cs typeface="IBM Plex Sans" pitchFamily="34" charset="-120"/>
              </a:rPr>
              <a:t>Salt only the hot key. Copy </a:t>
            </a:r>
            <a:r>
              <a:rPr lang="en-US" sz="1400" b="1" dirty="0">
                <a:solidFill>
                  <a:srgbClr val="44555B"/>
                </a:solidFill>
                <a:latin typeface="IBM Plex Sans" pitchFamily="34" charset="0"/>
                <a:ea typeface="IBM Plex Sans" pitchFamily="34" charset="-122"/>
                <a:cs typeface="IBM Plex Sans" pitchFamily="34" charset="-120"/>
              </a:rPr>
              <a:t>only its matching rows</a:t>
            </a:r>
            <a:r>
              <a:rPr lang="en-US" sz="1400" dirty="0">
                <a:solidFill>
                  <a:srgbClr val="44555B"/>
                </a:solidFill>
                <a:latin typeface="IBM Plex Sans" pitchFamily="34" charset="0"/>
                <a:ea typeface="IBM Plex Sans" pitchFamily="34" charset="-122"/>
                <a:cs typeface="IBM Plex Sans" pitchFamily="34" charset="-120"/>
              </a:rPr>
              <a:t> k times. All other keys join as before.</a:t>
            </a:r>
            <a:endParaRPr lang="en-US" sz="1400" dirty="0"/>
          </a:p>
        </p:txBody>
      </p:sp>
      <p:sp>
        <p:nvSpPr>
          <p:cNvPr id="18" name="Text 16"/>
          <p:cNvSpPr/>
          <p:nvPr/>
        </p:nvSpPr>
        <p:spPr>
          <a:xfrm>
            <a:off x="8305800" y="3958382"/>
            <a:ext cx="283857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55B"/>
                </a:solidFill>
                <a:latin typeface="IBM Plex Sans" pitchFamily="34" charset="0"/>
                <a:ea typeface="IBM Plex Sans" pitchFamily="34" charset="-122"/>
                <a:cs typeface="IBM Plex Sans" pitchFamily="34" charset="-120"/>
              </a:rPr>
              <a:t>Copy cost grows with P, the hot key’s probe rows.</a:t>
            </a:r>
            <a:endParaRPr lang="en-US" sz="1300" dirty="0"/>
          </a:p>
        </p:txBody>
      </p:sp>
      <p:sp>
        <p:nvSpPr>
          <p:cNvPr id="19" name="Shape 17"/>
          <p:cNvSpPr/>
          <p:nvPr/>
        </p:nvSpPr>
        <p:spPr>
          <a:xfrm>
            <a:off x="0" y="0"/>
            <a:ext cx="12192000" cy="406400"/>
          </a:xfrm>
          <a:prstGeom prst="rect">
            <a:avLst/>
          </a:prstGeom>
          <a:solidFill>
            <a:srgbClr val="1B3139"/>
          </a:solidFill>
          <a:ln/>
        </p:spPr>
      </p:sp>
      <p:sp>
        <p:nvSpPr>
          <p:cNvPr id="20" name="Shape 18"/>
          <p:cNvSpPr/>
          <p:nvPr/>
        </p:nvSpPr>
        <p:spPr>
          <a:xfrm>
            <a:off x="0" y="393700"/>
            <a:ext cx="12192000" cy="0"/>
          </a:xfrm>
          <a:prstGeom prst="line">
            <a:avLst/>
          </a:prstGeom>
          <a:noFill/>
          <a:ln w="25400">
            <a:solidFill>
              <a:srgbClr val="FF3621"/>
            </a:solidFill>
            <a:prstDash val="solid"/>
          </a:ln>
        </p:spPr>
      </p:sp>
      <p:sp>
        <p:nvSpPr>
          <p:cNvPr id="21" name="Text 19"/>
          <p:cNvSpPr/>
          <p:nvPr/>
        </p:nvSpPr>
        <p:spPr>
          <a:xfrm>
            <a:off x="812800" y="8890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9F7F4"/>
                </a:solidFill>
                <a:latin typeface="IBM Plex Sans" pitchFamily="34" charset="0"/>
                <a:ea typeface="IBM Plex Sans" pitchFamily="34" charset="-122"/>
                <a:cs typeface="IBM Plex Sans" pitchFamily="34" charset="-120"/>
              </a:rPr>
              <a:t>skewbench › AQE vs Salting in Apache Spark</a:t>
            </a:r>
            <a:endParaRPr lang="en-US" sz="1200" dirty="0"/>
          </a:p>
        </p:txBody>
      </p:sp>
      <p:sp>
        <p:nvSpPr>
          <p:cNvPr id="22" name="Text 20"/>
          <p:cNvSpPr/>
          <p:nvPr/>
        </p:nvSpPr>
        <p:spPr>
          <a:xfrm>
            <a:off x="8108950" y="8890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4CFD1"/>
                </a:solidFill>
                <a:latin typeface="IBM Plex Sans" pitchFamily="34" charset="0"/>
                <a:ea typeface="IBM Plex Sans" pitchFamily="34" charset="-122"/>
                <a:cs typeface="IBM Plex Sans" pitchFamily="34" charset="-120"/>
              </a:rPr>
              <a:t>Aditya Malviya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DE9"/>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8240F"/>
                </a:solidFill>
                <a:latin typeface="IBM Plex Sans" pitchFamily="34" charset="0"/>
                <a:ea typeface="IBM Plex Sans" pitchFamily="34" charset="-122"/>
                <a:cs typeface="IBM Plex Sans" pitchFamily="34" charset="-120"/>
              </a:rPr>
              <a:t>RESEARCH QUESTIONS</a:t>
            </a:r>
            <a:endParaRPr lang="en-US" sz="1300" dirty="0"/>
          </a:p>
        </p:txBody>
      </p:sp>
      <p:sp>
        <p:nvSpPr>
          <p:cNvPr id="3" name="Text 1"/>
          <p:cNvSpPr/>
          <p:nvPr>
            <p:ph type="title"/>
          </p:nvPr>
        </p:nvSpPr>
        <p:spPr>
          <a:xfrm>
            <a:off x="812800" y="114553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3139"/>
                </a:solidFill>
                <a:latin typeface="IBM Plex Sans" pitchFamily="34" charset="0"/>
                <a:ea typeface="IBM Plex Sans" pitchFamily="34" charset="-122"/>
                <a:cs typeface="IBM Plex Sans" pitchFamily="34" charset="-120"/>
              </a:rPr>
              <a:t>Three questions practitioners answer by guesswork today</a:t>
            </a:r>
            <a:endParaRPr lang="en-US" sz="3200" dirty="0"/>
          </a:p>
        </p:txBody>
      </p:sp>
      <p:sp>
        <p:nvSpPr>
          <p:cNvPr id="4" name="Shape 2"/>
          <p:cNvSpPr/>
          <p:nvPr/>
        </p:nvSpPr>
        <p:spPr>
          <a:xfrm>
            <a:off x="812800" y="2492921"/>
            <a:ext cx="10566400" cy="0"/>
          </a:xfrm>
          <a:prstGeom prst="line">
            <a:avLst/>
          </a:prstGeom>
          <a:noFill/>
          <a:ln w="12700">
            <a:solidFill>
              <a:srgbClr val="1B3139"/>
            </a:solidFill>
            <a:prstDash val="solid"/>
          </a:ln>
        </p:spPr>
      </p:sp>
      <p:sp>
        <p:nvSpPr>
          <p:cNvPr id="5" name="Text 3"/>
          <p:cNvSpPr/>
          <p:nvPr/>
        </p:nvSpPr>
        <p:spPr>
          <a:xfrm>
            <a:off x="812800" y="2727871"/>
            <a:ext cx="685800"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F3621"/>
                </a:solidFill>
                <a:latin typeface="IBM Plex Sans" pitchFamily="34" charset="0"/>
                <a:ea typeface="IBM Plex Sans" pitchFamily="34" charset="-122"/>
                <a:cs typeface="IBM Plex Sans" pitchFamily="34" charset="-120"/>
              </a:rPr>
              <a:t>1</a:t>
            </a:r>
            <a:endParaRPr lang="en-US" sz="3600" dirty="0"/>
          </a:p>
        </p:txBody>
      </p:sp>
      <p:sp>
        <p:nvSpPr>
          <p:cNvPr id="6" name="Text 4"/>
          <p:cNvSpPr/>
          <p:nvPr/>
        </p:nvSpPr>
        <p:spPr>
          <a:xfrm>
            <a:off x="1752600" y="2893616"/>
            <a:ext cx="9915398"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B3139"/>
                </a:solidFill>
                <a:latin typeface="IBM Plex Sans" pitchFamily="34" charset="0"/>
                <a:ea typeface="IBM Plex Sans" pitchFamily="34" charset="-122"/>
                <a:cs typeface="IBM Plex Sans" pitchFamily="34" charset="-120"/>
              </a:rPr>
              <a:t>Will AQE’s skew-join rule fix a skewed join by itself, or is salting still needed?</a:t>
            </a:r>
            <a:endParaRPr lang="en-US" sz="1800" dirty="0"/>
          </a:p>
        </p:txBody>
      </p:sp>
      <p:sp>
        <p:nvSpPr>
          <p:cNvPr id="7" name="Shape 5"/>
          <p:cNvSpPr/>
          <p:nvPr/>
        </p:nvSpPr>
        <p:spPr>
          <a:xfrm>
            <a:off x="812800" y="3599706"/>
            <a:ext cx="10566400" cy="0"/>
          </a:xfrm>
          <a:prstGeom prst="line">
            <a:avLst/>
          </a:prstGeom>
          <a:noFill/>
          <a:ln w="6350">
            <a:solidFill>
              <a:srgbClr val="C8CDD0"/>
            </a:solidFill>
            <a:prstDash val="solid"/>
          </a:ln>
        </p:spPr>
      </p:sp>
      <p:sp>
        <p:nvSpPr>
          <p:cNvPr id="8" name="Text 6"/>
          <p:cNvSpPr/>
          <p:nvPr/>
        </p:nvSpPr>
        <p:spPr>
          <a:xfrm>
            <a:off x="812800" y="3831481"/>
            <a:ext cx="685800"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F3621"/>
                </a:solidFill>
                <a:latin typeface="IBM Plex Sans" pitchFamily="34" charset="0"/>
                <a:ea typeface="IBM Plex Sans" pitchFamily="34" charset="-122"/>
                <a:cs typeface="IBM Plex Sans" pitchFamily="34" charset="-120"/>
              </a:rPr>
              <a:t>2</a:t>
            </a:r>
            <a:endParaRPr lang="en-US" sz="3600" dirty="0"/>
          </a:p>
        </p:txBody>
      </p:sp>
      <p:sp>
        <p:nvSpPr>
          <p:cNvPr id="9" name="Text 7"/>
          <p:cNvSpPr/>
          <p:nvPr/>
        </p:nvSpPr>
        <p:spPr>
          <a:xfrm>
            <a:off x="1752600" y="3997226"/>
            <a:ext cx="9915398"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B3139"/>
                </a:solidFill>
                <a:latin typeface="IBM Plex Sans" pitchFamily="34" charset="0"/>
                <a:ea typeface="IBM Plex Sans" pitchFamily="34" charset="-122"/>
                <a:cs typeface="IBM Plex Sans" pitchFamily="34" charset="-120"/>
              </a:rPr>
              <a:t>If you salt, which k is best, and can you work it out from data statistics before the query runs?</a:t>
            </a:r>
            <a:endParaRPr lang="en-US" sz="1800" dirty="0"/>
          </a:p>
        </p:txBody>
      </p:sp>
      <p:sp>
        <p:nvSpPr>
          <p:cNvPr id="10" name="Shape 8"/>
          <p:cNvSpPr/>
          <p:nvPr/>
        </p:nvSpPr>
        <p:spPr>
          <a:xfrm>
            <a:off x="812800" y="4703316"/>
            <a:ext cx="10566400" cy="0"/>
          </a:xfrm>
          <a:prstGeom prst="line">
            <a:avLst/>
          </a:prstGeom>
          <a:noFill/>
          <a:ln w="6350">
            <a:solidFill>
              <a:srgbClr val="C8CDD0"/>
            </a:solidFill>
            <a:prstDash val="solid"/>
          </a:ln>
        </p:spPr>
      </p:sp>
      <p:sp>
        <p:nvSpPr>
          <p:cNvPr id="11" name="Shape 9"/>
          <p:cNvSpPr/>
          <p:nvPr/>
        </p:nvSpPr>
        <p:spPr>
          <a:xfrm>
            <a:off x="812800" y="5806926"/>
            <a:ext cx="10566400" cy="0"/>
          </a:xfrm>
          <a:prstGeom prst="line">
            <a:avLst/>
          </a:prstGeom>
          <a:noFill/>
          <a:ln w="6350">
            <a:solidFill>
              <a:srgbClr val="C8CDD0"/>
            </a:solidFill>
            <a:prstDash val="solid"/>
          </a:ln>
        </p:spPr>
      </p:sp>
      <p:sp>
        <p:nvSpPr>
          <p:cNvPr id="12" name="Text 10"/>
          <p:cNvSpPr/>
          <p:nvPr/>
        </p:nvSpPr>
        <p:spPr>
          <a:xfrm>
            <a:off x="812800" y="4935091"/>
            <a:ext cx="685800"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F3621"/>
                </a:solidFill>
                <a:latin typeface="IBM Plex Sans" pitchFamily="34" charset="0"/>
                <a:ea typeface="IBM Plex Sans" pitchFamily="34" charset="-122"/>
                <a:cs typeface="IBM Plex Sans" pitchFamily="34" charset="-120"/>
              </a:rPr>
              <a:t>3</a:t>
            </a:r>
            <a:endParaRPr lang="en-US" sz="3600" dirty="0"/>
          </a:p>
        </p:txBody>
      </p:sp>
      <p:sp>
        <p:nvSpPr>
          <p:cNvPr id="13" name="Text 11"/>
          <p:cNvSpPr/>
          <p:nvPr/>
        </p:nvSpPr>
        <p:spPr>
          <a:xfrm>
            <a:off x="1752600" y="5100836"/>
            <a:ext cx="9915398"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B3139"/>
                </a:solidFill>
                <a:latin typeface="IBM Plex Sans" pitchFamily="34" charset="0"/>
                <a:ea typeface="IBM Plex Sans" pitchFamily="34" charset="-122"/>
                <a:cs typeface="IBM Plex Sans" pitchFamily="34" charset="-120"/>
              </a:rPr>
              <a:t>Does combining AQE with salting help, hurt, or do nothing?</a:t>
            </a:r>
            <a:endParaRPr lang="en-US" sz="1800" dirty="0"/>
          </a:p>
        </p:txBody>
      </p:sp>
      <p:sp>
        <p:nvSpPr>
          <p:cNvPr id="14" name="Shape 12"/>
          <p:cNvSpPr/>
          <p:nvPr/>
        </p:nvSpPr>
        <p:spPr>
          <a:xfrm>
            <a:off x="0" y="0"/>
            <a:ext cx="12192000" cy="406400"/>
          </a:xfrm>
          <a:prstGeom prst="rect">
            <a:avLst/>
          </a:prstGeom>
          <a:solidFill>
            <a:srgbClr val="1B3139"/>
          </a:solidFill>
          <a:ln/>
        </p:spPr>
      </p:sp>
      <p:sp>
        <p:nvSpPr>
          <p:cNvPr id="15" name="Shape 13"/>
          <p:cNvSpPr/>
          <p:nvPr/>
        </p:nvSpPr>
        <p:spPr>
          <a:xfrm>
            <a:off x="0" y="393700"/>
            <a:ext cx="12192000" cy="0"/>
          </a:xfrm>
          <a:prstGeom prst="line">
            <a:avLst/>
          </a:prstGeom>
          <a:noFill/>
          <a:ln w="25400">
            <a:solidFill>
              <a:srgbClr val="FF3621"/>
            </a:solidFill>
            <a:prstDash val="solid"/>
          </a:ln>
        </p:spPr>
      </p:sp>
      <p:sp>
        <p:nvSpPr>
          <p:cNvPr id="16" name="Text 14"/>
          <p:cNvSpPr/>
          <p:nvPr/>
        </p:nvSpPr>
        <p:spPr>
          <a:xfrm>
            <a:off x="812800" y="8890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9F7F4"/>
                </a:solidFill>
                <a:latin typeface="IBM Plex Sans" pitchFamily="34" charset="0"/>
                <a:ea typeface="IBM Plex Sans" pitchFamily="34" charset="-122"/>
                <a:cs typeface="IBM Plex Sans" pitchFamily="34" charset="-120"/>
              </a:rPr>
              <a:t>skewbench › AQE vs Salting in Apache Spark</a:t>
            </a:r>
            <a:endParaRPr lang="en-US" sz="1200" dirty="0"/>
          </a:p>
        </p:txBody>
      </p:sp>
      <p:sp>
        <p:nvSpPr>
          <p:cNvPr id="17" name="Text 15"/>
          <p:cNvSpPr/>
          <p:nvPr/>
        </p:nvSpPr>
        <p:spPr>
          <a:xfrm>
            <a:off x="8108950" y="8890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4CFD1"/>
                </a:solidFill>
                <a:latin typeface="IBM Plex Sans" pitchFamily="34" charset="0"/>
                <a:ea typeface="IBM Plex Sans" pitchFamily="34" charset="-122"/>
                <a:cs typeface="IBM Plex Sans" pitchFamily="34" charset="-120"/>
              </a:rPr>
              <a:t>Aditya Malviya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8240F"/>
                </a:solidFill>
                <a:latin typeface="IBM Plex Sans" pitchFamily="34" charset="0"/>
                <a:ea typeface="IBM Plex Sans" pitchFamily="34" charset="-122"/>
                <a:cs typeface="IBM Plex Sans" pitchFamily="34" charset="-120"/>
              </a:rPr>
              <a:t>CONTRIBUTION 1 · THE COST MODEL</a:t>
            </a:r>
            <a:endParaRPr lang="en-US" sz="1300" dirty="0"/>
          </a:p>
        </p:txBody>
      </p:sp>
      <p:sp>
        <p:nvSpPr>
          <p:cNvPr id="3" name="Text 1"/>
          <p:cNvSpPr/>
          <p:nvPr>
            <p:ph type="title"/>
          </p:nvPr>
        </p:nvSpPr>
        <p:spPr>
          <a:xfrm>
            <a:off x="812800" y="1145530"/>
            <a:ext cx="1137920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3139"/>
                </a:solidFill>
                <a:latin typeface="IBM Plex Sans" pitchFamily="34" charset="0"/>
                <a:ea typeface="IBM Plex Sans" pitchFamily="34" charset="-122"/>
                <a:cs typeface="IBM Plex Sans" pitchFamily="34" charset="-120"/>
              </a:rPr>
              <a:t>Salting trades a shorter straggler for more copied rows</a:t>
            </a:r>
            <a:endParaRPr lang="en-US" sz="3200" dirty="0"/>
          </a:p>
        </p:txBody>
      </p:sp>
      <p:sp>
        <p:nvSpPr>
          <p:cNvPr id="4" name="Shape 2"/>
          <p:cNvSpPr/>
          <p:nvPr/>
        </p:nvSpPr>
        <p:spPr>
          <a:xfrm>
            <a:off x="812800" y="1917650"/>
            <a:ext cx="5334000" cy="1198860"/>
          </a:xfrm>
          <a:prstGeom prst="roundRect">
            <a:avLst>
              <a:gd name="adj" fmla="val 3178"/>
            </a:avLst>
          </a:prstGeom>
          <a:solidFill>
            <a:srgbClr val="1B3139"/>
          </a:solidFill>
          <a:ln/>
        </p:spPr>
      </p:sp>
      <p:sp>
        <p:nvSpPr>
          <p:cNvPr id="5" name="Text 3"/>
          <p:cNvSpPr/>
          <p:nvPr/>
        </p:nvSpPr>
        <p:spPr>
          <a:xfrm>
            <a:off x="1066800" y="2146250"/>
            <a:ext cx="497078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9F7F4"/>
                </a:solidFill>
                <a:latin typeface="JetBrains Mono" pitchFamily="49" charset="0"/>
                <a:ea typeface="JetBrains Mono" pitchFamily="49" charset="-122"/>
                <a:cs typeface="JetBrains Mono" pitchFamily="49" charset="-120"/>
              </a:rPr>
              <a:t>T(k) = a·H/k + b·P·(k−1) + c</a:t>
            </a:r>
            <a:endParaRPr lang="en-US" sz="1800" dirty="0"/>
          </a:p>
        </p:txBody>
      </p:sp>
      <p:sp>
        <p:nvSpPr>
          <p:cNvPr id="6" name="Text 4"/>
          <p:cNvSpPr/>
          <p:nvPr/>
        </p:nvSpPr>
        <p:spPr>
          <a:xfrm>
            <a:off x="1066800" y="2567880"/>
            <a:ext cx="497078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5F46"/>
                </a:solidFill>
                <a:latin typeface="JetBrains Mono" pitchFamily="49" charset="0"/>
                <a:ea typeface="JetBrains Mono" pitchFamily="49" charset="-122"/>
                <a:cs typeface="JetBrains Mono" pitchFamily="49" charset="-120"/>
              </a:rPr>
              <a:t>k* = √(a·H / b·P)</a:t>
            </a:r>
            <a:endParaRPr lang="en-US" sz="1800" dirty="0"/>
          </a:p>
        </p:txBody>
      </p:sp>
      <p:sp>
        <p:nvSpPr>
          <p:cNvPr id="7" name="Text 5"/>
          <p:cNvSpPr/>
          <p:nvPr/>
        </p:nvSpPr>
        <p:spPr>
          <a:xfrm>
            <a:off x="812800" y="3294311"/>
            <a:ext cx="57404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4555B"/>
                </a:solidFill>
                <a:latin typeface="IBM Plex Sans" pitchFamily="34" charset="0"/>
                <a:ea typeface="IBM Plex Sans" pitchFamily="34" charset="-122"/>
                <a:cs typeface="IBM Plex Sans" pitchFamily="34" charset="-120"/>
              </a:rPr>
              <a:t>H/k</a:t>
            </a:r>
            <a:r>
              <a:rPr lang="en-US" sz="1400" dirty="0">
                <a:solidFill>
                  <a:srgbClr val="44555B"/>
                </a:solidFill>
                <a:latin typeface="IBM Plex Sans" pitchFamily="34" charset="0"/>
                <a:ea typeface="IBM Plex Sans" pitchFamily="34" charset="-122"/>
                <a:cs typeface="IBM Plex Sans" pitchFamily="34" charset="-120"/>
              </a:rPr>
              <a:t>: the hot key’s H rows split over k tasks. The straggler shrinks.</a:t>
            </a:r>
            <a:endParaRPr lang="en-US" sz="1400" dirty="0"/>
          </a:p>
        </p:txBody>
      </p:sp>
      <p:sp>
        <p:nvSpPr>
          <p:cNvPr id="8" name="Text 6"/>
          <p:cNvSpPr/>
          <p:nvPr/>
        </p:nvSpPr>
        <p:spPr>
          <a:xfrm>
            <a:off x="812800" y="3729881"/>
            <a:ext cx="5494020"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4555B"/>
                </a:solidFill>
                <a:latin typeface="IBM Plex Sans" pitchFamily="34" charset="0"/>
                <a:ea typeface="IBM Plex Sans" pitchFamily="34" charset="-122"/>
                <a:cs typeface="IBM Plex Sans" pitchFamily="34" charset="-120"/>
              </a:rPr>
              <a:t>P(k−1)</a:t>
            </a:r>
            <a:r>
              <a:rPr lang="en-US" sz="1400" dirty="0">
                <a:solidFill>
                  <a:srgbClr val="44555B"/>
                </a:solidFill>
                <a:latin typeface="IBM Plex Sans" pitchFamily="34" charset="0"/>
                <a:ea typeface="IBM Plex Sans" pitchFamily="34" charset="-122"/>
                <a:cs typeface="IBM Plex Sans" pitchFamily="34" charset="-120"/>
              </a:rPr>
              <a:t>: the P matching probe rows are copied k times. The extra work grows.</a:t>
            </a:r>
            <a:endParaRPr lang="en-US" sz="1400" dirty="0"/>
          </a:p>
        </p:txBody>
      </p:sp>
      <p:sp>
        <p:nvSpPr>
          <p:cNvPr id="9" name="Text 7"/>
          <p:cNvSpPr/>
          <p:nvPr/>
        </p:nvSpPr>
        <p:spPr>
          <a:xfrm>
            <a:off x="812800" y="4423221"/>
            <a:ext cx="5494020"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4555B"/>
                </a:solidFill>
                <a:latin typeface="IBM Plex Sans" pitchFamily="34" charset="0"/>
                <a:ea typeface="IBM Plex Sans" pitchFamily="34" charset="-122"/>
                <a:cs typeface="IBM Plex Sans" pitchFamily="34" charset="-120"/>
              </a:rPr>
              <a:t>Two ceilings:</a:t>
            </a:r>
            <a:r>
              <a:rPr lang="en-US" sz="1400" dirty="0">
                <a:solidFill>
                  <a:srgbClr val="44555B"/>
                </a:solidFill>
                <a:latin typeface="IBM Plex Sans" pitchFamily="34" charset="0"/>
                <a:ea typeface="IBM Plex Sans" pitchFamily="34" charset="-122"/>
                <a:cs typeface="IBM Plex Sans" pitchFamily="34" charset="-120"/>
              </a:rPr>
              <a:t> salting past ρ (hot rows ÷ mean rows per partition) or past C (task slots) is always waste.</a:t>
            </a:r>
            <a:endParaRPr lang="en-US" sz="1400" dirty="0"/>
          </a:p>
        </p:txBody>
      </p:sp>
      <p:sp>
        <p:nvSpPr>
          <p:cNvPr id="10" name="Shape 8"/>
          <p:cNvSpPr/>
          <p:nvPr/>
        </p:nvSpPr>
        <p:spPr>
          <a:xfrm>
            <a:off x="6556375" y="1920825"/>
            <a:ext cx="4819650" cy="4121200"/>
          </a:xfrm>
          <a:prstGeom prst="roundRect">
            <a:avLst>
              <a:gd name="adj" fmla="val 847"/>
            </a:avLst>
          </a:prstGeom>
          <a:solidFill>
            <a:srgbClr val="FFFFFF"/>
          </a:solidFill>
          <a:ln w="6350">
            <a:solidFill>
              <a:srgbClr val="DCE0E2"/>
            </a:solidFill>
            <a:prstDash val="solid"/>
          </a:ln>
        </p:spPr>
      </p:sp>
      <p:pic>
        <p:nvPicPr>
          <p:cNvPr id="11" name="Image 0" descr="Paper figure: median wall-clock time against salt cardinality k at P = 321, with the fitted T(k) curve and measured points; the minimum is at k = 2, 11.1 seconds">    </p:cNvPr>
          <p:cNvPicPr>
            <a:picLocks noChangeAspect="1"/>
          </p:cNvPicPr>
          <p:nvPr/>
        </p:nvPicPr>
        <p:blipFill>
          <a:blip r:embed="rId1"/>
          <a:srcRect l="-4912" r="-4912" t="0" b="0"/>
          <a:stretch/>
        </p:blipFill>
        <p:spPr>
          <a:xfrm>
            <a:off x="6711950" y="2076400"/>
            <a:ext cx="4521200" cy="3345607"/>
          </a:xfrm>
          <a:prstGeom prst="rect">
            <a:avLst/>
          </a:prstGeom>
        </p:spPr>
      </p:pic>
      <p:sp>
        <p:nvSpPr>
          <p:cNvPr id="12" name="Text 9"/>
          <p:cNvSpPr/>
          <p:nvPr/>
        </p:nvSpPr>
        <p:spPr>
          <a:xfrm>
            <a:off x="6711950" y="5498207"/>
            <a:ext cx="4643755" cy="413643"/>
          </a:xfrm>
          <a:prstGeom prst="rect">
            <a:avLst/>
          </a:prstGeom>
          <a:noFill/>
          <a:ln/>
        </p:spPr>
        <p:txBody>
          <a:bodyPr wrap="square" lIns="0" tIns="0" rIns="0" bIns="0" rtlCol="0" anchor="t">
            <a:normAutofit/>
          </a:bodyPr>
          <a:lstStyle/>
          <a:p>
            <a:pPr algn="l" indent="0" marL="0">
              <a:lnSpc>
                <a:spcPts val="1533"/>
              </a:lnSpc>
              <a:buNone/>
            </a:pPr>
            <a:r>
              <a:rPr lang="en-US" sz="1095" dirty="0">
                <a:solidFill>
                  <a:srgbClr val="5F6E73"/>
                </a:solidFill>
                <a:latin typeface="IBM Plex Sans" pitchFamily="34" charset="0"/>
                <a:ea typeface="IBM Plex Sans" pitchFamily="34" charset="-122"/>
                <a:cs typeface="IBM Plex Sans" pitchFamily="34" charset="-120"/>
              </a:rPr>
              <a:t>Paper figure: measured runtime vs k at P = 321. The fitted curve is U-shaped; the measured minimum is k = 2.</a:t>
            </a:r>
            <a:endParaRPr lang="en-US" sz="1095" dirty="0"/>
          </a:p>
        </p:txBody>
      </p:sp>
      <p:sp>
        <p:nvSpPr>
          <p:cNvPr id="13" name="Shape 10"/>
          <p:cNvSpPr/>
          <p:nvPr/>
        </p:nvSpPr>
        <p:spPr>
          <a:xfrm>
            <a:off x="0" y="0"/>
            <a:ext cx="12192000" cy="406400"/>
          </a:xfrm>
          <a:prstGeom prst="rect">
            <a:avLst/>
          </a:prstGeom>
          <a:solidFill>
            <a:srgbClr val="1B3139"/>
          </a:solidFill>
          <a:ln/>
        </p:spPr>
      </p:sp>
      <p:sp>
        <p:nvSpPr>
          <p:cNvPr id="14" name="Shape 11"/>
          <p:cNvSpPr/>
          <p:nvPr/>
        </p:nvSpPr>
        <p:spPr>
          <a:xfrm>
            <a:off x="0" y="393700"/>
            <a:ext cx="12192000" cy="0"/>
          </a:xfrm>
          <a:prstGeom prst="line">
            <a:avLst/>
          </a:prstGeom>
          <a:noFill/>
          <a:ln w="25400">
            <a:solidFill>
              <a:srgbClr val="FF3621"/>
            </a:solidFill>
            <a:prstDash val="solid"/>
          </a:ln>
        </p:spPr>
      </p:sp>
      <p:sp>
        <p:nvSpPr>
          <p:cNvPr id="15" name="Text 12"/>
          <p:cNvSpPr/>
          <p:nvPr/>
        </p:nvSpPr>
        <p:spPr>
          <a:xfrm>
            <a:off x="812800" y="8890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9F7F4"/>
                </a:solidFill>
                <a:latin typeface="IBM Plex Sans" pitchFamily="34" charset="0"/>
                <a:ea typeface="IBM Plex Sans" pitchFamily="34" charset="-122"/>
                <a:cs typeface="IBM Plex Sans" pitchFamily="34" charset="-120"/>
              </a:rPr>
              <a:t>skewbench › AQE vs Salting in Apache Spark</a:t>
            </a:r>
            <a:endParaRPr lang="en-US" sz="1200" dirty="0"/>
          </a:p>
        </p:txBody>
      </p:sp>
      <p:sp>
        <p:nvSpPr>
          <p:cNvPr id="16" name="Text 13"/>
          <p:cNvSpPr/>
          <p:nvPr/>
        </p:nvSpPr>
        <p:spPr>
          <a:xfrm>
            <a:off x="8108950" y="8890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4CFD1"/>
                </a:solidFill>
                <a:latin typeface="IBM Plex Sans" pitchFamily="34" charset="0"/>
                <a:ea typeface="IBM Plex Sans" pitchFamily="34" charset="-122"/>
                <a:cs typeface="IBM Plex Sans" pitchFamily="34" charset="-120"/>
              </a:rPr>
              <a:t>Aditya Malviya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8240F"/>
                </a:solidFill>
                <a:latin typeface="IBM Plex Sans" pitchFamily="34" charset="0"/>
                <a:ea typeface="IBM Plex Sans" pitchFamily="34" charset="-122"/>
                <a:cs typeface="IBM Plex Sans" pitchFamily="34" charset="-120"/>
              </a:rPr>
              <a:t>CONTRIBUTION 2 · THE DECISION PROCEDURE</a:t>
            </a:r>
            <a:endParaRPr lang="en-US" sz="1300" dirty="0"/>
          </a:p>
        </p:txBody>
      </p:sp>
      <p:sp>
        <p:nvSpPr>
          <p:cNvPr id="3" name="Text 1"/>
          <p:cNvSpPr/>
          <p:nvPr>
            <p:ph type="title"/>
          </p:nvPr>
        </p:nvSpPr>
        <p:spPr>
          <a:xfrm>
            <a:off x="812800" y="114553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3139"/>
                </a:solidFill>
                <a:latin typeface="IBM Plex Sans" pitchFamily="34" charset="0"/>
                <a:ea typeface="IBM Plex Sans" pitchFamily="34" charset="-122"/>
                <a:cs typeface="IBM Plex Sans" pitchFamily="34" charset="-120"/>
              </a:rPr>
              <a:t>Four checks on data statistics pick the remedy before the query runs</a:t>
            </a:r>
            <a:endParaRPr lang="en-US" sz="3200" dirty="0"/>
          </a:p>
        </p:txBody>
      </p:sp>
      <p:sp>
        <p:nvSpPr>
          <p:cNvPr id="4" name="Text 2"/>
          <p:cNvSpPr/>
          <p:nvPr/>
        </p:nvSpPr>
        <p:spPr>
          <a:xfrm>
            <a:off x="815975" y="2162175"/>
            <a:ext cx="1898650" cy="1263650"/>
          </a:xfrm>
          <a:prstGeom prst="roundRect">
            <a:avLst>
              <a:gd name="adj" fmla="val 2764"/>
            </a:avLst>
          </a:prstGeom>
          <a:solidFill>
            <a:srgbClr val="FFFFFF"/>
          </a:solidFill>
          <a:ln w="6350">
            <a:solidFill>
              <a:srgbClr val="8A8F98"/>
            </a:solidFill>
            <a:prstDash val="solid"/>
          </a:ln>
        </p:spPr>
        <p:txBody>
          <a:bodyPr wrap="square" lIns="145346" tIns="145346" rIns="94546" bIns="145346" rtlCol="0" anchor="ctr">
            <a:normAutofit/>
          </a:bodyPr>
          <a:lstStyle/>
          <a:p>
            <a:pPr algn="l" indent="0" marL="0">
              <a:lnSpc>
                <a:spcPts val="1690"/>
              </a:lnSpc>
              <a:buNone/>
            </a:pPr>
            <a:r>
              <a:rPr lang="en-US" sz="1300" dirty="0">
                <a:solidFill>
                  <a:srgbClr val="1B3139"/>
                </a:solidFill>
                <a:latin typeface="IBM Plex Sans" pitchFamily="34" charset="0"/>
                <a:ea typeface="IBM Plex Sans" pitchFamily="34" charset="-122"/>
                <a:cs typeface="IBM Plex Sans" pitchFamily="34" charset="-120"/>
              </a:rPr>
              <a:t>Is the skew ratio ρ below 2?</a:t>
            </a:r>
            <a:endParaRPr lang="en-US" sz="1300" dirty="0"/>
          </a:p>
        </p:txBody>
      </p:sp>
      <p:sp>
        <p:nvSpPr>
          <p:cNvPr id="5" name="Text 3"/>
          <p:cNvSpPr/>
          <p:nvPr/>
        </p:nvSpPr>
        <p:spPr>
          <a:xfrm>
            <a:off x="2981325" y="2162175"/>
            <a:ext cx="1898650" cy="1263650"/>
          </a:xfrm>
          <a:prstGeom prst="roundRect">
            <a:avLst>
              <a:gd name="adj" fmla="val 2764"/>
            </a:avLst>
          </a:prstGeom>
          <a:solidFill>
            <a:srgbClr val="FFFFFF"/>
          </a:solidFill>
          <a:ln w="6350">
            <a:solidFill>
              <a:srgbClr val="8A8F98"/>
            </a:solidFill>
            <a:prstDash val="solid"/>
          </a:ln>
        </p:spPr>
        <p:txBody>
          <a:bodyPr wrap="square" lIns="145346" tIns="145346" rIns="94546" bIns="145346" rtlCol="0" anchor="ctr">
            <a:normAutofit/>
          </a:bodyPr>
          <a:lstStyle/>
          <a:p>
            <a:pPr algn="l" indent="0" marL="0">
              <a:lnSpc>
                <a:spcPts val="1690"/>
              </a:lnSpc>
              <a:buNone/>
            </a:pPr>
            <a:r>
              <a:rPr lang="en-US" sz="1300" dirty="0">
                <a:solidFill>
                  <a:srgbClr val="1B3139"/>
                </a:solidFill>
                <a:latin typeface="IBM Plex Sans" pitchFamily="34" charset="0"/>
                <a:ea typeface="IBM Plex Sans" pitchFamily="34" charset="-122"/>
                <a:cs typeface="IBM Plex Sans" pitchFamily="34" charset="-120"/>
              </a:rPr>
              <a:t>Is the hot partition smaller than the advisory split size?</a:t>
            </a:r>
            <a:endParaRPr lang="en-US" sz="1300" dirty="0"/>
          </a:p>
        </p:txBody>
      </p:sp>
      <p:sp>
        <p:nvSpPr>
          <p:cNvPr id="6" name="Text 4"/>
          <p:cNvSpPr/>
          <p:nvPr/>
        </p:nvSpPr>
        <p:spPr>
          <a:xfrm>
            <a:off x="5146675" y="2162175"/>
            <a:ext cx="1898650" cy="1263650"/>
          </a:xfrm>
          <a:prstGeom prst="roundRect">
            <a:avLst>
              <a:gd name="adj" fmla="val 2764"/>
            </a:avLst>
          </a:prstGeom>
          <a:solidFill>
            <a:srgbClr val="FFFFFF"/>
          </a:solidFill>
          <a:ln w="6350">
            <a:solidFill>
              <a:srgbClr val="8A8F98"/>
            </a:solidFill>
            <a:prstDash val="solid"/>
          </a:ln>
        </p:spPr>
        <p:txBody>
          <a:bodyPr wrap="square" lIns="145346" tIns="145346" rIns="94546" bIns="145346" rtlCol="0" anchor="ctr">
            <a:normAutofit/>
          </a:bodyPr>
          <a:lstStyle/>
          <a:p>
            <a:pPr algn="l" indent="0" marL="0">
              <a:lnSpc>
                <a:spcPts val="1690"/>
              </a:lnSpc>
              <a:buNone/>
            </a:pPr>
            <a:r>
              <a:rPr lang="en-US" sz="1300" dirty="0">
                <a:solidFill>
                  <a:srgbClr val="1B3139"/>
                </a:solidFill>
                <a:latin typeface="IBM Plex Sans" pitchFamily="34" charset="0"/>
                <a:ea typeface="IBM Plex Sans" pitchFamily="34" charset="-122"/>
                <a:cs typeface="IBM Plex Sans" pitchFamily="34" charset="-120"/>
              </a:rPr>
              <a:t>Is it under AQE’s size threshold or skew factor?</a:t>
            </a:r>
            <a:endParaRPr lang="en-US" sz="1300" dirty="0"/>
          </a:p>
        </p:txBody>
      </p:sp>
      <p:sp>
        <p:nvSpPr>
          <p:cNvPr id="7" name="Text 5"/>
          <p:cNvSpPr/>
          <p:nvPr/>
        </p:nvSpPr>
        <p:spPr>
          <a:xfrm>
            <a:off x="7312025" y="2162175"/>
            <a:ext cx="1898650" cy="1263650"/>
          </a:xfrm>
          <a:prstGeom prst="roundRect">
            <a:avLst>
              <a:gd name="adj" fmla="val 2764"/>
            </a:avLst>
          </a:prstGeom>
          <a:solidFill>
            <a:srgbClr val="FFFFFF"/>
          </a:solidFill>
          <a:ln w="6350">
            <a:solidFill>
              <a:srgbClr val="8A8F98"/>
            </a:solidFill>
            <a:prstDash val="solid"/>
          </a:ln>
        </p:spPr>
        <p:txBody>
          <a:bodyPr wrap="square" lIns="145346" tIns="145346" rIns="94546" bIns="145346" rtlCol="0" anchor="ctr">
            <a:normAutofit/>
          </a:bodyPr>
          <a:lstStyle/>
          <a:p>
            <a:pPr algn="l" indent="0" marL="0">
              <a:lnSpc>
                <a:spcPts val="1690"/>
              </a:lnSpc>
              <a:buNone/>
            </a:pPr>
            <a:r>
              <a:rPr lang="en-US" sz="1300" dirty="0">
                <a:solidFill>
                  <a:srgbClr val="1B3139"/>
                </a:solidFill>
                <a:latin typeface="IBM Plex Sans" pitchFamily="34" charset="0"/>
                <a:ea typeface="IBM Plex Sans" pitchFamily="34" charset="-122"/>
                <a:cs typeface="IBM Plex Sans" pitchFamily="34" charset="-120"/>
              </a:rPr>
              <a:t>Is the hot key thin on the probe side (μ ≤ 2)?</a:t>
            </a:r>
            <a:endParaRPr lang="en-US" sz="1300" dirty="0"/>
          </a:p>
        </p:txBody>
      </p:sp>
      <p:sp>
        <p:nvSpPr>
          <p:cNvPr id="8" name="Shape 6"/>
          <p:cNvSpPr/>
          <p:nvPr/>
        </p:nvSpPr>
        <p:spPr>
          <a:xfrm>
            <a:off x="9474200" y="2159000"/>
            <a:ext cx="1905000" cy="1270000"/>
          </a:xfrm>
          <a:prstGeom prst="roundRect">
            <a:avLst>
              <a:gd name="adj" fmla="val 3000"/>
            </a:avLst>
          </a:prstGeom>
          <a:solidFill>
            <a:srgbClr val="1B3139"/>
          </a:solidFill>
          <a:ln/>
        </p:spPr>
      </p:sp>
      <p:sp>
        <p:nvSpPr>
          <p:cNvPr id="9" name="Text 7"/>
          <p:cNvSpPr/>
          <p:nvPr/>
        </p:nvSpPr>
        <p:spPr>
          <a:xfrm>
            <a:off x="9626600" y="2579390"/>
            <a:ext cx="16510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9F7F4"/>
                </a:solidFill>
                <a:latin typeface="IBM Plex Sans" pitchFamily="34" charset="0"/>
                <a:ea typeface="IBM Plex Sans" pitchFamily="34" charset="-122"/>
                <a:cs typeface="IBM Plex Sans" pitchFamily="34" charset="-120"/>
              </a:rPr>
              <a:t>AQE + salting</a:t>
            </a:r>
            <a:endParaRPr lang="en-US" sz="1400" dirty="0"/>
          </a:p>
        </p:txBody>
      </p:sp>
      <p:sp>
        <p:nvSpPr>
          <p:cNvPr id="10" name="Text 8"/>
          <p:cNvSpPr/>
          <p:nvPr/>
        </p:nvSpPr>
        <p:spPr>
          <a:xfrm>
            <a:off x="9626600" y="2810520"/>
            <a:ext cx="16510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4CFD1"/>
                </a:solidFill>
                <a:latin typeface="IBM Plex Sans" pitchFamily="34" charset="0"/>
                <a:ea typeface="IBM Plex Sans" pitchFamily="34" charset="-122"/>
                <a:cs typeface="IBM Plex Sans" pitchFamily="34" charset="-120"/>
              </a:rPr>
              <a:t>Both sides skewed</a:t>
            </a:r>
            <a:endParaRPr lang="en-US" sz="1200" dirty="0"/>
          </a:p>
        </p:txBody>
      </p:sp>
      <p:sp>
        <p:nvSpPr>
          <p:cNvPr id="11" name="Shape 9"/>
          <p:cNvSpPr/>
          <p:nvPr/>
        </p:nvSpPr>
        <p:spPr>
          <a:xfrm>
            <a:off x="812800" y="3937000"/>
            <a:ext cx="1905000" cy="1079500"/>
          </a:xfrm>
          <a:prstGeom prst="roundRect">
            <a:avLst>
              <a:gd name="adj" fmla="val 3529"/>
            </a:avLst>
          </a:prstGeom>
          <a:solidFill>
            <a:srgbClr val="1B3139"/>
          </a:solidFill>
          <a:ln/>
        </p:spPr>
      </p:sp>
      <p:sp>
        <p:nvSpPr>
          <p:cNvPr id="12" name="Text 10"/>
          <p:cNvSpPr/>
          <p:nvPr/>
        </p:nvSpPr>
        <p:spPr>
          <a:xfrm>
            <a:off x="965200" y="4262140"/>
            <a:ext cx="16510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9F7F4"/>
                </a:solidFill>
                <a:latin typeface="IBM Plex Sans" pitchFamily="34" charset="0"/>
                <a:ea typeface="IBM Plex Sans" pitchFamily="34" charset="-122"/>
                <a:cs typeface="IBM Plex Sans" pitchFamily="34" charset="-120"/>
              </a:rPr>
              <a:t>Do nothing</a:t>
            </a:r>
            <a:endParaRPr lang="en-US" sz="1400" dirty="0"/>
          </a:p>
        </p:txBody>
      </p:sp>
      <p:sp>
        <p:nvSpPr>
          <p:cNvPr id="13" name="Text 11"/>
          <p:cNvSpPr/>
          <p:nvPr/>
        </p:nvSpPr>
        <p:spPr>
          <a:xfrm>
            <a:off x="965200" y="4493270"/>
            <a:ext cx="16510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4CFD1"/>
                </a:solidFill>
                <a:latin typeface="IBM Plex Sans" pitchFamily="34" charset="0"/>
                <a:ea typeface="IBM Plex Sans" pitchFamily="34" charset="-122"/>
                <a:cs typeface="IBM Plex Sans" pitchFamily="34" charset="-120"/>
              </a:rPr>
              <a:t>No straggler to fix</a:t>
            </a:r>
            <a:endParaRPr lang="en-US" sz="1200" dirty="0"/>
          </a:p>
        </p:txBody>
      </p:sp>
      <p:sp>
        <p:nvSpPr>
          <p:cNvPr id="14" name="Shape 12"/>
          <p:cNvSpPr/>
          <p:nvPr/>
        </p:nvSpPr>
        <p:spPr>
          <a:xfrm>
            <a:off x="2978150" y="3937000"/>
            <a:ext cx="1905000" cy="1079500"/>
          </a:xfrm>
          <a:prstGeom prst="roundRect">
            <a:avLst>
              <a:gd name="adj" fmla="val 3529"/>
            </a:avLst>
          </a:prstGeom>
          <a:solidFill>
            <a:srgbClr val="FF3621"/>
          </a:solidFill>
          <a:ln/>
        </p:spPr>
      </p:sp>
      <p:sp>
        <p:nvSpPr>
          <p:cNvPr id="15" name="Text 13"/>
          <p:cNvSpPr/>
          <p:nvPr/>
        </p:nvSpPr>
        <p:spPr>
          <a:xfrm>
            <a:off x="3130550" y="4163070"/>
            <a:ext cx="16510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B3139"/>
                </a:solidFill>
                <a:latin typeface="IBM Plex Sans" pitchFamily="34" charset="0"/>
                <a:ea typeface="IBM Plex Sans" pitchFamily="34" charset="-122"/>
                <a:cs typeface="IBM Plex Sans" pitchFamily="34" charset="-120"/>
              </a:rPr>
              <a:t>Salt</a:t>
            </a:r>
            <a:endParaRPr lang="en-US" sz="1400" dirty="0"/>
          </a:p>
        </p:txBody>
      </p:sp>
      <p:sp>
        <p:nvSpPr>
          <p:cNvPr id="16" name="Text 14"/>
          <p:cNvSpPr/>
          <p:nvPr/>
        </p:nvSpPr>
        <p:spPr>
          <a:xfrm>
            <a:off x="3130550" y="4394200"/>
            <a:ext cx="16510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B3139"/>
                </a:solidFill>
                <a:latin typeface="IBM Plex Sans" pitchFamily="34" charset="0"/>
                <a:ea typeface="IBM Plex Sans" pitchFamily="34" charset="-122"/>
                <a:cs typeface="IBM Plex Sans" pitchFamily="34" charset="-120"/>
              </a:rPr>
              <a:t>AQE has nothing to split</a:t>
            </a:r>
            <a:endParaRPr lang="en-US" sz="1200" dirty="0"/>
          </a:p>
        </p:txBody>
      </p:sp>
      <p:sp>
        <p:nvSpPr>
          <p:cNvPr id="17" name="Shape 15"/>
          <p:cNvSpPr/>
          <p:nvPr/>
        </p:nvSpPr>
        <p:spPr>
          <a:xfrm>
            <a:off x="5143500" y="3937000"/>
            <a:ext cx="1905000" cy="1079500"/>
          </a:xfrm>
          <a:prstGeom prst="roundRect">
            <a:avLst>
              <a:gd name="adj" fmla="val 3529"/>
            </a:avLst>
          </a:prstGeom>
          <a:solidFill>
            <a:srgbClr val="1B3139"/>
          </a:solidFill>
          <a:ln/>
        </p:spPr>
      </p:sp>
      <p:sp>
        <p:nvSpPr>
          <p:cNvPr id="18" name="Text 16"/>
          <p:cNvSpPr/>
          <p:nvPr/>
        </p:nvSpPr>
        <p:spPr>
          <a:xfrm>
            <a:off x="5295900" y="4262140"/>
            <a:ext cx="16510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9F7F4"/>
                </a:solidFill>
                <a:latin typeface="IBM Plex Sans" pitchFamily="34" charset="0"/>
                <a:ea typeface="IBM Plex Sans" pitchFamily="34" charset="-122"/>
                <a:cs typeface="IBM Plex Sans" pitchFamily="34" charset="-120"/>
              </a:rPr>
              <a:t>Salt</a:t>
            </a:r>
            <a:endParaRPr lang="en-US" sz="1400" dirty="0"/>
          </a:p>
        </p:txBody>
      </p:sp>
      <p:sp>
        <p:nvSpPr>
          <p:cNvPr id="19" name="Text 17"/>
          <p:cNvSpPr/>
          <p:nvPr/>
        </p:nvSpPr>
        <p:spPr>
          <a:xfrm>
            <a:off x="5295900" y="4493270"/>
            <a:ext cx="16510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4CFD1"/>
                </a:solidFill>
                <a:latin typeface="IBM Plex Sans" pitchFamily="34" charset="0"/>
                <a:ea typeface="IBM Plex Sans" pitchFamily="34" charset="-122"/>
                <a:cs typeface="IBM Plex Sans" pitchFamily="34" charset="-120"/>
              </a:rPr>
              <a:t>AQE will not fire</a:t>
            </a:r>
            <a:endParaRPr lang="en-US" sz="1200" dirty="0"/>
          </a:p>
        </p:txBody>
      </p:sp>
      <p:sp>
        <p:nvSpPr>
          <p:cNvPr id="20" name="Shape 18"/>
          <p:cNvSpPr/>
          <p:nvPr/>
        </p:nvSpPr>
        <p:spPr>
          <a:xfrm>
            <a:off x="7308850" y="3937000"/>
            <a:ext cx="1905000" cy="1079500"/>
          </a:xfrm>
          <a:prstGeom prst="roundRect">
            <a:avLst>
              <a:gd name="adj" fmla="val 3529"/>
            </a:avLst>
          </a:prstGeom>
          <a:solidFill>
            <a:srgbClr val="0078D4"/>
          </a:solidFill>
          <a:ln/>
        </p:spPr>
      </p:sp>
      <p:sp>
        <p:nvSpPr>
          <p:cNvPr id="21" name="Text 19"/>
          <p:cNvSpPr/>
          <p:nvPr/>
        </p:nvSpPr>
        <p:spPr>
          <a:xfrm>
            <a:off x="7461250" y="4262140"/>
            <a:ext cx="16510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FFFFF"/>
                </a:solidFill>
                <a:latin typeface="IBM Plex Sans" pitchFamily="34" charset="0"/>
                <a:ea typeface="IBM Plex Sans" pitchFamily="34" charset="-122"/>
                <a:cs typeface="IBM Plex Sans" pitchFamily="34" charset="-120"/>
              </a:rPr>
              <a:t>AQE alone</a:t>
            </a:r>
            <a:endParaRPr lang="en-US" sz="1400" dirty="0"/>
          </a:p>
        </p:txBody>
      </p:sp>
      <p:sp>
        <p:nvSpPr>
          <p:cNvPr id="22" name="Text 20"/>
          <p:cNvSpPr/>
          <p:nvPr/>
        </p:nvSpPr>
        <p:spPr>
          <a:xfrm>
            <a:off x="7461250" y="4493270"/>
            <a:ext cx="16510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EF3FA"/>
                </a:solidFill>
                <a:latin typeface="IBM Plex Sans" pitchFamily="34" charset="0"/>
                <a:ea typeface="IBM Plex Sans" pitchFamily="34" charset="-122"/>
                <a:cs typeface="IBM Plex Sans" pitchFamily="34" charset="-120"/>
              </a:rPr>
              <a:t>One-sided skew</a:t>
            </a:r>
            <a:endParaRPr lang="en-US" sz="1200" dirty="0"/>
          </a:p>
        </p:txBody>
      </p:sp>
      <p:pic>
        <p:nvPicPr>
          <p:cNvPr id="23" name="Image 0" descr="connector">    </p:cNvPr>
          <p:cNvPicPr>
            <a:picLocks noChangeAspect="1"/>
          </p:cNvPicPr>
          <p:nvPr/>
        </p:nvPicPr>
        <p:blipFill>
          <a:blip r:embed="rId1"/>
          <a:srcRect l="0" r="0" t="0" b="0"/>
          <a:stretch/>
        </p:blipFill>
        <p:spPr>
          <a:xfrm>
            <a:off x="2667000" y="2743200"/>
            <a:ext cx="361950" cy="101600"/>
          </a:xfrm>
          <a:prstGeom prst="rect">
            <a:avLst/>
          </a:prstGeom>
        </p:spPr>
      </p:pic>
      <p:pic>
        <p:nvPicPr>
          <p:cNvPr id="24" name="Image 1" descr="connector">    </p:cNvPr>
          <p:cNvPicPr>
            <a:picLocks noChangeAspect="1"/>
          </p:cNvPicPr>
          <p:nvPr/>
        </p:nvPicPr>
        <p:blipFill>
          <a:blip r:embed="rId2"/>
          <a:srcRect l="0" r="0" t="0" b="0"/>
          <a:stretch/>
        </p:blipFill>
        <p:spPr>
          <a:xfrm>
            <a:off x="4832350" y="2743200"/>
            <a:ext cx="361950" cy="101600"/>
          </a:xfrm>
          <a:prstGeom prst="rect">
            <a:avLst/>
          </a:prstGeom>
        </p:spPr>
      </p:pic>
      <p:pic>
        <p:nvPicPr>
          <p:cNvPr id="25" name="Image 2" descr="connector">    </p:cNvPr>
          <p:cNvPicPr>
            <a:picLocks noChangeAspect="1"/>
          </p:cNvPicPr>
          <p:nvPr/>
        </p:nvPicPr>
        <p:blipFill>
          <a:blip r:embed="rId3"/>
          <a:srcRect l="0" r="0" t="0" b="0"/>
          <a:stretch/>
        </p:blipFill>
        <p:spPr>
          <a:xfrm>
            <a:off x="6997700" y="2743200"/>
            <a:ext cx="361950" cy="101600"/>
          </a:xfrm>
          <a:prstGeom prst="rect">
            <a:avLst/>
          </a:prstGeom>
        </p:spPr>
      </p:pic>
      <p:pic>
        <p:nvPicPr>
          <p:cNvPr id="26" name="Image 3" descr="connector">    </p:cNvPr>
          <p:cNvPicPr>
            <a:picLocks noChangeAspect="1"/>
          </p:cNvPicPr>
          <p:nvPr/>
        </p:nvPicPr>
        <p:blipFill>
          <a:blip r:embed="rId4"/>
          <a:srcRect l="0" r="0" t="0" b="0"/>
          <a:stretch/>
        </p:blipFill>
        <p:spPr>
          <a:xfrm>
            <a:off x="9163050" y="2743200"/>
            <a:ext cx="361950" cy="101600"/>
          </a:xfrm>
          <a:prstGeom prst="rect">
            <a:avLst/>
          </a:prstGeom>
        </p:spPr>
      </p:pic>
      <p:pic>
        <p:nvPicPr>
          <p:cNvPr id="27" name="Image 4" descr="connector">    </p:cNvPr>
          <p:cNvPicPr>
            <a:picLocks noChangeAspect="1"/>
          </p:cNvPicPr>
          <p:nvPr/>
        </p:nvPicPr>
        <p:blipFill>
          <a:blip r:embed="rId5"/>
          <a:srcRect l="0" r="0" t="0" b="0"/>
          <a:stretch/>
        </p:blipFill>
        <p:spPr>
          <a:xfrm>
            <a:off x="1714500" y="3378200"/>
            <a:ext cx="101600" cy="609600"/>
          </a:xfrm>
          <a:prstGeom prst="rect">
            <a:avLst/>
          </a:prstGeom>
        </p:spPr>
      </p:pic>
      <p:pic>
        <p:nvPicPr>
          <p:cNvPr id="28" name="Image 5" descr="connector">    </p:cNvPr>
          <p:cNvPicPr>
            <a:picLocks noChangeAspect="1"/>
          </p:cNvPicPr>
          <p:nvPr/>
        </p:nvPicPr>
        <p:blipFill>
          <a:blip r:embed="rId6"/>
          <a:srcRect l="0" r="0" t="0" b="0"/>
          <a:stretch/>
        </p:blipFill>
        <p:spPr>
          <a:xfrm>
            <a:off x="3879850" y="3378200"/>
            <a:ext cx="101600" cy="609600"/>
          </a:xfrm>
          <a:prstGeom prst="rect">
            <a:avLst/>
          </a:prstGeom>
        </p:spPr>
      </p:pic>
      <p:pic>
        <p:nvPicPr>
          <p:cNvPr id="29" name="Image 6" descr="connector">    </p:cNvPr>
          <p:cNvPicPr>
            <a:picLocks noChangeAspect="1"/>
          </p:cNvPicPr>
          <p:nvPr/>
        </p:nvPicPr>
        <p:blipFill>
          <a:blip r:embed="rId7"/>
          <a:srcRect l="0" r="0" t="0" b="0"/>
          <a:stretch/>
        </p:blipFill>
        <p:spPr>
          <a:xfrm>
            <a:off x="6045200" y="3378200"/>
            <a:ext cx="101600" cy="609600"/>
          </a:xfrm>
          <a:prstGeom prst="rect">
            <a:avLst/>
          </a:prstGeom>
        </p:spPr>
      </p:pic>
      <p:pic>
        <p:nvPicPr>
          <p:cNvPr id="30" name="Image 7" descr="connector">    </p:cNvPr>
          <p:cNvPicPr>
            <a:picLocks noChangeAspect="1"/>
          </p:cNvPicPr>
          <p:nvPr/>
        </p:nvPicPr>
        <p:blipFill>
          <a:blip r:embed="rId8"/>
          <a:srcRect l="0" r="0" t="0" b="0"/>
          <a:stretch/>
        </p:blipFill>
        <p:spPr>
          <a:xfrm>
            <a:off x="8210550" y="3378200"/>
            <a:ext cx="101600" cy="609600"/>
          </a:xfrm>
          <a:prstGeom prst="rect">
            <a:avLst/>
          </a:prstGeom>
        </p:spPr>
      </p:pic>
      <p:sp>
        <p:nvSpPr>
          <p:cNvPr id="31" name="Text 21"/>
          <p:cNvSpPr/>
          <p:nvPr/>
        </p:nvSpPr>
        <p:spPr>
          <a:xfrm>
            <a:off x="812800" y="5270500"/>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55B"/>
                </a:solidFill>
                <a:latin typeface="IBM Plex Sans" pitchFamily="34" charset="0"/>
                <a:ea typeface="IBM Plex Sans" pitchFamily="34" charset="-122"/>
                <a:cs typeface="IBM Plex Sans" pitchFamily="34" charset="-120"/>
              </a:rPr>
              <a:t>Down arrow = yes, right arrow = no. On the benchmark join, ρ = 3.91 and the hot partition was 11.41 MB against a 16 MB advisory size, so the procedure predicted </a:t>
            </a:r>
            <a:r>
              <a:rPr lang="en-US" sz="1300" b="1" dirty="0">
                <a:solidFill>
                  <a:srgbClr val="44555B"/>
                </a:solidFill>
                <a:latin typeface="IBM Plex Sans" pitchFamily="34" charset="0"/>
                <a:ea typeface="IBM Plex Sans" pitchFamily="34" charset="-122"/>
                <a:cs typeface="IBM Plex Sans" pitchFamily="34" charset="-120"/>
              </a:rPr>
              <a:t>Salt: AQE has nothing to split</a:t>
            </a:r>
            <a:r>
              <a:rPr lang="en-US" sz="1300" dirty="0">
                <a:solidFill>
                  <a:srgbClr val="44555B"/>
                </a:solidFill>
                <a:latin typeface="IBM Plex Sans" pitchFamily="34" charset="0"/>
                <a:ea typeface="IBM Plex Sans" pitchFamily="34" charset="-122"/>
                <a:cs typeface="IBM Plex Sans" pitchFamily="34" charset="-120"/>
              </a:rPr>
              <a:t>. That is what happened.</a:t>
            </a:r>
            <a:endParaRPr lang="en-US" sz="1300" dirty="0"/>
          </a:p>
        </p:txBody>
      </p:sp>
      <p:sp>
        <p:nvSpPr>
          <p:cNvPr id="32" name="Shape 22"/>
          <p:cNvSpPr/>
          <p:nvPr/>
        </p:nvSpPr>
        <p:spPr>
          <a:xfrm>
            <a:off x="0" y="0"/>
            <a:ext cx="12192000" cy="406400"/>
          </a:xfrm>
          <a:prstGeom prst="rect">
            <a:avLst/>
          </a:prstGeom>
          <a:solidFill>
            <a:srgbClr val="1B3139"/>
          </a:solidFill>
          <a:ln/>
        </p:spPr>
      </p:sp>
      <p:sp>
        <p:nvSpPr>
          <p:cNvPr id="33" name="Shape 23"/>
          <p:cNvSpPr/>
          <p:nvPr/>
        </p:nvSpPr>
        <p:spPr>
          <a:xfrm>
            <a:off x="0" y="393700"/>
            <a:ext cx="12192000" cy="0"/>
          </a:xfrm>
          <a:prstGeom prst="line">
            <a:avLst/>
          </a:prstGeom>
          <a:noFill/>
          <a:ln w="25400">
            <a:solidFill>
              <a:srgbClr val="FF3621"/>
            </a:solidFill>
            <a:prstDash val="solid"/>
          </a:ln>
        </p:spPr>
      </p:sp>
      <p:sp>
        <p:nvSpPr>
          <p:cNvPr id="34" name="Text 24"/>
          <p:cNvSpPr/>
          <p:nvPr/>
        </p:nvSpPr>
        <p:spPr>
          <a:xfrm>
            <a:off x="812800" y="8890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9F7F4"/>
                </a:solidFill>
                <a:latin typeface="IBM Plex Sans" pitchFamily="34" charset="0"/>
                <a:ea typeface="IBM Plex Sans" pitchFamily="34" charset="-122"/>
                <a:cs typeface="IBM Plex Sans" pitchFamily="34" charset="-120"/>
              </a:rPr>
              <a:t>skewbench › AQE vs Salting in Apache Spark</a:t>
            </a:r>
            <a:endParaRPr lang="en-US" sz="1200" dirty="0"/>
          </a:p>
        </p:txBody>
      </p:sp>
      <p:sp>
        <p:nvSpPr>
          <p:cNvPr id="35" name="Text 25"/>
          <p:cNvSpPr/>
          <p:nvPr/>
        </p:nvSpPr>
        <p:spPr>
          <a:xfrm>
            <a:off x="8108950" y="8890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4CFD1"/>
                </a:solidFill>
                <a:latin typeface="IBM Plex Sans" pitchFamily="34" charset="0"/>
                <a:ea typeface="IBM Plex Sans" pitchFamily="34" charset="-122"/>
                <a:cs typeface="IBM Plex Sans" pitchFamily="34" charset="-120"/>
              </a:rPr>
              <a:t>Aditya Malviya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8240F"/>
                </a:solidFill>
                <a:latin typeface="IBM Plex Sans" pitchFamily="34" charset="0"/>
                <a:ea typeface="IBM Plex Sans" pitchFamily="34" charset="-122"/>
                <a:cs typeface="IBM Plex Sans" pitchFamily="34" charset="-120"/>
              </a:rPr>
              <a:t>CONTRIBUTION 3 · SKEWBENCH</a:t>
            </a:r>
            <a:endParaRPr lang="en-US" sz="1300" dirty="0"/>
          </a:p>
        </p:txBody>
      </p:sp>
      <p:sp>
        <p:nvSpPr>
          <p:cNvPr id="3" name="Text 1"/>
          <p:cNvSpPr/>
          <p:nvPr>
            <p:ph type="title"/>
          </p:nvPr>
        </p:nvSpPr>
        <p:spPr>
          <a:xfrm>
            <a:off x="812800" y="114553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3139"/>
                </a:solidFill>
                <a:latin typeface="IBM Plex Sans" pitchFamily="34" charset="0"/>
                <a:ea typeface="IBM Plex Sans" pitchFamily="34" charset="-122"/>
                <a:cs typeface="IBM Plex Sans" pitchFamily="34" charset="-120"/>
              </a:rPr>
              <a:t>An open harness measured 45 configurations on one controlled node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72271"/>
          <a:ext cx="10553700" cy="3088084"/>
        </p:xfrm>
        <a:graphic>
          <a:graphicData uri="http://schemas.openxmlformats.org/drawingml/2006/table">
            <a:tbl>
              <a:tblPr/>
              <a:tblGrid>
                <a:gridCol w="2532888"/>
                <a:gridCol w="8020812"/>
              </a:tblGrid>
              <a:tr h="386011">
                <a:tc>
                  <a:txBody>
                    <a:bodyPr/>
                    <a:lstStyle/>
                    <a:p>
                      <a:pPr indent="0" marL="0">
                        <a:lnSpc>
                          <a:spcPts val="1960"/>
                        </a:lnSpc>
                        <a:buNone/>
                      </a:pPr>
                      <a:r>
                        <a:rPr lang="en-US" sz="1400" b="1" dirty="0">
                          <a:solidFill>
                            <a:srgbClr val="1B3139"/>
                          </a:solidFill>
                          <a:latin typeface="IBM Plex Sans" pitchFamily="34" charset="0"/>
                          <a:ea typeface="IBM Plex Sans" pitchFamily="34" charset="-122"/>
                          <a:cs typeface="IBM Plex Sans" pitchFamily="34" charset="-120"/>
                        </a:rPr>
                        <a:t>Part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B9B7B4"/>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9B7B4"/>
                      </a:solidFill>
                      <a:prstDash val="solid"/>
                      <a:round/>
                      <a:headEnd type="none" w="med" len="med"/>
                      <a:tailEnd type="none" w="med" len="med"/>
                    </a:lnB>
                    <a:solidFill>
                      <a:srgbClr val="E7E5E2"/>
                    </a:solidFill>
                  </a:tcPr>
                </a:tc>
                <a:tc>
                  <a:txBody>
                    <a:bodyPr/>
                    <a:lstStyle/>
                    <a:p>
                      <a:pPr indent="0" marL="0">
                        <a:lnSpc>
                          <a:spcPts val="1960"/>
                        </a:lnSpc>
                        <a:buNone/>
                      </a:pPr>
                      <a:r>
                        <a:rPr lang="en-US" sz="1400" b="1" dirty="0">
                          <a:solidFill>
                            <a:srgbClr val="1B3139"/>
                          </a:solidFill>
                          <a:latin typeface="IBM Plex Sans" pitchFamily="34" charset="0"/>
                          <a:ea typeface="IBM Plex Sans" pitchFamily="34" charset="-122"/>
                          <a:cs typeface="IBM Plex Sans" pitchFamily="34" charset="-120"/>
                        </a:rPr>
                        <a:t>Setting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7B4"/>
                      </a:solidFill>
                      <a:prstDash val="solid"/>
                      <a:round/>
                      <a:headEnd type="none" w="med" len="med"/>
                      <a:tailEnd type="none" w="med" len="med"/>
                    </a:lnL>
                    <a:lnR w="12700" cap="flat" cmpd="sng" algn="ctr">
                      <a:solidFill>
                        <a:srgbClr val="B9B7B4"/>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9B7B4"/>
                      </a:solidFill>
                      <a:prstDash val="solid"/>
                      <a:round/>
                      <a:headEnd type="none" w="med" len="med"/>
                      <a:tailEnd type="none" w="med" len="med"/>
                    </a:lnB>
                    <a:solidFill>
                      <a:srgbClr val="E7E5E2"/>
                    </a:solidFill>
                  </a:tcPr>
                </a:tc>
              </a:tr>
              <a:tr h="386011">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Skewed side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9B7B4"/>
                      </a:solidFill>
                      <a:prstDash val="solid"/>
                      <a:round/>
                      <a:headEnd type="none" w="med" len="med"/>
                      <a:tailEnd type="none" w="med" len="med"/>
                    </a:lnT>
                    <a:lnB w="12700" cap="flat" cmpd="sng" algn="ctr">
                      <a:solidFill>
                        <a:srgbClr val="C7C5C3"/>
                      </a:solidFill>
                      <a:prstDash val="solid"/>
                      <a:round/>
                      <a:headEnd type="none" w="med" len="med"/>
                      <a:tailEnd type="none" w="med" len="med"/>
                    </a:lnB>
                  </a:tcPr>
                </a:tc>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2,000,000 engine-telemetry rows (NASA C-MAPSS schema), Zipf-skewed engine IDs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9B7B4"/>
                      </a:solidFill>
                      <a:prstDash val="solid"/>
                      <a:round/>
                      <a:headEnd type="none" w="med" len="med"/>
                      <a:tailEnd type="none" w="med" len="med"/>
                    </a:lnT>
                    <a:lnB w="12700" cap="flat" cmpd="sng" algn="ctr">
                      <a:solidFill>
                        <a:srgbClr val="C7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Probe side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EBDBA"/>
                      </a:solidFill>
                      <a:prstDash val="solid"/>
                      <a:round/>
                      <a:headEnd type="none" w="med" len="med"/>
                      <a:tailEnd type="none" w="med" len="med"/>
                    </a:lnB>
                    <a:solidFill>
                      <a:srgbClr val="EEEDE9"/>
                    </a:solidFill>
                  </a:tcPr>
                </a:tc>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20,000 maintenance rows; the hot key has P = 10, 100 or 320 rows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EBDBA"/>
                      </a:solidFill>
                      <a:prstDash val="solid"/>
                      <a:round/>
                      <a:headEnd type="none" w="med" len="med"/>
                      <a:tailEnd type="none" w="med" len="med"/>
                    </a:lnB>
                    <a:solidFill>
                      <a:srgbClr val="EEEDE9"/>
                    </a:solidFill>
                  </a:tcPr>
                </a:tc>
              </a:tr>
              <a:tr h="386011">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Strategies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tcPr>
                </a:tc>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Baseline · AQE · uniform salting · selective salting · AQE + salting · broadcast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Salt sweep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EBDBA"/>
                      </a:solidFill>
                      <a:prstDash val="solid"/>
                      <a:round/>
                      <a:headEnd type="none" w="med" len="med"/>
                      <a:tailEnd type="none" w="med" len="med"/>
                    </a:lnB>
                    <a:solidFill>
                      <a:srgbClr val="EEEDE9"/>
                    </a:solidFill>
                  </a:tcPr>
                </a:tc>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k = 1, 2, 4, 8, 16, 32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EBDBA"/>
                      </a:solidFill>
                      <a:prstDash val="solid"/>
                      <a:round/>
                      <a:headEnd type="none" w="med" len="med"/>
                      <a:tailEnd type="none" w="med" len="med"/>
                    </a:lnB>
                    <a:solidFill>
                      <a:srgbClr val="EEEDE9"/>
                    </a:solidFill>
                  </a:tcPr>
                </a:tc>
              </a:tr>
              <a:tr h="386011">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Protocol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tcPr>
                </a:tc>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1 warm-up + 5 timed runs per cell, random order, medians reported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Platform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EBDBA"/>
                      </a:solidFill>
                      <a:prstDash val="solid"/>
                      <a:round/>
                      <a:headEnd type="none" w="med" len="med"/>
                      <a:tailEnd type="none" w="med" len="med"/>
                    </a:lnB>
                    <a:solidFill>
                      <a:srgbClr val="EEEDE9"/>
                    </a:solidFill>
                  </a:tcPr>
                </a:tc>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1 node, 2 cores, 4 GB driver, Spark 3.5.3, Java 21, 16 shuffle partitions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EBDBA"/>
                      </a:solidFill>
                      <a:prstDash val="solid"/>
                      <a:round/>
                      <a:headEnd type="none" w="med" len="med"/>
                      <a:tailEnd type="none" w="med" len="med"/>
                    </a:lnB>
                    <a:solidFill>
                      <a:srgbClr val="EEEDE9"/>
                    </a:solidFill>
                  </a:tcPr>
                </a:tc>
              </a:tr>
              <a:tr h="386011">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Metrics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tcPr>
                </a:tc>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Read from the Spark event log: shuffle records and bytes, longest task, wall 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tcPr>
                </a:tc>
              </a:tr>
            </a:tbl>
          </a:graphicData>
        </a:graphic>
      </p:graphicFrame>
      <p:sp>
        <p:nvSpPr>
          <p:cNvPr id="5" name="Shape 2"/>
          <p:cNvSpPr/>
          <p:nvPr/>
        </p:nvSpPr>
        <p:spPr>
          <a:xfrm>
            <a:off x="0" y="0"/>
            <a:ext cx="12192000" cy="406400"/>
          </a:xfrm>
          <a:prstGeom prst="rect">
            <a:avLst/>
          </a:prstGeom>
          <a:solidFill>
            <a:srgbClr val="1B3139"/>
          </a:solidFill>
          <a:ln/>
        </p:spPr>
      </p:sp>
      <p:sp>
        <p:nvSpPr>
          <p:cNvPr id="6" name="Shape 3"/>
          <p:cNvSpPr/>
          <p:nvPr/>
        </p:nvSpPr>
        <p:spPr>
          <a:xfrm>
            <a:off x="0" y="393700"/>
            <a:ext cx="12192000" cy="0"/>
          </a:xfrm>
          <a:prstGeom prst="line">
            <a:avLst/>
          </a:prstGeom>
          <a:noFill/>
          <a:ln w="25400">
            <a:solidFill>
              <a:srgbClr val="FF3621"/>
            </a:solidFill>
            <a:prstDash val="solid"/>
          </a:ln>
        </p:spPr>
      </p:sp>
      <p:sp>
        <p:nvSpPr>
          <p:cNvPr id="7" name="Text 4"/>
          <p:cNvSpPr/>
          <p:nvPr/>
        </p:nvSpPr>
        <p:spPr>
          <a:xfrm>
            <a:off x="812800" y="8890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9F7F4"/>
                </a:solidFill>
                <a:latin typeface="IBM Plex Sans" pitchFamily="34" charset="0"/>
                <a:ea typeface="IBM Plex Sans" pitchFamily="34" charset="-122"/>
                <a:cs typeface="IBM Plex Sans" pitchFamily="34" charset="-120"/>
              </a:rPr>
              <a:t>skewbench › AQE vs Salting in Apache Spark</a:t>
            </a:r>
            <a:endParaRPr lang="en-US" sz="1200" dirty="0"/>
          </a:p>
        </p:txBody>
      </p:sp>
      <p:sp>
        <p:nvSpPr>
          <p:cNvPr id="8" name="Text 5"/>
          <p:cNvSpPr/>
          <p:nvPr/>
        </p:nvSpPr>
        <p:spPr>
          <a:xfrm>
            <a:off x="8108950" y="8890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4CFD1"/>
                </a:solidFill>
                <a:latin typeface="IBM Plex Sans" pitchFamily="34" charset="0"/>
                <a:ea typeface="IBM Plex Sans" pitchFamily="34" charset="-122"/>
                <a:cs typeface="IBM Plex Sans" pitchFamily="34" charset="-120"/>
              </a:rPr>
              <a:t>Aditya Malviya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8240F"/>
                </a:solidFill>
                <a:latin typeface="IBM Plex Sans" pitchFamily="34" charset="0"/>
                <a:ea typeface="IBM Plex Sans" pitchFamily="34" charset="-122"/>
                <a:cs typeface="IBM Plex Sans" pitchFamily="34" charset="-120"/>
              </a:rPr>
              <a:t>FINDING 0 · THE MEASUREMENT FLOOR</a:t>
            </a:r>
            <a:endParaRPr lang="en-US" sz="1300" dirty="0"/>
          </a:p>
        </p:txBody>
      </p:sp>
      <p:sp>
        <p:nvSpPr>
          <p:cNvPr id="3" name="Text 1"/>
          <p:cNvSpPr/>
          <p:nvPr>
            <p:ph type="title"/>
          </p:nvPr>
        </p:nvSpPr>
        <p:spPr>
          <a:xfrm>
            <a:off x="812800" y="114553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3139"/>
                </a:solidFill>
                <a:latin typeface="IBM Plex Sans" pitchFamily="34" charset="0"/>
                <a:ea typeface="IBM Plex Sans" pitchFamily="34" charset="-122"/>
                <a:cs typeface="IBM Plex Sans" pitchFamily="34" charset="-120"/>
              </a:rPr>
              <a:t>Two identical plans set how small a real gain can be</a:t>
            </a:r>
            <a:endParaRPr lang="en-US" sz="3200" dirty="0"/>
          </a:p>
        </p:txBody>
      </p:sp>
      <p:sp>
        <p:nvSpPr>
          <p:cNvPr id="4" name="Text 2"/>
          <p:cNvSpPr/>
          <p:nvPr/>
        </p:nvSpPr>
        <p:spPr>
          <a:xfrm>
            <a:off x="812800" y="1968450"/>
            <a:ext cx="981075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4555B"/>
                </a:solidFill>
                <a:latin typeface="IBM Plex Sans" pitchFamily="34" charset="0"/>
                <a:ea typeface="IBM Plex Sans" pitchFamily="34" charset="-122"/>
                <a:cs typeface="IBM Plex Sans" pitchFamily="34" charset="-120"/>
              </a:rPr>
              <a:t>Selective salting with k = 1 builds exactly the same plan as the baseline. Any gap between them is noise, so any speedup smaller than that gap is not a result.</a:t>
            </a:r>
            <a:endParaRPr lang="en-US" sz="1500" dirty="0"/>
          </a:p>
        </p:txBody>
      </p:sp>
      <p:sp>
        <p:nvSpPr>
          <p:cNvPr id="5" name="Shape 3"/>
          <p:cNvSpPr/>
          <p:nvPr/>
        </p:nvSpPr>
        <p:spPr>
          <a:xfrm>
            <a:off x="815975" y="2879675"/>
            <a:ext cx="3371850" cy="3162350"/>
          </a:xfrm>
          <a:prstGeom prst="roundRect">
            <a:avLst>
              <a:gd name="adj" fmla="val 1506"/>
            </a:avLst>
          </a:prstGeom>
          <a:noFill/>
          <a:ln w="6350">
            <a:solidFill>
              <a:srgbClr val="9AA3AE"/>
            </a:solidFill>
            <a:prstDash val="dash"/>
          </a:ln>
        </p:spPr>
      </p:sp>
      <p:sp>
        <p:nvSpPr>
          <p:cNvPr id="6" name="Text 4"/>
          <p:cNvSpPr/>
          <p:nvPr/>
        </p:nvSpPr>
        <p:spPr>
          <a:xfrm>
            <a:off x="1073150" y="3136850"/>
            <a:ext cx="294322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E73"/>
                </a:solidFill>
                <a:latin typeface="IBM Plex Sans" pitchFamily="34" charset="0"/>
                <a:ea typeface="IBM Plex Sans" pitchFamily="34" charset="-122"/>
                <a:cs typeface="IBM Plex Sans" pitchFamily="34" charset="-120"/>
              </a:rPr>
              <a:t>P = 10 rows · runs under 3 s</a:t>
            </a:r>
            <a:endParaRPr lang="en-US" sz="1300" dirty="0"/>
          </a:p>
        </p:txBody>
      </p:sp>
      <p:sp>
        <p:nvSpPr>
          <p:cNvPr id="7" name="Text 5"/>
          <p:cNvSpPr/>
          <p:nvPr/>
        </p:nvSpPr>
        <p:spPr>
          <a:xfrm>
            <a:off x="1073150" y="3444180"/>
            <a:ext cx="294322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AA3AE"/>
                </a:solidFill>
                <a:latin typeface="IBM Plex Sans" pitchFamily="34" charset="0"/>
                <a:ea typeface="IBM Plex Sans" pitchFamily="34" charset="-122"/>
                <a:cs typeface="IBM Plex Sans" pitchFamily="34" charset="-120"/>
              </a:rPr>
              <a:t>18.3%</a:t>
            </a:r>
            <a:endParaRPr lang="en-US" sz="6000" dirty="0"/>
          </a:p>
        </p:txBody>
      </p:sp>
      <p:sp>
        <p:nvSpPr>
          <p:cNvPr id="8" name="Text 6"/>
          <p:cNvSpPr/>
          <p:nvPr/>
        </p:nvSpPr>
        <p:spPr>
          <a:xfrm>
            <a:off x="1073150" y="4282380"/>
            <a:ext cx="294322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E73"/>
                </a:solidFill>
                <a:latin typeface="IBM Plex Sans" pitchFamily="34" charset="0"/>
                <a:ea typeface="IBM Plex Sans" pitchFamily="34" charset="-122"/>
                <a:cs typeface="IBM Plex Sans" pitchFamily="34" charset="-120"/>
              </a:rPr>
              <a:t>Too noisy. No conclusions drawn here.</a:t>
            </a:r>
            <a:endParaRPr lang="en-US" sz="1400" dirty="0"/>
          </a:p>
        </p:txBody>
      </p:sp>
      <p:sp>
        <p:nvSpPr>
          <p:cNvPr id="9" name="Shape 7"/>
          <p:cNvSpPr/>
          <p:nvPr/>
        </p:nvSpPr>
        <p:spPr>
          <a:xfrm>
            <a:off x="4400550" y="2882850"/>
            <a:ext cx="3378200" cy="3156000"/>
          </a:xfrm>
          <a:prstGeom prst="roundRect">
            <a:avLst>
              <a:gd name="adj" fmla="val 1408"/>
            </a:avLst>
          </a:prstGeom>
          <a:solidFill>
            <a:srgbClr val="FFFFFF"/>
          </a:solidFill>
          <a:ln w="12700">
            <a:solidFill>
              <a:srgbClr val="1B3139"/>
            </a:solidFill>
            <a:prstDash val="solid"/>
          </a:ln>
        </p:spPr>
      </p:sp>
      <p:sp>
        <p:nvSpPr>
          <p:cNvPr id="10" name="Text 8"/>
          <p:cNvSpPr/>
          <p:nvPr/>
        </p:nvSpPr>
        <p:spPr>
          <a:xfrm>
            <a:off x="4660900" y="3143200"/>
            <a:ext cx="294322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55B"/>
                </a:solidFill>
                <a:latin typeface="IBM Plex Sans" pitchFamily="34" charset="0"/>
                <a:ea typeface="IBM Plex Sans" pitchFamily="34" charset="-122"/>
                <a:cs typeface="IBM Plex Sans" pitchFamily="34" charset="-120"/>
              </a:rPr>
              <a:t>P = 100 rows</a:t>
            </a:r>
            <a:endParaRPr lang="en-US" sz="1300" dirty="0"/>
          </a:p>
        </p:txBody>
      </p:sp>
      <p:sp>
        <p:nvSpPr>
          <p:cNvPr id="11" name="Text 9"/>
          <p:cNvSpPr/>
          <p:nvPr/>
        </p:nvSpPr>
        <p:spPr>
          <a:xfrm>
            <a:off x="4660900" y="3450530"/>
            <a:ext cx="294322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B3139"/>
                </a:solidFill>
                <a:latin typeface="IBM Plex Sans" pitchFamily="34" charset="0"/>
                <a:ea typeface="IBM Plex Sans" pitchFamily="34" charset="-122"/>
                <a:cs typeface="IBM Plex Sans" pitchFamily="34" charset="-120"/>
              </a:rPr>
              <a:t>0.1%</a:t>
            </a:r>
            <a:endParaRPr lang="en-US" sz="6000" dirty="0"/>
          </a:p>
        </p:txBody>
      </p:sp>
      <p:sp>
        <p:nvSpPr>
          <p:cNvPr id="12" name="Text 10"/>
          <p:cNvSpPr/>
          <p:nvPr/>
        </p:nvSpPr>
        <p:spPr>
          <a:xfrm>
            <a:off x="4660900" y="4288730"/>
            <a:ext cx="294322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55B"/>
                </a:solidFill>
                <a:latin typeface="IBM Plex Sans" pitchFamily="34" charset="0"/>
                <a:ea typeface="IBM Plex Sans" pitchFamily="34" charset="-122"/>
                <a:cs typeface="IBM Plex Sans" pitchFamily="34" charset="-120"/>
              </a:rPr>
              <a:t>A few percent is a real difference.</a:t>
            </a:r>
            <a:endParaRPr lang="en-US" sz="1400" dirty="0"/>
          </a:p>
        </p:txBody>
      </p:sp>
      <p:sp>
        <p:nvSpPr>
          <p:cNvPr id="13" name="Shape 11"/>
          <p:cNvSpPr/>
          <p:nvPr/>
        </p:nvSpPr>
        <p:spPr>
          <a:xfrm>
            <a:off x="7994650" y="2882850"/>
            <a:ext cx="3378200" cy="3156000"/>
          </a:xfrm>
          <a:prstGeom prst="roundRect">
            <a:avLst>
              <a:gd name="adj" fmla="val 1408"/>
            </a:avLst>
          </a:prstGeom>
          <a:solidFill>
            <a:srgbClr val="FFFFFF"/>
          </a:solidFill>
          <a:ln w="12700">
            <a:solidFill>
              <a:srgbClr val="1B3139"/>
            </a:solidFill>
            <a:prstDash val="solid"/>
          </a:ln>
        </p:spPr>
      </p:sp>
      <p:sp>
        <p:nvSpPr>
          <p:cNvPr id="14" name="Text 12"/>
          <p:cNvSpPr/>
          <p:nvPr/>
        </p:nvSpPr>
        <p:spPr>
          <a:xfrm>
            <a:off x="8255000" y="3143200"/>
            <a:ext cx="294322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55B"/>
                </a:solidFill>
                <a:latin typeface="IBM Plex Sans" pitchFamily="34" charset="0"/>
                <a:ea typeface="IBM Plex Sans" pitchFamily="34" charset="-122"/>
                <a:cs typeface="IBM Plex Sans" pitchFamily="34" charset="-120"/>
              </a:rPr>
              <a:t>P = 320 rows</a:t>
            </a:r>
            <a:endParaRPr lang="en-US" sz="1300" dirty="0"/>
          </a:p>
        </p:txBody>
      </p:sp>
      <p:sp>
        <p:nvSpPr>
          <p:cNvPr id="15" name="Text 13"/>
          <p:cNvSpPr/>
          <p:nvPr/>
        </p:nvSpPr>
        <p:spPr>
          <a:xfrm>
            <a:off x="8255000" y="3450530"/>
            <a:ext cx="294322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B3139"/>
                </a:solidFill>
                <a:latin typeface="IBM Plex Sans" pitchFamily="34" charset="0"/>
                <a:ea typeface="IBM Plex Sans" pitchFamily="34" charset="-122"/>
                <a:cs typeface="IBM Plex Sans" pitchFamily="34" charset="-120"/>
              </a:rPr>
              <a:t>6.5%</a:t>
            </a:r>
            <a:endParaRPr lang="en-US" sz="6000" dirty="0"/>
          </a:p>
        </p:txBody>
      </p:sp>
      <p:sp>
        <p:nvSpPr>
          <p:cNvPr id="16" name="Text 14"/>
          <p:cNvSpPr/>
          <p:nvPr/>
        </p:nvSpPr>
        <p:spPr>
          <a:xfrm>
            <a:off x="8255000" y="4288730"/>
            <a:ext cx="294322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55B"/>
                </a:solidFill>
                <a:latin typeface="IBM Plex Sans" pitchFamily="34" charset="0"/>
                <a:ea typeface="IBM Plex Sans" pitchFamily="34" charset="-122"/>
                <a:cs typeface="IBM Plex Sans" pitchFamily="34" charset="-120"/>
              </a:rPr>
              <a:t>Gains under 6.5% are noise.</a:t>
            </a:r>
            <a:endParaRPr lang="en-US" sz="1400" dirty="0"/>
          </a:p>
        </p:txBody>
      </p:sp>
      <p:sp>
        <p:nvSpPr>
          <p:cNvPr id="17" name="Shape 15"/>
          <p:cNvSpPr/>
          <p:nvPr/>
        </p:nvSpPr>
        <p:spPr>
          <a:xfrm>
            <a:off x="0" y="0"/>
            <a:ext cx="12192000" cy="406400"/>
          </a:xfrm>
          <a:prstGeom prst="rect">
            <a:avLst/>
          </a:prstGeom>
          <a:solidFill>
            <a:srgbClr val="1B3139"/>
          </a:solidFill>
          <a:ln/>
        </p:spPr>
      </p:sp>
      <p:sp>
        <p:nvSpPr>
          <p:cNvPr id="18" name="Shape 16"/>
          <p:cNvSpPr/>
          <p:nvPr/>
        </p:nvSpPr>
        <p:spPr>
          <a:xfrm>
            <a:off x="0" y="393700"/>
            <a:ext cx="12192000" cy="0"/>
          </a:xfrm>
          <a:prstGeom prst="line">
            <a:avLst/>
          </a:prstGeom>
          <a:noFill/>
          <a:ln w="25400">
            <a:solidFill>
              <a:srgbClr val="FF3621"/>
            </a:solidFill>
            <a:prstDash val="solid"/>
          </a:ln>
        </p:spPr>
      </p:sp>
      <p:sp>
        <p:nvSpPr>
          <p:cNvPr id="19" name="Text 17"/>
          <p:cNvSpPr/>
          <p:nvPr/>
        </p:nvSpPr>
        <p:spPr>
          <a:xfrm>
            <a:off x="812800" y="8890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9F7F4"/>
                </a:solidFill>
                <a:latin typeface="IBM Plex Sans" pitchFamily="34" charset="0"/>
                <a:ea typeface="IBM Plex Sans" pitchFamily="34" charset="-122"/>
                <a:cs typeface="IBM Plex Sans" pitchFamily="34" charset="-120"/>
              </a:rPr>
              <a:t>skewbench › AQE vs Salting in Apache Spark</a:t>
            </a:r>
            <a:endParaRPr lang="en-US" sz="1200" dirty="0"/>
          </a:p>
        </p:txBody>
      </p:sp>
      <p:sp>
        <p:nvSpPr>
          <p:cNvPr id="20" name="Text 18"/>
          <p:cNvSpPr/>
          <p:nvPr/>
        </p:nvSpPr>
        <p:spPr>
          <a:xfrm>
            <a:off x="8108950" y="8890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4CFD1"/>
                </a:solidFill>
                <a:latin typeface="IBM Plex Sans" pitchFamily="34" charset="0"/>
                <a:ea typeface="IBM Plex Sans" pitchFamily="34" charset="-122"/>
                <a:cs typeface="IBM Plex Sans" pitchFamily="34" charset="-120"/>
              </a:rPr>
              <a:t>Aditya Malviya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3139"/>
        </a:solidFill>
      </p:bgPr>
    </p:bg>
    <p:spTree>
      <p:nvGrpSpPr>
        <p:cNvPr id="1" name=""/>
        <p:cNvGrpSpPr/>
        <p:nvPr/>
      </p:nvGrpSpPr>
      <p:grpSpPr>
        <a:xfrm>
          <a:off x="0" y="0"/>
          <a:ext cx="0" cy="0"/>
          <a:chOff x="0" y="0"/>
          <a:chExt cx="0" cy="0"/>
        </a:xfrm>
      </p:grpSpPr>
      <p:sp>
        <p:nvSpPr>
          <p:cNvPr id="2" name="Text 0"/>
          <p:cNvSpPr/>
          <p:nvPr/>
        </p:nvSpPr>
        <p:spPr>
          <a:xfrm>
            <a:off x="812800" y="812800"/>
            <a:ext cx="10883392" cy="232966"/>
          </a:xfrm>
          <a:prstGeom prst="rect">
            <a:avLst/>
          </a:prstGeom>
          <a:noFill/>
          <a:ln/>
        </p:spPr>
        <p:txBody>
          <a:bodyPr wrap="square" lIns="0" tIns="0" rIns="0" bIns="0" rtlCol="0" anchor="t">
            <a:normAutofit/>
          </a:bodyPr>
          <a:lstStyle/>
          <a:p>
            <a:pPr algn="l" indent="0" marL="0">
              <a:lnSpc>
                <a:spcPts val="1672"/>
              </a:lnSpc>
              <a:buNone/>
            </a:pPr>
            <a:r>
              <a:rPr lang="en-US" sz="1194" b="1" spc="150" kern="0" dirty="0">
                <a:solidFill>
                  <a:srgbClr val="FF5F46"/>
                </a:solidFill>
                <a:latin typeface="IBM Plex Sans" pitchFamily="34" charset="0"/>
                <a:ea typeface="IBM Plex Sans" pitchFamily="34" charset="-122"/>
                <a:cs typeface="IBM Plex Sans" pitchFamily="34" charset="-120"/>
              </a:rPr>
              <a:t>FINDING 1 · THE CENTRAL RESULT IS A NULL RESULT</a:t>
            </a:r>
            <a:endParaRPr lang="en-US" sz="1194" dirty="0"/>
          </a:p>
        </p:txBody>
      </p:sp>
      <p:sp>
        <p:nvSpPr>
          <p:cNvPr id="3" name="Text 1"/>
          <p:cNvSpPr/>
          <p:nvPr/>
        </p:nvSpPr>
        <p:spPr>
          <a:xfrm>
            <a:off x="812800" y="886420"/>
            <a:ext cx="5284724" cy="3835400"/>
          </a:xfrm>
          <a:prstGeom prst="rect">
            <a:avLst/>
          </a:prstGeom>
          <a:noFill/>
          <a:ln/>
        </p:spPr>
        <p:txBody>
          <a:bodyPr wrap="square" lIns="0" tIns="0" rIns="0" bIns="0" rtlCol="0" anchor="t">
            <a:normAutofit/>
          </a:bodyPr>
          <a:lstStyle/>
          <a:p>
            <a:pPr algn="l" indent="0" marL="0">
              <a:lnSpc>
                <a:spcPts val="15000"/>
              </a:lnSpc>
              <a:buNone/>
            </a:pPr>
            <a:r>
              <a:rPr lang="en-US" sz="15000" b="1" dirty="0">
                <a:solidFill>
                  <a:srgbClr val="F9F7F4"/>
                </a:solidFill>
                <a:latin typeface="IBM Plex Sans" pitchFamily="34" charset="0"/>
                <a:ea typeface="IBM Plex Sans" pitchFamily="34" charset="-122"/>
                <a:cs typeface="IBM Plex Sans" pitchFamily="34" charset="-120"/>
              </a:rPr>
              <a:t>1.02×</a:t>
            </a:r>
            <a:endParaRPr lang="en-US" sz="15000" dirty="0"/>
          </a:p>
        </p:txBody>
      </p:sp>
      <p:sp>
        <p:nvSpPr>
          <p:cNvPr id="4" name="Text 2"/>
          <p:cNvSpPr/>
          <p:nvPr/>
        </p:nvSpPr>
        <p:spPr>
          <a:xfrm>
            <a:off x="6553200" y="3667720"/>
            <a:ext cx="4970780" cy="10541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CFD1"/>
                </a:solidFill>
                <a:latin typeface="IBM Plex Sans" pitchFamily="34" charset="0"/>
                <a:ea typeface="IBM Plex Sans" pitchFamily="34" charset="-122"/>
                <a:cs typeface="IBM Plex Sans" pitchFamily="34" charset="-120"/>
              </a:rPr>
              <a:t>AQE’s speedup at the thickest probe side. That is inside the 6.5% noise floor. At P = 100 it was 1.01×.</a:t>
            </a:r>
            <a:endParaRPr lang="en-US" sz="2000" dirty="0"/>
          </a:p>
        </p:txBody>
      </p:sp>
      <p:pic>
        <p:nvPicPr>
          <p:cNvPr id="5" name="Image 0" descr="line">    </p:cNvPr>
          <p:cNvPicPr>
            <a:picLocks noChangeAspect="1"/>
          </p:cNvPicPr>
          <p:nvPr/>
        </p:nvPicPr>
        <p:blipFill>
          <a:blip r:embed="rId1"/>
          <a:srcRect l="0" r="0" t="0" b="0"/>
          <a:stretch/>
        </p:blipFill>
        <p:spPr>
          <a:xfrm>
            <a:off x="812800" y="4950420"/>
            <a:ext cx="10566400" cy="12700"/>
          </a:xfrm>
          <a:prstGeom prst="rect">
            <a:avLst/>
          </a:prstGeom>
        </p:spPr>
      </p:pic>
      <p:sp>
        <p:nvSpPr>
          <p:cNvPr id="6" name="Text 3"/>
          <p:cNvSpPr/>
          <p:nvPr/>
        </p:nvSpPr>
        <p:spPr>
          <a:xfrm>
            <a:off x="812800" y="5217120"/>
            <a:ext cx="1666518" cy="231577"/>
          </a:xfrm>
          <a:prstGeom prst="rect">
            <a:avLst/>
          </a:prstGeom>
          <a:noFill/>
          <a:ln/>
        </p:spPr>
        <p:txBody>
          <a:bodyPr wrap="square" lIns="0" tIns="0" rIns="0" bIns="0" rtlCol="0" anchor="t">
            <a:normAutofit/>
          </a:bodyPr>
          <a:lstStyle/>
          <a:p>
            <a:pPr algn="l" indent="0" marL="0">
              <a:lnSpc>
                <a:spcPts val="1621"/>
              </a:lnSpc>
              <a:buNone/>
            </a:pPr>
            <a:r>
              <a:rPr lang="en-US" sz="1158" dirty="0">
                <a:solidFill>
                  <a:srgbClr val="C4CFD1"/>
                </a:solidFill>
                <a:latin typeface="IBM Plex Sans" pitchFamily="34" charset="0"/>
                <a:ea typeface="IBM Plex Sans" pitchFamily="34" charset="-122"/>
                <a:cs typeface="IBM Plex Sans" pitchFamily="34" charset="-120"/>
              </a:rPr>
              <a:t>Longest task, no AQE</a:t>
            </a:r>
            <a:endParaRPr lang="en-US" sz="1158" dirty="0"/>
          </a:p>
        </p:txBody>
      </p:sp>
      <p:sp>
        <p:nvSpPr>
          <p:cNvPr id="7" name="Text 4"/>
          <p:cNvSpPr/>
          <p:nvPr/>
        </p:nvSpPr>
        <p:spPr>
          <a:xfrm>
            <a:off x="812800" y="5474097"/>
            <a:ext cx="1439565" cy="596503"/>
          </a:xfrm>
          <a:prstGeom prst="rect">
            <a:avLst/>
          </a:prstGeom>
          <a:noFill/>
          <a:ln/>
        </p:spPr>
        <p:txBody>
          <a:bodyPr wrap="square" lIns="0" tIns="0" rIns="0" bIns="0" rtlCol="0" anchor="t">
            <a:normAutofit/>
          </a:bodyPr>
          <a:lstStyle/>
          <a:p>
            <a:pPr algn="l" indent="0" marL="0">
              <a:lnSpc>
                <a:spcPts val="4520"/>
              </a:lnSpc>
              <a:buNone/>
            </a:pPr>
            <a:r>
              <a:rPr lang="en-US" sz="3229" b="1" dirty="0">
                <a:solidFill>
                  <a:srgbClr val="F9F7F4"/>
                </a:solidFill>
                <a:latin typeface="IBM Plex Sans" pitchFamily="34" charset="0"/>
                <a:ea typeface="IBM Plex Sans" pitchFamily="34" charset="-122"/>
                <a:cs typeface="IBM Plex Sans" pitchFamily="34" charset="-120"/>
              </a:rPr>
              <a:t>17.0 s</a:t>
            </a:r>
            <a:endParaRPr lang="en-US" sz="3229" dirty="0"/>
          </a:p>
        </p:txBody>
      </p:sp>
      <p:sp>
        <p:nvSpPr>
          <p:cNvPr id="8" name="Text 5"/>
          <p:cNvSpPr/>
          <p:nvPr/>
        </p:nvSpPr>
        <p:spPr>
          <a:xfrm>
            <a:off x="2811165" y="5217120"/>
            <a:ext cx="1666518" cy="231577"/>
          </a:xfrm>
          <a:prstGeom prst="rect">
            <a:avLst/>
          </a:prstGeom>
          <a:noFill/>
          <a:ln/>
        </p:spPr>
        <p:txBody>
          <a:bodyPr wrap="square" lIns="0" tIns="0" rIns="0" bIns="0" rtlCol="0" anchor="t">
            <a:normAutofit/>
          </a:bodyPr>
          <a:lstStyle/>
          <a:p>
            <a:pPr algn="l" indent="0" marL="0">
              <a:lnSpc>
                <a:spcPts val="1621"/>
              </a:lnSpc>
              <a:buNone/>
            </a:pPr>
            <a:r>
              <a:rPr lang="en-US" sz="1158" dirty="0">
                <a:solidFill>
                  <a:srgbClr val="C4CFD1"/>
                </a:solidFill>
                <a:latin typeface="IBM Plex Sans" pitchFamily="34" charset="0"/>
                <a:ea typeface="IBM Plex Sans" pitchFamily="34" charset="-122"/>
                <a:cs typeface="IBM Plex Sans" pitchFamily="34" charset="-120"/>
              </a:rPr>
              <a:t>Longest task, AQE on</a:t>
            </a:r>
            <a:endParaRPr lang="en-US" sz="1158" dirty="0"/>
          </a:p>
        </p:txBody>
      </p:sp>
      <p:sp>
        <p:nvSpPr>
          <p:cNvPr id="9" name="Text 6"/>
          <p:cNvSpPr/>
          <p:nvPr/>
        </p:nvSpPr>
        <p:spPr>
          <a:xfrm>
            <a:off x="2811165" y="5474097"/>
            <a:ext cx="1439565" cy="596503"/>
          </a:xfrm>
          <a:prstGeom prst="rect">
            <a:avLst/>
          </a:prstGeom>
          <a:noFill/>
          <a:ln/>
        </p:spPr>
        <p:txBody>
          <a:bodyPr wrap="square" lIns="0" tIns="0" rIns="0" bIns="0" rtlCol="0" anchor="t">
            <a:normAutofit/>
          </a:bodyPr>
          <a:lstStyle/>
          <a:p>
            <a:pPr algn="l" indent="0" marL="0">
              <a:lnSpc>
                <a:spcPts val="4520"/>
              </a:lnSpc>
              <a:buNone/>
            </a:pPr>
            <a:r>
              <a:rPr lang="en-US" sz="3229" b="1" dirty="0">
                <a:solidFill>
                  <a:srgbClr val="50A0E6"/>
                </a:solidFill>
                <a:latin typeface="IBM Plex Sans" pitchFamily="34" charset="0"/>
                <a:ea typeface="IBM Plex Sans" pitchFamily="34" charset="-122"/>
                <a:cs typeface="IBM Plex Sans" pitchFamily="34" charset="-120"/>
              </a:rPr>
              <a:t>17.5 s</a:t>
            </a:r>
            <a:endParaRPr lang="en-US" sz="3229" dirty="0"/>
          </a:p>
        </p:txBody>
      </p:sp>
      <p:sp>
        <p:nvSpPr>
          <p:cNvPr id="10" name="Text 7"/>
          <p:cNvSpPr/>
          <p:nvPr/>
        </p:nvSpPr>
        <p:spPr>
          <a:xfrm>
            <a:off x="4809530" y="5346700"/>
            <a:ext cx="470916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9F7F4"/>
                </a:solidFill>
                <a:latin typeface="IBM Plex Sans" pitchFamily="34" charset="0"/>
                <a:ea typeface="IBM Plex Sans" pitchFamily="34" charset="-122"/>
                <a:cs typeface="IBM Plex Sans" pitchFamily="34" charset="-120"/>
              </a:rPr>
              <a:t>The critical path did not get shorter. At every probe thickness it got slightly longer.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8240F"/>
                </a:solidFill>
                <a:latin typeface="IBM Plex Sans" pitchFamily="34" charset="0"/>
                <a:ea typeface="IBM Plex Sans" pitchFamily="34" charset="-122"/>
                <a:cs typeface="IBM Plex Sans" pitchFamily="34" charset="-120"/>
              </a:rPr>
              <a:t>SPEEDUP OVER THE UNMITIGATED BASELINE</a:t>
            </a:r>
            <a:endParaRPr lang="en-US" sz="1300" dirty="0"/>
          </a:p>
        </p:txBody>
      </p:sp>
      <p:sp>
        <p:nvSpPr>
          <p:cNvPr id="3" name="Text 1"/>
          <p:cNvSpPr/>
          <p:nvPr>
            <p:ph type="title"/>
          </p:nvPr>
        </p:nvSpPr>
        <p:spPr>
          <a:xfrm>
            <a:off x="812800" y="114553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3139"/>
                </a:solidFill>
                <a:latin typeface="IBM Plex Sans" pitchFamily="34" charset="0"/>
                <a:ea typeface="IBM Plex Sans" pitchFamily="34" charset="-122"/>
                <a:cs typeface="IBM Plex Sans" pitchFamily="34" charset="-120"/>
              </a:rPr>
              <a:t>Selective salting reached 1.68×; AQE stayed at 1.0×</a:t>
            </a:r>
            <a:endParaRPr lang="en-US" sz="3200" dirty="0"/>
          </a:p>
        </p:txBody>
      </p:sp>
      <p:sp>
        <p:nvSpPr>
          <p:cNvPr id="4" name="Shape 2"/>
          <p:cNvSpPr/>
          <p:nvPr/>
        </p:nvSpPr>
        <p:spPr>
          <a:xfrm>
            <a:off x="812800" y="1871911"/>
            <a:ext cx="228600" cy="152400"/>
          </a:xfrm>
          <a:prstGeom prst="rect">
            <a:avLst/>
          </a:prstGeom>
          <a:solidFill>
            <a:srgbClr val="9AA3AE">
              <a:alpha val="45000"/>
            </a:srgbClr>
          </a:solidFill>
          <a:ln/>
        </p:spPr>
      </p:sp>
      <p:sp>
        <p:nvSpPr>
          <p:cNvPr id="5" name="Text 3"/>
          <p:cNvSpPr/>
          <p:nvPr/>
        </p:nvSpPr>
        <p:spPr>
          <a:xfrm>
            <a:off x="1295400" y="1841450"/>
            <a:ext cx="21523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5B"/>
                </a:solidFill>
                <a:latin typeface="IBM Plex Sans" pitchFamily="34" charset="0"/>
                <a:ea typeface="IBM Plex Sans" pitchFamily="34" charset="-122"/>
                <a:cs typeface="IBM Plex Sans" pitchFamily="34" charset="-120"/>
              </a:rPr>
              <a:t>P = 100 rows on the hot key</a:t>
            </a:r>
            <a:endParaRPr lang="en-US" sz="1200" dirty="0"/>
          </a:p>
        </p:txBody>
      </p:sp>
      <p:sp>
        <p:nvSpPr>
          <p:cNvPr id="6" name="Shape 4"/>
          <p:cNvSpPr/>
          <p:nvPr/>
        </p:nvSpPr>
        <p:spPr>
          <a:xfrm>
            <a:off x="3447703" y="1871911"/>
            <a:ext cx="228600" cy="152400"/>
          </a:xfrm>
          <a:prstGeom prst="rect">
            <a:avLst/>
          </a:prstGeom>
          <a:solidFill>
            <a:srgbClr val="9AA3AE"/>
          </a:solidFill>
          <a:ln/>
        </p:spPr>
      </p:sp>
      <p:sp>
        <p:nvSpPr>
          <p:cNvPr id="7" name="Text 5"/>
          <p:cNvSpPr/>
          <p:nvPr/>
        </p:nvSpPr>
        <p:spPr>
          <a:xfrm>
            <a:off x="3930303" y="1841450"/>
            <a:ext cx="2277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5B"/>
                </a:solidFill>
                <a:latin typeface="IBM Plex Sans" pitchFamily="34" charset="0"/>
                <a:ea typeface="IBM Plex Sans" pitchFamily="34" charset="-122"/>
                <a:cs typeface="IBM Plex Sans" pitchFamily="34" charset="-120"/>
              </a:rPr>
              <a:t>P = 320 rows on the hot key</a:t>
            </a:r>
            <a:endParaRPr lang="en-US" sz="1200" dirty="0"/>
          </a:p>
        </p:txBody>
      </p:sp>
      <p:sp>
        <p:nvSpPr>
          <p:cNvPr id="8" name="Text 6"/>
          <p:cNvSpPr/>
          <p:nvPr/>
        </p:nvSpPr>
        <p:spPr>
          <a:xfrm>
            <a:off x="812800" y="2355751"/>
            <a:ext cx="23545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8240F"/>
                </a:solidFill>
                <a:latin typeface="IBM Plex Sans" pitchFamily="34" charset="0"/>
                <a:ea typeface="IBM Plex Sans" pitchFamily="34" charset="-122"/>
                <a:cs typeface="IBM Plex Sans" pitchFamily="34" charset="-120"/>
              </a:rPr>
              <a:t>Selective salting</a:t>
            </a:r>
            <a:endParaRPr lang="en-US" sz="1400" dirty="0"/>
          </a:p>
        </p:txBody>
      </p:sp>
      <p:sp>
        <p:nvSpPr>
          <p:cNvPr id="9" name="Shape 7"/>
          <p:cNvSpPr/>
          <p:nvPr/>
        </p:nvSpPr>
        <p:spPr>
          <a:xfrm>
            <a:off x="3251200" y="2283371"/>
            <a:ext cx="4724400" cy="177800"/>
          </a:xfrm>
          <a:prstGeom prst="rect">
            <a:avLst/>
          </a:prstGeom>
          <a:solidFill>
            <a:srgbClr val="FF3621">
              <a:alpha val="45000"/>
            </a:srgbClr>
          </a:solidFill>
          <a:ln/>
        </p:spPr>
      </p:sp>
      <p:sp>
        <p:nvSpPr>
          <p:cNvPr id="10" name="Text 8"/>
          <p:cNvSpPr/>
          <p:nvPr/>
        </p:nvSpPr>
        <p:spPr>
          <a:xfrm>
            <a:off x="8077200" y="2296071"/>
            <a:ext cx="48869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1.34×</a:t>
            </a:r>
            <a:endParaRPr lang="en-US" sz="1200" dirty="0"/>
          </a:p>
        </p:txBody>
      </p:sp>
      <p:sp>
        <p:nvSpPr>
          <p:cNvPr id="11" name="Shape 9"/>
          <p:cNvSpPr/>
          <p:nvPr/>
        </p:nvSpPr>
        <p:spPr>
          <a:xfrm>
            <a:off x="3251200" y="2499271"/>
            <a:ext cx="5924550" cy="177800"/>
          </a:xfrm>
          <a:prstGeom prst="rect">
            <a:avLst/>
          </a:prstGeom>
          <a:solidFill>
            <a:srgbClr val="FF3621"/>
          </a:solidFill>
          <a:ln/>
        </p:spPr>
      </p:sp>
      <p:sp>
        <p:nvSpPr>
          <p:cNvPr id="12" name="Text 10"/>
          <p:cNvSpPr/>
          <p:nvPr/>
        </p:nvSpPr>
        <p:spPr>
          <a:xfrm>
            <a:off x="9277350" y="2511971"/>
            <a:ext cx="493574"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B3139"/>
                </a:solidFill>
                <a:latin typeface="IBM Plex Sans" pitchFamily="34" charset="0"/>
                <a:ea typeface="IBM Plex Sans" pitchFamily="34" charset="-122"/>
                <a:cs typeface="IBM Plex Sans" pitchFamily="34" charset="-120"/>
              </a:rPr>
              <a:t>1.68×</a:t>
            </a:r>
            <a:endParaRPr lang="en-US" sz="1200" dirty="0"/>
          </a:p>
        </p:txBody>
      </p:sp>
      <p:sp>
        <p:nvSpPr>
          <p:cNvPr id="13" name="Text 11"/>
          <p:cNvSpPr/>
          <p:nvPr/>
        </p:nvSpPr>
        <p:spPr>
          <a:xfrm>
            <a:off x="812800" y="2889151"/>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AQE + salting</a:t>
            </a:r>
            <a:endParaRPr lang="en-US" sz="1400" dirty="0"/>
          </a:p>
        </p:txBody>
      </p:sp>
      <p:sp>
        <p:nvSpPr>
          <p:cNvPr id="14" name="Shape 12"/>
          <p:cNvSpPr/>
          <p:nvPr/>
        </p:nvSpPr>
        <p:spPr>
          <a:xfrm>
            <a:off x="3251200" y="2816771"/>
            <a:ext cx="4445000" cy="177800"/>
          </a:xfrm>
          <a:prstGeom prst="rect">
            <a:avLst/>
          </a:prstGeom>
          <a:solidFill>
            <a:srgbClr val="9AA3AE">
              <a:alpha val="45000"/>
            </a:srgbClr>
          </a:solidFill>
          <a:ln/>
        </p:spPr>
      </p:sp>
      <p:sp>
        <p:nvSpPr>
          <p:cNvPr id="15" name="Text 13"/>
          <p:cNvSpPr/>
          <p:nvPr/>
        </p:nvSpPr>
        <p:spPr>
          <a:xfrm>
            <a:off x="7797800" y="2829471"/>
            <a:ext cx="48869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1.26×</a:t>
            </a:r>
            <a:endParaRPr lang="en-US" sz="1200" dirty="0"/>
          </a:p>
        </p:txBody>
      </p:sp>
      <p:sp>
        <p:nvSpPr>
          <p:cNvPr id="16" name="Shape 14"/>
          <p:cNvSpPr/>
          <p:nvPr/>
        </p:nvSpPr>
        <p:spPr>
          <a:xfrm>
            <a:off x="3251200" y="3032671"/>
            <a:ext cx="5645150" cy="177800"/>
          </a:xfrm>
          <a:prstGeom prst="rect">
            <a:avLst/>
          </a:prstGeom>
          <a:solidFill>
            <a:srgbClr val="9AA3AE"/>
          </a:solidFill>
          <a:ln/>
        </p:spPr>
      </p:sp>
      <p:sp>
        <p:nvSpPr>
          <p:cNvPr id="17" name="Text 15"/>
          <p:cNvSpPr/>
          <p:nvPr/>
        </p:nvSpPr>
        <p:spPr>
          <a:xfrm>
            <a:off x="8997950" y="3045371"/>
            <a:ext cx="48869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1.60×</a:t>
            </a:r>
            <a:endParaRPr lang="en-US" sz="1200" dirty="0"/>
          </a:p>
        </p:txBody>
      </p:sp>
      <p:sp>
        <p:nvSpPr>
          <p:cNvPr id="18" name="Text 16"/>
          <p:cNvSpPr/>
          <p:nvPr/>
        </p:nvSpPr>
        <p:spPr>
          <a:xfrm>
            <a:off x="812800" y="3422551"/>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Uniform salting</a:t>
            </a:r>
            <a:endParaRPr lang="en-US" sz="1400" dirty="0"/>
          </a:p>
        </p:txBody>
      </p:sp>
      <p:sp>
        <p:nvSpPr>
          <p:cNvPr id="19" name="Shape 17"/>
          <p:cNvSpPr/>
          <p:nvPr/>
        </p:nvSpPr>
        <p:spPr>
          <a:xfrm>
            <a:off x="3251200" y="3350171"/>
            <a:ext cx="4337050" cy="177800"/>
          </a:xfrm>
          <a:prstGeom prst="rect">
            <a:avLst/>
          </a:prstGeom>
          <a:solidFill>
            <a:srgbClr val="9AA3AE">
              <a:alpha val="45000"/>
            </a:srgbClr>
          </a:solidFill>
          <a:ln/>
        </p:spPr>
      </p:sp>
      <p:sp>
        <p:nvSpPr>
          <p:cNvPr id="20" name="Text 18"/>
          <p:cNvSpPr/>
          <p:nvPr/>
        </p:nvSpPr>
        <p:spPr>
          <a:xfrm>
            <a:off x="7689850" y="3362871"/>
            <a:ext cx="48869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1.23×</a:t>
            </a:r>
            <a:endParaRPr lang="en-US" sz="1200" dirty="0"/>
          </a:p>
        </p:txBody>
      </p:sp>
      <p:sp>
        <p:nvSpPr>
          <p:cNvPr id="21" name="Shape 19"/>
          <p:cNvSpPr/>
          <p:nvPr/>
        </p:nvSpPr>
        <p:spPr>
          <a:xfrm>
            <a:off x="3251200" y="3566071"/>
            <a:ext cx="5607050" cy="177800"/>
          </a:xfrm>
          <a:prstGeom prst="rect">
            <a:avLst/>
          </a:prstGeom>
          <a:solidFill>
            <a:srgbClr val="9AA3AE"/>
          </a:solidFill>
          <a:ln/>
        </p:spPr>
      </p:sp>
      <p:sp>
        <p:nvSpPr>
          <p:cNvPr id="22" name="Text 20"/>
          <p:cNvSpPr/>
          <p:nvPr/>
        </p:nvSpPr>
        <p:spPr>
          <a:xfrm>
            <a:off x="8959850" y="3578771"/>
            <a:ext cx="48869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1.59×</a:t>
            </a:r>
            <a:endParaRPr lang="en-US" sz="1200" dirty="0"/>
          </a:p>
        </p:txBody>
      </p:sp>
      <p:sp>
        <p:nvSpPr>
          <p:cNvPr id="23" name="Text 21"/>
          <p:cNvSpPr/>
          <p:nvPr/>
        </p:nvSpPr>
        <p:spPr>
          <a:xfrm>
            <a:off x="812800" y="3955951"/>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Broadcast join</a:t>
            </a:r>
            <a:endParaRPr lang="en-US" sz="1400" dirty="0"/>
          </a:p>
        </p:txBody>
      </p:sp>
      <p:sp>
        <p:nvSpPr>
          <p:cNvPr id="24" name="Shape 22"/>
          <p:cNvSpPr/>
          <p:nvPr/>
        </p:nvSpPr>
        <p:spPr>
          <a:xfrm>
            <a:off x="3251200" y="3883571"/>
            <a:ext cx="4375150" cy="177800"/>
          </a:xfrm>
          <a:prstGeom prst="rect">
            <a:avLst/>
          </a:prstGeom>
          <a:solidFill>
            <a:srgbClr val="9AA3AE">
              <a:alpha val="45000"/>
            </a:srgbClr>
          </a:solidFill>
          <a:ln/>
        </p:spPr>
      </p:sp>
      <p:sp>
        <p:nvSpPr>
          <p:cNvPr id="25" name="Text 23"/>
          <p:cNvSpPr/>
          <p:nvPr/>
        </p:nvSpPr>
        <p:spPr>
          <a:xfrm>
            <a:off x="7727950" y="3896271"/>
            <a:ext cx="48869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1.24×</a:t>
            </a:r>
            <a:endParaRPr lang="en-US" sz="1200" dirty="0"/>
          </a:p>
        </p:txBody>
      </p:sp>
      <p:sp>
        <p:nvSpPr>
          <p:cNvPr id="26" name="Shape 24"/>
          <p:cNvSpPr/>
          <p:nvPr/>
        </p:nvSpPr>
        <p:spPr>
          <a:xfrm>
            <a:off x="3251200" y="4099471"/>
            <a:ext cx="4940300" cy="177800"/>
          </a:xfrm>
          <a:prstGeom prst="rect">
            <a:avLst/>
          </a:prstGeom>
          <a:solidFill>
            <a:srgbClr val="9AA3AE"/>
          </a:solidFill>
          <a:ln/>
        </p:spPr>
      </p:sp>
      <p:sp>
        <p:nvSpPr>
          <p:cNvPr id="27" name="Text 25"/>
          <p:cNvSpPr/>
          <p:nvPr/>
        </p:nvSpPr>
        <p:spPr>
          <a:xfrm>
            <a:off x="8293100" y="4112171"/>
            <a:ext cx="48869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1.40×</a:t>
            </a:r>
            <a:endParaRPr lang="en-US" sz="1200" dirty="0"/>
          </a:p>
        </p:txBody>
      </p:sp>
      <p:sp>
        <p:nvSpPr>
          <p:cNvPr id="28" name="Text 26"/>
          <p:cNvSpPr/>
          <p:nvPr/>
        </p:nvSpPr>
        <p:spPr>
          <a:xfrm>
            <a:off x="812800" y="4489351"/>
            <a:ext cx="23545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78D4"/>
                </a:solidFill>
                <a:latin typeface="IBM Plex Sans" pitchFamily="34" charset="0"/>
                <a:ea typeface="IBM Plex Sans" pitchFamily="34" charset="-122"/>
                <a:cs typeface="IBM Plex Sans" pitchFamily="34" charset="-120"/>
              </a:rPr>
              <a:t>AQE</a:t>
            </a:r>
            <a:endParaRPr lang="en-US" sz="1400" dirty="0"/>
          </a:p>
        </p:txBody>
      </p:sp>
      <p:sp>
        <p:nvSpPr>
          <p:cNvPr id="29" name="Shape 27"/>
          <p:cNvSpPr/>
          <p:nvPr/>
        </p:nvSpPr>
        <p:spPr>
          <a:xfrm>
            <a:off x="3251200" y="4416971"/>
            <a:ext cx="3562350" cy="177800"/>
          </a:xfrm>
          <a:prstGeom prst="rect">
            <a:avLst/>
          </a:prstGeom>
          <a:solidFill>
            <a:srgbClr val="0078D4">
              <a:alpha val="45000"/>
            </a:srgbClr>
          </a:solidFill>
          <a:ln/>
        </p:spPr>
      </p:sp>
      <p:sp>
        <p:nvSpPr>
          <p:cNvPr id="30" name="Text 28"/>
          <p:cNvSpPr/>
          <p:nvPr/>
        </p:nvSpPr>
        <p:spPr>
          <a:xfrm>
            <a:off x="6915150" y="4429671"/>
            <a:ext cx="48869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1.01×</a:t>
            </a:r>
            <a:endParaRPr lang="en-US" sz="1200" dirty="0"/>
          </a:p>
        </p:txBody>
      </p:sp>
      <p:sp>
        <p:nvSpPr>
          <p:cNvPr id="31" name="Shape 29"/>
          <p:cNvSpPr/>
          <p:nvPr/>
        </p:nvSpPr>
        <p:spPr>
          <a:xfrm>
            <a:off x="3251200" y="4632871"/>
            <a:ext cx="3600450" cy="177800"/>
          </a:xfrm>
          <a:prstGeom prst="rect">
            <a:avLst/>
          </a:prstGeom>
          <a:solidFill>
            <a:srgbClr val="0078D4"/>
          </a:solidFill>
          <a:ln/>
        </p:spPr>
      </p:sp>
      <p:sp>
        <p:nvSpPr>
          <p:cNvPr id="32" name="Text 30"/>
          <p:cNvSpPr/>
          <p:nvPr/>
        </p:nvSpPr>
        <p:spPr>
          <a:xfrm>
            <a:off x="6953250" y="4645571"/>
            <a:ext cx="493574"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B3139"/>
                </a:solidFill>
                <a:latin typeface="IBM Plex Sans" pitchFamily="34" charset="0"/>
                <a:ea typeface="IBM Plex Sans" pitchFamily="34" charset="-122"/>
                <a:cs typeface="IBM Plex Sans" pitchFamily="34" charset="-120"/>
              </a:rPr>
              <a:t>1.02×</a:t>
            </a:r>
            <a:endParaRPr lang="en-US" sz="1200" dirty="0"/>
          </a:p>
        </p:txBody>
      </p:sp>
      <p:sp>
        <p:nvSpPr>
          <p:cNvPr id="33" name="Text 31"/>
          <p:cNvSpPr/>
          <p:nvPr/>
        </p:nvSpPr>
        <p:spPr>
          <a:xfrm>
            <a:off x="812800" y="5022751"/>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E73"/>
                </a:solidFill>
                <a:latin typeface="IBM Plex Sans" pitchFamily="34" charset="0"/>
                <a:ea typeface="IBM Plex Sans" pitchFamily="34" charset="-122"/>
                <a:cs typeface="IBM Plex Sans" pitchFamily="34" charset="-120"/>
              </a:rPr>
              <a:t>Baseline</a:t>
            </a:r>
            <a:endParaRPr lang="en-US" sz="1400" dirty="0"/>
          </a:p>
        </p:txBody>
      </p:sp>
      <p:sp>
        <p:nvSpPr>
          <p:cNvPr id="34" name="Shape 32"/>
          <p:cNvSpPr/>
          <p:nvPr/>
        </p:nvSpPr>
        <p:spPr>
          <a:xfrm>
            <a:off x="3251200" y="4950371"/>
            <a:ext cx="3530600" cy="177800"/>
          </a:xfrm>
          <a:prstGeom prst="rect">
            <a:avLst/>
          </a:prstGeom>
          <a:solidFill>
            <a:srgbClr val="C9CDD3">
              <a:alpha val="60000"/>
            </a:srgbClr>
          </a:solidFill>
          <a:ln/>
        </p:spPr>
      </p:sp>
      <p:sp>
        <p:nvSpPr>
          <p:cNvPr id="35" name="Text 33"/>
          <p:cNvSpPr/>
          <p:nvPr/>
        </p:nvSpPr>
        <p:spPr>
          <a:xfrm>
            <a:off x="6883400" y="4963071"/>
            <a:ext cx="48869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5F6E73"/>
                </a:solidFill>
                <a:latin typeface="IBM Plex Sans" pitchFamily="34" charset="0"/>
                <a:ea typeface="IBM Plex Sans" pitchFamily="34" charset="-122"/>
                <a:cs typeface="IBM Plex Sans" pitchFamily="34" charset="-120"/>
              </a:rPr>
              <a:t>1.00×</a:t>
            </a:r>
            <a:endParaRPr lang="en-US" sz="1200" dirty="0"/>
          </a:p>
        </p:txBody>
      </p:sp>
      <p:sp>
        <p:nvSpPr>
          <p:cNvPr id="36" name="Shape 34"/>
          <p:cNvSpPr/>
          <p:nvPr/>
        </p:nvSpPr>
        <p:spPr>
          <a:xfrm>
            <a:off x="3251200" y="5166271"/>
            <a:ext cx="3530600" cy="177800"/>
          </a:xfrm>
          <a:prstGeom prst="rect">
            <a:avLst/>
          </a:prstGeom>
          <a:solidFill>
            <a:srgbClr val="C9CDD3"/>
          </a:solidFill>
          <a:ln/>
        </p:spPr>
      </p:sp>
      <p:sp>
        <p:nvSpPr>
          <p:cNvPr id="37" name="Text 35"/>
          <p:cNvSpPr/>
          <p:nvPr/>
        </p:nvSpPr>
        <p:spPr>
          <a:xfrm>
            <a:off x="6883400" y="5178971"/>
            <a:ext cx="48869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5F6E73"/>
                </a:solidFill>
                <a:latin typeface="IBM Plex Sans" pitchFamily="34" charset="0"/>
                <a:ea typeface="IBM Plex Sans" pitchFamily="34" charset="-122"/>
                <a:cs typeface="IBM Plex Sans" pitchFamily="34" charset="-120"/>
              </a:rPr>
              <a:t>1.00×</a:t>
            </a:r>
            <a:endParaRPr lang="en-US" sz="1200" dirty="0"/>
          </a:p>
        </p:txBody>
      </p:sp>
      <p:sp>
        <p:nvSpPr>
          <p:cNvPr id="38" name="Text 3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E73"/>
                </a:solidFill>
                <a:latin typeface="IBM Plex Sans" pitchFamily="34" charset="0"/>
                <a:ea typeface="IBM Plex Sans" pitchFamily="34" charset="-122"/>
                <a:cs typeface="IBM Plex Sans" pitchFamily="34" charset="-120"/>
              </a:rPr>
              <a:t>Source: paper, Table I (best configuration per strategy, median of 5 runs). Bars start at zero.</a:t>
            </a:r>
            <a:endParaRPr lang="en-US" sz="1200" dirty="0"/>
          </a:p>
        </p:txBody>
      </p:sp>
      <p:sp>
        <p:nvSpPr>
          <p:cNvPr id="39" name="Shape 37"/>
          <p:cNvSpPr/>
          <p:nvPr/>
        </p:nvSpPr>
        <p:spPr>
          <a:xfrm>
            <a:off x="0" y="0"/>
            <a:ext cx="12192000" cy="406400"/>
          </a:xfrm>
          <a:prstGeom prst="rect">
            <a:avLst/>
          </a:prstGeom>
          <a:solidFill>
            <a:srgbClr val="1B3139"/>
          </a:solidFill>
          <a:ln/>
        </p:spPr>
      </p:sp>
      <p:sp>
        <p:nvSpPr>
          <p:cNvPr id="40" name="Shape 38"/>
          <p:cNvSpPr/>
          <p:nvPr/>
        </p:nvSpPr>
        <p:spPr>
          <a:xfrm>
            <a:off x="0" y="393700"/>
            <a:ext cx="12192000" cy="0"/>
          </a:xfrm>
          <a:prstGeom prst="line">
            <a:avLst/>
          </a:prstGeom>
          <a:noFill/>
          <a:ln w="25400">
            <a:solidFill>
              <a:srgbClr val="FF3621"/>
            </a:solidFill>
            <a:prstDash val="solid"/>
          </a:ln>
        </p:spPr>
      </p:sp>
      <p:sp>
        <p:nvSpPr>
          <p:cNvPr id="41" name="Text 39"/>
          <p:cNvSpPr/>
          <p:nvPr/>
        </p:nvSpPr>
        <p:spPr>
          <a:xfrm>
            <a:off x="812800" y="8890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9F7F4"/>
                </a:solidFill>
                <a:latin typeface="IBM Plex Sans" pitchFamily="34" charset="0"/>
                <a:ea typeface="IBM Plex Sans" pitchFamily="34" charset="-122"/>
                <a:cs typeface="IBM Plex Sans" pitchFamily="34" charset="-120"/>
              </a:rPr>
              <a:t>skewbench › AQE vs Salting in Apache Spark</a:t>
            </a:r>
            <a:endParaRPr lang="en-US" sz="1200" dirty="0"/>
          </a:p>
        </p:txBody>
      </p:sp>
      <p:sp>
        <p:nvSpPr>
          <p:cNvPr id="42" name="Text 40"/>
          <p:cNvSpPr/>
          <p:nvPr/>
        </p:nvSpPr>
        <p:spPr>
          <a:xfrm>
            <a:off x="8108950" y="8890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4CFD1"/>
                </a:solidFill>
                <a:latin typeface="IBM Plex Sans" pitchFamily="34" charset="0"/>
                <a:ea typeface="IBM Plex Sans" pitchFamily="34" charset="-122"/>
                <a:cs typeface="IBM Plex Sans" pitchFamily="34" charset="-120"/>
              </a:rPr>
              <a:t>Aditya Malviya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8240F"/>
                </a:solidFill>
                <a:latin typeface="IBM Plex Sans" pitchFamily="34" charset="0"/>
                <a:ea typeface="IBM Plex Sans" pitchFamily="34" charset="-122"/>
                <a:cs typeface="IBM Plex Sans" pitchFamily="34" charset="-120"/>
              </a:rPr>
              <a:t>LONGEST JOIN-STAGE TASK (THE CRITICAL PATH)</a:t>
            </a:r>
            <a:endParaRPr lang="en-US" sz="1300" dirty="0"/>
          </a:p>
        </p:txBody>
      </p:sp>
      <p:sp>
        <p:nvSpPr>
          <p:cNvPr id="3" name="Text 1"/>
          <p:cNvSpPr/>
          <p:nvPr>
            <p:ph type="title"/>
          </p:nvPr>
        </p:nvSpPr>
        <p:spPr>
          <a:xfrm>
            <a:off x="812800" y="114553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3139"/>
                </a:solidFill>
                <a:latin typeface="IBM Plex Sans" pitchFamily="34" charset="0"/>
                <a:ea typeface="IBM Plex Sans" pitchFamily="34" charset="-122"/>
                <a:cs typeface="IBM Plex Sans" pitchFamily="34" charset="-120"/>
              </a:rPr>
              <a:t>Salting cut the straggler 1.9×; AQE never shortened it</a:t>
            </a:r>
            <a:endParaRPr lang="en-US" sz="3200" dirty="0"/>
          </a:p>
        </p:txBody>
      </p:sp>
      <p:sp>
        <p:nvSpPr>
          <p:cNvPr id="4" name="Shape 2"/>
          <p:cNvSpPr/>
          <p:nvPr/>
        </p:nvSpPr>
        <p:spPr>
          <a:xfrm>
            <a:off x="812800" y="1846511"/>
            <a:ext cx="228600" cy="152400"/>
          </a:xfrm>
          <a:prstGeom prst="rect">
            <a:avLst/>
          </a:prstGeom>
          <a:solidFill>
            <a:srgbClr val="C9CDD3"/>
          </a:solidFill>
          <a:ln/>
        </p:spPr>
      </p:sp>
      <p:sp>
        <p:nvSpPr>
          <p:cNvPr id="5" name="Text 3"/>
          <p:cNvSpPr/>
          <p:nvPr/>
        </p:nvSpPr>
        <p:spPr>
          <a:xfrm>
            <a:off x="1295400" y="1816050"/>
            <a:ext cx="11000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5B"/>
                </a:solidFill>
                <a:latin typeface="IBM Plex Sans" pitchFamily="34" charset="0"/>
                <a:ea typeface="IBM Plex Sans" pitchFamily="34" charset="-122"/>
                <a:cs typeface="IBM Plex Sans" pitchFamily="34" charset="-120"/>
              </a:rPr>
              <a:t>No mitigation</a:t>
            </a:r>
            <a:endParaRPr lang="en-US" sz="1200" dirty="0"/>
          </a:p>
        </p:txBody>
      </p:sp>
      <p:sp>
        <p:nvSpPr>
          <p:cNvPr id="6" name="Shape 4"/>
          <p:cNvSpPr/>
          <p:nvPr/>
        </p:nvSpPr>
        <p:spPr>
          <a:xfrm>
            <a:off x="2466132" y="1846511"/>
            <a:ext cx="228600" cy="152400"/>
          </a:xfrm>
          <a:prstGeom prst="rect">
            <a:avLst/>
          </a:prstGeom>
          <a:solidFill>
            <a:srgbClr val="0078D4"/>
          </a:solidFill>
          <a:ln/>
        </p:spPr>
      </p:sp>
      <p:sp>
        <p:nvSpPr>
          <p:cNvPr id="7" name="Text 5"/>
          <p:cNvSpPr/>
          <p:nvPr/>
        </p:nvSpPr>
        <p:spPr>
          <a:xfrm>
            <a:off x="2948732" y="1816050"/>
            <a:ext cx="6000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5B"/>
                </a:solidFill>
                <a:latin typeface="IBM Plex Sans" pitchFamily="34" charset="0"/>
                <a:ea typeface="IBM Plex Sans" pitchFamily="34" charset="-122"/>
                <a:cs typeface="IBM Plex Sans" pitchFamily="34" charset="-120"/>
              </a:rPr>
              <a:t>AQE on</a:t>
            </a:r>
            <a:endParaRPr lang="en-US" sz="1200" dirty="0"/>
          </a:p>
        </p:txBody>
      </p:sp>
      <p:sp>
        <p:nvSpPr>
          <p:cNvPr id="8" name="Shape 6"/>
          <p:cNvSpPr/>
          <p:nvPr/>
        </p:nvSpPr>
        <p:spPr>
          <a:xfrm>
            <a:off x="3702794" y="1846511"/>
            <a:ext cx="228600" cy="152400"/>
          </a:xfrm>
          <a:prstGeom prst="rect">
            <a:avLst/>
          </a:prstGeom>
          <a:solidFill>
            <a:srgbClr val="FF3621"/>
          </a:solidFill>
          <a:ln/>
        </p:spPr>
      </p:sp>
      <p:sp>
        <p:nvSpPr>
          <p:cNvPr id="9" name="Text 7"/>
          <p:cNvSpPr/>
          <p:nvPr/>
        </p:nvSpPr>
        <p:spPr>
          <a:xfrm>
            <a:off x="4185394" y="1816050"/>
            <a:ext cx="20003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5B"/>
                </a:solidFill>
                <a:latin typeface="IBM Plex Sans" pitchFamily="34" charset="0"/>
                <a:ea typeface="IBM Plex Sans" pitchFamily="34" charset="-122"/>
                <a:cs typeface="IBM Plex Sans" pitchFamily="34" charset="-120"/>
              </a:rPr>
              <a:t>Selective salting (best k)</a:t>
            </a:r>
            <a:endParaRPr lang="en-US" sz="1200" dirty="0"/>
          </a:p>
        </p:txBody>
      </p:sp>
      <p:sp>
        <p:nvSpPr>
          <p:cNvPr id="10" name="Shape 8"/>
          <p:cNvSpPr/>
          <p:nvPr/>
        </p:nvSpPr>
        <p:spPr>
          <a:xfrm>
            <a:off x="812800" y="5401320"/>
            <a:ext cx="10566400" cy="0"/>
          </a:xfrm>
          <a:prstGeom prst="line">
            <a:avLst/>
          </a:prstGeom>
          <a:noFill/>
          <a:ln w="12700">
            <a:solidFill>
              <a:srgbClr val="8A8F98"/>
            </a:solidFill>
            <a:prstDash val="solid"/>
          </a:ln>
        </p:spPr>
      </p:sp>
      <p:sp>
        <p:nvSpPr>
          <p:cNvPr id="11" name="Text 9"/>
          <p:cNvSpPr/>
          <p:nvPr/>
        </p:nvSpPr>
        <p:spPr>
          <a:xfrm>
            <a:off x="1266111" y="5007620"/>
            <a:ext cx="401479"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1.2 s</a:t>
            </a:r>
            <a:endParaRPr lang="en-US" sz="1200" dirty="0"/>
          </a:p>
        </p:txBody>
      </p:sp>
      <p:sp>
        <p:nvSpPr>
          <p:cNvPr id="12" name="Shape 10"/>
          <p:cNvSpPr/>
          <p:nvPr/>
        </p:nvSpPr>
        <p:spPr>
          <a:xfrm>
            <a:off x="1117600" y="5210820"/>
            <a:ext cx="698500" cy="184150"/>
          </a:xfrm>
          <a:prstGeom prst="rect">
            <a:avLst/>
          </a:prstGeom>
          <a:solidFill>
            <a:srgbClr val="C9CDD3"/>
          </a:solidFill>
          <a:ln/>
        </p:spPr>
      </p:sp>
      <p:sp>
        <p:nvSpPr>
          <p:cNvPr id="13" name="Text 11"/>
          <p:cNvSpPr/>
          <p:nvPr/>
        </p:nvSpPr>
        <p:spPr>
          <a:xfrm>
            <a:off x="2066211" y="4912370"/>
            <a:ext cx="401479"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1.8 s</a:t>
            </a:r>
            <a:endParaRPr lang="en-US" sz="1200" dirty="0"/>
          </a:p>
        </p:txBody>
      </p:sp>
      <p:sp>
        <p:nvSpPr>
          <p:cNvPr id="14" name="Shape 12"/>
          <p:cNvSpPr/>
          <p:nvPr/>
        </p:nvSpPr>
        <p:spPr>
          <a:xfrm>
            <a:off x="1917700" y="5115570"/>
            <a:ext cx="698500" cy="279400"/>
          </a:xfrm>
          <a:prstGeom prst="rect">
            <a:avLst/>
          </a:prstGeom>
          <a:solidFill>
            <a:srgbClr val="0078D4"/>
          </a:solidFill>
          <a:ln/>
        </p:spPr>
      </p:sp>
      <p:sp>
        <p:nvSpPr>
          <p:cNvPr id="15" name="Text 13"/>
          <p:cNvSpPr/>
          <p:nvPr/>
        </p:nvSpPr>
        <p:spPr>
          <a:xfrm>
            <a:off x="2866311" y="5064770"/>
            <a:ext cx="401479"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0.8 s</a:t>
            </a:r>
            <a:endParaRPr lang="en-US" sz="1200" dirty="0"/>
          </a:p>
        </p:txBody>
      </p:sp>
      <p:sp>
        <p:nvSpPr>
          <p:cNvPr id="16" name="Shape 14"/>
          <p:cNvSpPr/>
          <p:nvPr/>
        </p:nvSpPr>
        <p:spPr>
          <a:xfrm>
            <a:off x="2717800" y="5267970"/>
            <a:ext cx="698500" cy="127000"/>
          </a:xfrm>
          <a:prstGeom prst="rect">
            <a:avLst/>
          </a:prstGeom>
          <a:solidFill>
            <a:srgbClr val="FF3621"/>
          </a:solidFill>
          <a:ln/>
        </p:spPr>
      </p:sp>
      <p:sp>
        <p:nvSpPr>
          <p:cNvPr id="17" name="Text 15"/>
          <p:cNvSpPr/>
          <p:nvPr/>
        </p:nvSpPr>
        <p:spPr>
          <a:xfrm>
            <a:off x="4174411" y="4321820"/>
            <a:ext cx="401479"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5.6 s</a:t>
            </a:r>
            <a:endParaRPr lang="en-US" sz="1200" dirty="0"/>
          </a:p>
        </p:txBody>
      </p:sp>
      <p:sp>
        <p:nvSpPr>
          <p:cNvPr id="18" name="Shape 16"/>
          <p:cNvSpPr/>
          <p:nvPr/>
        </p:nvSpPr>
        <p:spPr>
          <a:xfrm>
            <a:off x="4025900" y="4525020"/>
            <a:ext cx="698500" cy="869950"/>
          </a:xfrm>
          <a:prstGeom prst="rect">
            <a:avLst/>
          </a:prstGeom>
          <a:solidFill>
            <a:srgbClr val="C9CDD3"/>
          </a:solidFill>
          <a:ln/>
        </p:spPr>
      </p:sp>
      <p:sp>
        <p:nvSpPr>
          <p:cNvPr id="19" name="Text 17"/>
          <p:cNvSpPr/>
          <p:nvPr/>
        </p:nvSpPr>
        <p:spPr>
          <a:xfrm>
            <a:off x="4974511" y="4232920"/>
            <a:ext cx="401479"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6.2 s</a:t>
            </a:r>
            <a:endParaRPr lang="en-US" sz="1200" dirty="0"/>
          </a:p>
        </p:txBody>
      </p:sp>
      <p:sp>
        <p:nvSpPr>
          <p:cNvPr id="20" name="Shape 18"/>
          <p:cNvSpPr/>
          <p:nvPr/>
        </p:nvSpPr>
        <p:spPr>
          <a:xfrm>
            <a:off x="4826000" y="4436120"/>
            <a:ext cx="698500" cy="958850"/>
          </a:xfrm>
          <a:prstGeom prst="rect">
            <a:avLst/>
          </a:prstGeom>
          <a:solidFill>
            <a:srgbClr val="0078D4"/>
          </a:solidFill>
          <a:ln/>
        </p:spPr>
      </p:sp>
      <p:sp>
        <p:nvSpPr>
          <p:cNvPr id="21" name="Text 19"/>
          <p:cNvSpPr/>
          <p:nvPr/>
        </p:nvSpPr>
        <p:spPr>
          <a:xfrm>
            <a:off x="5774611" y="4696470"/>
            <a:ext cx="401479"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3.2 s</a:t>
            </a:r>
            <a:endParaRPr lang="en-US" sz="1200" dirty="0"/>
          </a:p>
        </p:txBody>
      </p:sp>
      <p:sp>
        <p:nvSpPr>
          <p:cNvPr id="22" name="Shape 20"/>
          <p:cNvSpPr/>
          <p:nvPr/>
        </p:nvSpPr>
        <p:spPr>
          <a:xfrm>
            <a:off x="5626100" y="4899670"/>
            <a:ext cx="698500" cy="495300"/>
          </a:xfrm>
          <a:prstGeom prst="rect">
            <a:avLst/>
          </a:prstGeom>
          <a:solidFill>
            <a:srgbClr val="FF3621"/>
          </a:solidFill>
          <a:ln/>
        </p:spPr>
      </p:sp>
      <p:sp>
        <p:nvSpPr>
          <p:cNvPr id="23" name="Text 21"/>
          <p:cNvSpPr/>
          <p:nvPr/>
        </p:nvSpPr>
        <p:spPr>
          <a:xfrm>
            <a:off x="7027828" y="2550170"/>
            <a:ext cx="511195"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17.0 s</a:t>
            </a:r>
            <a:endParaRPr lang="en-US" sz="1200" dirty="0"/>
          </a:p>
        </p:txBody>
      </p:sp>
      <p:sp>
        <p:nvSpPr>
          <p:cNvPr id="24" name="Shape 22"/>
          <p:cNvSpPr/>
          <p:nvPr/>
        </p:nvSpPr>
        <p:spPr>
          <a:xfrm>
            <a:off x="6934200" y="2753370"/>
            <a:ext cx="698500" cy="2641600"/>
          </a:xfrm>
          <a:prstGeom prst="rect">
            <a:avLst/>
          </a:prstGeom>
          <a:solidFill>
            <a:srgbClr val="C9CDD3"/>
          </a:solidFill>
          <a:ln/>
        </p:spPr>
      </p:sp>
      <p:sp>
        <p:nvSpPr>
          <p:cNvPr id="25" name="Text 23"/>
          <p:cNvSpPr/>
          <p:nvPr/>
        </p:nvSpPr>
        <p:spPr>
          <a:xfrm>
            <a:off x="7824410" y="2480320"/>
            <a:ext cx="518279" cy="177800"/>
          </a:xfrm>
          <a:prstGeom prst="rect">
            <a:avLst/>
          </a:prstGeom>
          <a:noFill/>
          <a:ln/>
        </p:spPr>
        <p:txBody>
          <a:bodyPr wrap="square" lIns="0" tIns="0" rIns="0" bIns="0" rtlCol="0" anchor="t">
            <a:normAutofit/>
          </a:bodyPr>
          <a:lstStyle/>
          <a:p>
            <a:pPr algn="ctr" indent="0" marL="0">
              <a:lnSpc>
                <a:spcPts val="1200"/>
              </a:lnSpc>
              <a:buNone/>
            </a:pPr>
            <a:r>
              <a:rPr lang="en-US" sz="1200" b="1" dirty="0">
                <a:solidFill>
                  <a:srgbClr val="0078D4"/>
                </a:solidFill>
                <a:latin typeface="IBM Plex Sans" pitchFamily="34" charset="0"/>
                <a:ea typeface="IBM Plex Sans" pitchFamily="34" charset="-122"/>
                <a:cs typeface="IBM Plex Sans" pitchFamily="34" charset="-120"/>
              </a:rPr>
              <a:t>17.5 s</a:t>
            </a:r>
            <a:endParaRPr lang="en-US" sz="1200" dirty="0"/>
          </a:p>
        </p:txBody>
      </p:sp>
      <p:sp>
        <p:nvSpPr>
          <p:cNvPr id="26" name="Shape 24"/>
          <p:cNvSpPr/>
          <p:nvPr/>
        </p:nvSpPr>
        <p:spPr>
          <a:xfrm>
            <a:off x="7734300" y="2683520"/>
            <a:ext cx="698500" cy="2711450"/>
          </a:xfrm>
          <a:prstGeom prst="rect">
            <a:avLst/>
          </a:prstGeom>
          <a:solidFill>
            <a:srgbClr val="0078D4"/>
          </a:solidFill>
          <a:ln/>
        </p:spPr>
      </p:sp>
      <p:sp>
        <p:nvSpPr>
          <p:cNvPr id="27" name="Text 25"/>
          <p:cNvSpPr/>
          <p:nvPr/>
        </p:nvSpPr>
        <p:spPr>
          <a:xfrm>
            <a:off x="8679344" y="3782070"/>
            <a:ext cx="408563" cy="177800"/>
          </a:xfrm>
          <a:prstGeom prst="rect">
            <a:avLst/>
          </a:prstGeom>
          <a:noFill/>
          <a:ln/>
        </p:spPr>
        <p:txBody>
          <a:bodyPr wrap="square" lIns="0" tIns="0" rIns="0" bIns="0" rtlCol="0" anchor="t">
            <a:normAutofit/>
          </a:bodyPr>
          <a:lstStyle/>
          <a:p>
            <a:pPr algn="ctr" indent="0" marL="0">
              <a:lnSpc>
                <a:spcPts val="1200"/>
              </a:lnSpc>
              <a:buNone/>
            </a:pPr>
            <a:r>
              <a:rPr lang="en-US" sz="1200" b="1" dirty="0">
                <a:solidFill>
                  <a:srgbClr val="C8240F"/>
                </a:solidFill>
                <a:latin typeface="IBM Plex Sans" pitchFamily="34" charset="0"/>
                <a:ea typeface="IBM Plex Sans" pitchFamily="34" charset="-122"/>
                <a:cs typeface="IBM Plex Sans" pitchFamily="34" charset="-120"/>
              </a:rPr>
              <a:t>9.1 s</a:t>
            </a:r>
            <a:endParaRPr lang="en-US" sz="1200" dirty="0"/>
          </a:p>
        </p:txBody>
      </p:sp>
      <p:sp>
        <p:nvSpPr>
          <p:cNvPr id="28" name="Shape 26"/>
          <p:cNvSpPr/>
          <p:nvPr/>
        </p:nvSpPr>
        <p:spPr>
          <a:xfrm>
            <a:off x="8534400" y="3985270"/>
            <a:ext cx="698500" cy="1409700"/>
          </a:xfrm>
          <a:prstGeom prst="rect">
            <a:avLst/>
          </a:prstGeom>
          <a:solidFill>
            <a:srgbClr val="FF3621"/>
          </a:solidFill>
          <a:ln/>
        </p:spPr>
      </p:sp>
      <p:sp>
        <p:nvSpPr>
          <p:cNvPr id="29" name="Text 27"/>
          <p:cNvSpPr/>
          <p:nvPr/>
        </p:nvSpPr>
        <p:spPr>
          <a:xfrm>
            <a:off x="1083120" y="5610870"/>
            <a:ext cx="2367661"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4555B"/>
                </a:solidFill>
                <a:latin typeface="IBM Plex Sans" pitchFamily="34" charset="0"/>
                <a:ea typeface="IBM Plex Sans" pitchFamily="34" charset="-122"/>
                <a:cs typeface="IBM Plex Sans" pitchFamily="34" charset="-120"/>
              </a:rPr>
              <a:t>P = 10 rows</a:t>
            </a:r>
            <a:endParaRPr lang="en-US" sz="1300" dirty="0"/>
          </a:p>
        </p:txBody>
      </p:sp>
      <p:sp>
        <p:nvSpPr>
          <p:cNvPr id="30" name="Text 28"/>
          <p:cNvSpPr/>
          <p:nvPr/>
        </p:nvSpPr>
        <p:spPr>
          <a:xfrm>
            <a:off x="3991420" y="5610870"/>
            <a:ext cx="2367661"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4555B"/>
                </a:solidFill>
                <a:latin typeface="IBM Plex Sans" pitchFamily="34" charset="0"/>
                <a:ea typeface="IBM Plex Sans" pitchFamily="34" charset="-122"/>
                <a:cs typeface="IBM Plex Sans" pitchFamily="34" charset="-120"/>
              </a:rPr>
              <a:t>P = 100 rows</a:t>
            </a:r>
            <a:endParaRPr lang="en-US" sz="1300" dirty="0"/>
          </a:p>
        </p:txBody>
      </p:sp>
      <p:sp>
        <p:nvSpPr>
          <p:cNvPr id="31" name="Text 29"/>
          <p:cNvSpPr/>
          <p:nvPr/>
        </p:nvSpPr>
        <p:spPr>
          <a:xfrm>
            <a:off x="6899719" y="5610870"/>
            <a:ext cx="2367661"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4555B"/>
                </a:solidFill>
                <a:latin typeface="IBM Plex Sans" pitchFamily="34" charset="0"/>
                <a:ea typeface="IBM Plex Sans" pitchFamily="34" charset="-122"/>
                <a:cs typeface="IBM Plex Sans" pitchFamily="34" charset="-120"/>
              </a:rPr>
              <a:t>P = 320 rows</a:t>
            </a:r>
            <a:endParaRPr lang="en-US" sz="1300" dirty="0"/>
          </a:p>
        </p:txBody>
      </p:sp>
      <p:sp>
        <p:nvSpPr>
          <p:cNvPr id="32" name="Text 3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E73"/>
                </a:solidFill>
                <a:latin typeface="IBM Plex Sans" pitchFamily="34" charset="0"/>
                <a:ea typeface="IBM Plex Sans" pitchFamily="34" charset="-122"/>
                <a:cs typeface="IBM Plex Sans" pitchFamily="34" charset="-120"/>
              </a:rPr>
              <a:t>Source: paper, Section VII. Hot-key rows on the probe side shown under each group; P = 10 is inside the noise floor.</a:t>
            </a:r>
            <a:endParaRPr lang="en-US" sz="1200" dirty="0"/>
          </a:p>
        </p:txBody>
      </p:sp>
      <p:sp>
        <p:nvSpPr>
          <p:cNvPr id="33" name="Shape 31"/>
          <p:cNvSpPr/>
          <p:nvPr/>
        </p:nvSpPr>
        <p:spPr>
          <a:xfrm>
            <a:off x="0" y="0"/>
            <a:ext cx="12192000" cy="406400"/>
          </a:xfrm>
          <a:prstGeom prst="rect">
            <a:avLst/>
          </a:prstGeom>
          <a:solidFill>
            <a:srgbClr val="1B3139"/>
          </a:solidFill>
          <a:ln/>
        </p:spPr>
      </p:sp>
      <p:sp>
        <p:nvSpPr>
          <p:cNvPr id="34" name="Shape 32"/>
          <p:cNvSpPr/>
          <p:nvPr/>
        </p:nvSpPr>
        <p:spPr>
          <a:xfrm>
            <a:off x="0" y="393700"/>
            <a:ext cx="12192000" cy="0"/>
          </a:xfrm>
          <a:prstGeom prst="line">
            <a:avLst/>
          </a:prstGeom>
          <a:noFill/>
          <a:ln w="25400">
            <a:solidFill>
              <a:srgbClr val="FF3621"/>
            </a:solidFill>
            <a:prstDash val="solid"/>
          </a:ln>
        </p:spPr>
      </p:sp>
      <p:sp>
        <p:nvSpPr>
          <p:cNvPr id="35" name="Text 33"/>
          <p:cNvSpPr/>
          <p:nvPr/>
        </p:nvSpPr>
        <p:spPr>
          <a:xfrm>
            <a:off x="812800" y="8890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9F7F4"/>
                </a:solidFill>
                <a:latin typeface="IBM Plex Sans" pitchFamily="34" charset="0"/>
                <a:ea typeface="IBM Plex Sans" pitchFamily="34" charset="-122"/>
                <a:cs typeface="IBM Plex Sans" pitchFamily="34" charset="-120"/>
              </a:rPr>
              <a:t>skewbench › AQE vs Salting in Apache Spark</a:t>
            </a:r>
            <a:endParaRPr lang="en-US" sz="1200" dirty="0"/>
          </a:p>
        </p:txBody>
      </p:sp>
      <p:sp>
        <p:nvSpPr>
          <p:cNvPr id="36" name="Text 34"/>
          <p:cNvSpPr/>
          <p:nvPr/>
        </p:nvSpPr>
        <p:spPr>
          <a:xfrm>
            <a:off x="8108950" y="8890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4CFD1"/>
                </a:solidFill>
                <a:latin typeface="IBM Plex Sans" pitchFamily="34" charset="0"/>
                <a:ea typeface="IBM Plex Sans" pitchFamily="34" charset="-122"/>
                <a:cs typeface="IBM Plex Sans" pitchFamily="34" charset="-120"/>
              </a:rPr>
              <a:t>Aditya Malviya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8240F"/>
                </a:solidFill>
                <a:latin typeface="IBM Plex Sans" pitchFamily="34" charset="0"/>
                <a:ea typeface="IBM Plex Sans" pitchFamily="34" charset="-122"/>
                <a:cs typeface="IBM Plex Sans" pitchFamily="34" charset="-120"/>
              </a:rPr>
              <a:t>FINDING 2 · WHY AQE DID NOTHING</a:t>
            </a:r>
            <a:endParaRPr lang="en-US" sz="1300" dirty="0"/>
          </a:p>
        </p:txBody>
      </p:sp>
      <p:sp>
        <p:nvSpPr>
          <p:cNvPr id="3" name="Text 1"/>
          <p:cNvSpPr/>
          <p:nvPr>
            <p:ph type="title"/>
          </p:nvPr>
        </p:nvSpPr>
        <p:spPr>
          <a:xfrm>
            <a:off x="812800" y="1145530"/>
            <a:ext cx="10883392" cy="90170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B3139"/>
                </a:solidFill>
                <a:latin typeface="IBM Plex Sans" pitchFamily="34" charset="0"/>
                <a:ea typeface="IBM Plex Sans" pitchFamily="34" charset="-122"/>
                <a:cs typeface="IBM Plex Sans" pitchFamily="34" charset="-120"/>
              </a:rPr>
              <a:t>The skew-join rule never fired: the hot partition was smaller than the size it splits into</a:t>
            </a:r>
            <a:endParaRPr lang="en-US" sz="3000" dirty="0"/>
          </a:p>
        </p:txBody>
      </p:sp>
      <p:sp>
        <p:nvSpPr>
          <p:cNvPr id="4" name="Text 2"/>
          <p:cNvSpPr/>
          <p:nvPr/>
        </p:nvSpPr>
        <p:spPr>
          <a:xfrm>
            <a:off x="812800" y="2250430"/>
            <a:ext cx="287782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55B"/>
                </a:solidFill>
                <a:latin typeface="IBM Plex Sans" pitchFamily="34" charset="0"/>
                <a:ea typeface="IBM Plex Sans" pitchFamily="34" charset="-122"/>
                <a:cs typeface="IBM Plex Sans" pitchFamily="34" charset="-120"/>
              </a:rPr>
              <a:t>Median shuffle partition</a:t>
            </a:r>
            <a:endParaRPr lang="en-US" sz="1300" dirty="0"/>
          </a:p>
        </p:txBody>
      </p:sp>
      <p:sp>
        <p:nvSpPr>
          <p:cNvPr id="5" name="Shape 3"/>
          <p:cNvSpPr/>
          <p:nvPr/>
        </p:nvSpPr>
        <p:spPr>
          <a:xfrm>
            <a:off x="3759200" y="2270720"/>
            <a:ext cx="533400" cy="190500"/>
          </a:xfrm>
          <a:prstGeom prst="rect">
            <a:avLst/>
          </a:prstGeom>
          <a:solidFill>
            <a:srgbClr val="C9CDD3"/>
          </a:solidFill>
          <a:ln/>
        </p:spPr>
      </p:sp>
      <p:sp>
        <p:nvSpPr>
          <p:cNvPr id="6" name="Text 4"/>
          <p:cNvSpPr/>
          <p:nvPr/>
        </p:nvSpPr>
        <p:spPr>
          <a:xfrm>
            <a:off x="4445000" y="2289770"/>
            <a:ext cx="690027"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B3139"/>
                </a:solidFill>
                <a:latin typeface="IBM Plex Sans" pitchFamily="34" charset="0"/>
                <a:ea typeface="IBM Plex Sans" pitchFamily="34" charset="-122"/>
                <a:cs typeface="IBM Plex Sans" pitchFamily="34" charset="-120"/>
              </a:rPr>
              <a:t>1.35 MB</a:t>
            </a:r>
            <a:endParaRPr lang="en-US" sz="1200" dirty="0"/>
          </a:p>
        </p:txBody>
      </p:sp>
      <p:sp>
        <p:nvSpPr>
          <p:cNvPr id="7" name="Text 5"/>
          <p:cNvSpPr/>
          <p:nvPr/>
        </p:nvSpPr>
        <p:spPr>
          <a:xfrm>
            <a:off x="812800" y="2570460"/>
            <a:ext cx="287782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8240F"/>
                </a:solidFill>
                <a:latin typeface="IBM Plex Sans" pitchFamily="34" charset="0"/>
                <a:ea typeface="IBM Plex Sans" pitchFamily="34" charset="-122"/>
                <a:cs typeface="IBM Plex Sans" pitchFamily="34" charset="-120"/>
              </a:rPr>
              <a:t>Hot shuffle partition</a:t>
            </a:r>
            <a:endParaRPr lang="en-US" sz="1300" dirty="0"/>
          </a:p>
        </p:txBody>
      </p:sp>
      <p:sp>
        <p:nvSpPr>
          <p:cNvPr id="8" name="Shape 6"/>
          <p:cNvSpPr/>
          <p:nvPr/>
        </p:nvSpPr>
        <p:spPr>
          <a:xfrm>
            <a:off x="3759200" y="2590750"/>
            <a:ext cx="4527550" cy="190500"/>
          </a:xfrm>
          <a:prstGeom prst="rect">
            <a:avLst/>
          </a:prstGeom>
          <a:solidFill>
            <a:srgbClr val="FF3621"/>
          </a:solidFill>
          <a:ln/>
        </p:spPr>
      </p:sp>
      <p:sp>
        <p:nvSpPr>
          <p:cNvPr id="9" name="Text 7"/>
          <p:cNvSpPr/>
          <p:nvPr/>
        </p:nvSpPr>
        <p:spPr>
          <a:xfrm>
            <a:off x="8439150" y="2609800"/>
            <a:ext cx="807363"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B3139"/>
                </a:solidFill>
                <a:latin typeface="IBM Plex Sans" pitchFamily="34" charset="0"/>
                <a:ea typeface="IBM Plex Sans" pitchFamily="34" charset="-122"/>
                <a:cs typeface="IBM Plex Sans" pitchFamily="34" charset="-120"/>
              </a:rPr>
              <a:t>11.41 MB</a:t>
            </a:r>
            <a:endParaRPr lang="en-US" sz="1200" dirty="0"/>
          </a:p>
        </p:txBody>
      </p:sp>
      <p:sp>
        <p:nvSpPr>
          <p:cNvPr id="10" name="Text 8"/>
          <p:cNvSpPr/>
          <p:nvPr/>
        </p:nvSpPr>
        <p:spPr>
          <a:xfrm>
            <a:off x="812800" y="2890490"/>
            <a:ext cx="287782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78D4"/>
                </a:solidFill>
                <a:latin typeface="IBM Plex Sans" pitchFamily="34" charset="0"/>
                <a:ea typeface="IBM Plex Sans" pitchFamily="34" charset="-122"/>
                <a:cs typeface="IBM Plex Sans" pitchFamily="34" charset="-120"/>
              </a:rPr>
              <a:t>Advisory split size</a:t>
            </a:r>
            <a:endParaRPr lang="en-US" sz="1300" dirty="0"/>
          </a:p>
        </p:txBody>
      </p:sp>
      <p:sp>
        <p:nvSpPr>
          <p:cNvPr id="11" name="Shape 9"/>
          <p:cNvSpPr/>
          <p:nvPr/>
        </p:nvSpPr>
        <p:spPr>
          <a:xfrm>
            <a:off x="3759200" y="2910780"/>
            <a:ext cx="6350000" cy="190500"/>
          </a:xfrm>
          <a:prstGeom prst="rect">
            <a:avLst/>
          </a:prstGeom>
          <a:solidFill>
            <a:srgbClr val="0078D4"/>
          </a:solidFill>
          <a:ln/>
        </p:spPr>
      </p:sp>
      <p:sp>
        <p:nvSpPr>
          <p:cNvPr id="12" name="Text 10"/>
          <p:cNvSpPr/>
          <p:nvPr/>
        </p:nvSpPr>
        <p:spPr>
          <a:xfrm>
            <a:off x="10261600" y="2929830"/>
            <a:ext cx="533281"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B3139"/>
                </a:solidFill>
                <a:latin typeface="IBM Plex Sans" pitchFamily="34" charset="0"/>
                <a:ea typeface="IBM Plex Sans" pitchFamily="34" charset="-122"/>
                <a:cs typeface="IBM Plex Sans" pitchFamily="34" charset="-120"/>
              </a:rPr>
              <a:t>16 MB</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5500" y="3362920"/>
          <a:ext cx="10553700" cy="1796604"/>
        </p:xfrm>
        <a:graphic>
          <a:graphicData uri="http://schemas.openxmlformats.org/drawingml/2006/table">
            <a:tbl>
              <a:tblPr/>
              <a:tblGrid>
                <a:gridCol w="2110740"/>
                <a:gridCol w="2638425"/>
                <a:gridCol w="2638425"/>
                <a:gridCol w="3166110"/>
              </a:tblGrid>
              <a:tr h="359321">
                <a:tc>
                  <a:txBody>
                    <a:bodyPr/>
                    <a:lstStyle/>
                    <a:p>
                      <a:pPr indent="0" marL="0">
                        <a:lnSpc>
                          <a:spcPts val="1820"/>
                        </a:lnSpc>
                        <a:buNone/>
                      </a:pPr>
                      <a:r>
                        <a:rPr lang="en-US" sz="1300" b="1" dirty="0">
                          <a:solidFill>
                            <a:srgbClr val="1B3139"/>
                          </a:solidFill>
                          <a:latin typeface="IBM Plex Sans" pitchFamily="34" charset="0"/>
                          <a:ea typeface="IBM Plex Sans" pitchFamily="34" charset="-122"/>
                          <a:cs typeface="IBM Plex Sans" pitchFamily="34" charset="-120"/>
                        </a:rPr>
                        <a:t>Partitions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7C5C3"/>
                      </a:solidFill>
                      <a:prstDash val="solid"/>
                      <a:round/>
                      <a:headEnd type="none" w="med" len="med"/>
                      <a:tailEnd type="none" w="med" len="med"/>
                    </a:lnL>
                    <a:lnR w="12700" cap="flat" cmpd="sng" algn="ctr">
                      <a:solidFill>
                        <a:srgbClr val="B9B7B4"/>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9B7B4"/>
                      </a:solidFill>
                      <a:prstDash val="solid"/>
                      <a:round/>
                      <a:headEnd type="none" w="med" len="med"/>
                      <a:tailEnd type="none" w="med" len="med"/>
                    </a:lnB>
                    <a:solidFill>
                      <a:srgbClr val="E7E5E2"/>
                    </a:solidFill>
                  </a:tcPr>
                </a:tc>
                <a:tc>
                  <a:txBody>
                    <a:bodyPr/>
                    <a:lstStyle/>
                    <a:p>
                      <a:pPr indent="0" marL="0">
                        <a:lnSpc>
                          <a:spcPts val="1820"/>
                        </a:lnSpc>
                        <a:buNone/>
                      </a:pPr>
                      <a:r>
                        <a:rPr lang="en-US" sz="1300" b="1" dirty="0">
                          <a:solidFill>
                            <a:srgbClr val="1B3139"/>
                          </a:solidFill>
                          <a:latin typeface="IBM Plex Sans" pitchFamily="34" charset="0"/>
                          <a:ea typeface="IBM Plex Sans" pitchFamily="34" charset="-122"/>
                          <a:cs typeface="IBM Plex Sans" pitchFamily="34" charset="-120"/>
                        </a:rPr>
                        <a:t>Advisory size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7B4"/>
                      </a:solidFill>
                      <a:prstDash val="solid"/>
                      <a:round/>
                      <a:headEnd type="none" w="med" len="med"/>
                      <a:tailEnd type="none" w="med" len="med"/>
                    </a:lnL>
                    <a:lnR w="12700" cap="flat" cmpd="sng" algn="ctr">
                      <a:solidFill>
                        <a:srgbClr val="B9B7B4"/>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9B7B4"/>
                      </a:solidFill>
                      <a:prstDash val="solid"/>
                      <a:round/>
                      <a:headEnd type="none" w="med" len="med"/>
                      <a:tailEnd type="none" w="med" len="med"/>
                    </a:lnB>
                    <a:solidFill>
                      <a:srgbClr val="E7E5E2"/>
                    </a:solidFill>
                  </a:tcPr>
                </a:tc>
                <a:tc>
                  <a:txBody>
                    <a:bodyPr/>
                    <a:lstStyle/>
                    <a:p>
                      <a:pPr indent="0" marL="0">
                        <a:lnSpc>
                          <a:spcPts val="1820"/>
                        </a:lnSpc>
                        <a:buNone/>
                      </a:pPr>
                      <a:r>
                        <a:rPr lang="en-US" sz="1300" b="1" dirty="0">
                          <a:solidFill>
                            <a:srgbClr val="1B3139"/>
                          </a:solidFill>
                          <a:latin typeface="IBM Plex Sans" pitchFamily="34" charset="0"/>
                          <a:ea typeface="IBM Plex Sans" pitchFamily="34" charset="-122"/>
                          <a:cs typeface="IBM Plex Sans" pitchFamily="34" charset="-120"/>
                        </a:rPr>
                        <a:t>Skew threshold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7B4"/>
                      </a:solidFill>
                      <a:prstDash val="solid"/>
                      <a:round/>
                      <a:headEnd type="none" w="med" len="med"/>
                      <a:tailEnd type="none" w="med" len="med"/>
                    </a:lnL>
                    <a:lnR w="12700" cap="flat" cmpd="sng" algn="ctr">
                      <a:solidFill>
                        <a:srgbClr val="B9B7B4"/>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9B7B4"/>
                      </a:solidFill>
                      <a:prstDash val="solid"/>
                      <a:round/>
                      <a:headEnd type="none" w="med" len="med"/>
                      <a:tailEnd type="none" w="med" len="med"/>
                    </a:lnB>
                    <a:solidFill>
                      <a:srgbClr val="E7E5E2"/>
                    </a:solidFill>
                  </a:tcPr>
                </a:tc>
                <a:tc>
                  <a:txBody>
                    <a:bodyPr/>
                    <a:lstStyle/>
                    <a:p>
                      <a:pPr indent="0" marL="0">
                        <a:lnSpc>
                          <a:spcPts val="1820"/>
                        </a:lnSpc>
                        <a:buNone/>
                      </a:pPr>
                      <a:r>
                        <a:rPr lang="en-US" sz="1300" b="1" dirty="0">
                          <a:solidFill>
                            <a:srgbClr val="1B3139"/>
                          </a:solidFill>
                          <a:latin typeface="IBM Plex Sans" pitchFamily="34" charset="0"/>
                          <a:ea typeface="IBM Plex Sans" pitchFamily="34" charset="-122"/>
                          <a:cs typeface="IBM Plex Sans" pitchFamily="34" charset="-120"/>
                        </a:rPr>
                        <a:t>Skew join applied?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7B4"/>
                      </a:solidFill>
                      <a:prstDash val="solid"/>
                      <a:round/>
                      <a:headEnd type="none" w="med" len="med"/>
                      <a:tailEnd type="none" w="med" len="med"/>
                    </a:lnL>
                    <a:lnR w="12700" cap="flat" cmpd="sng" algn="ctr">
                      <a:solidFill>
                        <a:srgbClr val="B9B7B4"/>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9B7B4"/>
                      </a:solidFill>
                      <a:prstDash val="solid"/>
                      <a:round/>
                      <a:headEnd type="none" w="med" len="med"/>
                      <a:tailEnd type="none" w="med" len="med"/>
                    </a:lnB>
                    <a:solidFill>
                      <a:srgbClr val="E7E5E2"/>
                    </a:solidFill>
                  </a:tcPr>
                </a:tc>
              </a:tr>
              <a:tr h="359321">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16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9B7B4"/>
                      </a:solidFill>
                      <a:prstDash val="solid"/>
                      <a:round/>
                      <a:headEnd type="none" w="med" len="med"/>
                      <a:tailEnd type="none" w="med" len="med"/>
                    </a:lnT>
                    <a:lnB w="12700" cap="flat" cmpd="sng" algn="ctr">
                      <a:solidFill>
                        <a:srgbClr val="C7C5C3"/>
                      </a:solidFill>
                      <a:prstDash val="solid"/>
                      <a:round/>
                      <a:headEnd type="none" w="med" len="med"/>
                      <a:tailEnd type="none" w="med" len="med"/>
                    </a:lnB>
                  </a:tcPr>
                </a:tc>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16 MB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9B7B4"/>
                      </a:solidFill>
                      <a:prstDash val="solid"/>
                      <a:round/>
                      <a:headEnd type="none" w="med" len="med"/>
                      <a:tailEnd type="none" w="med" len="med"/>
                    </a:lnT>
                    <a:lnB w="12700" cap="flat" cmpd="sng" algn="ctr">
                      <a:solidFill>
                        <a:srgbClr val="C7C5C3"/>
                      </a:solidFill>
                      <a:prstDash val="solid"/>
                      <a:round/>
                      <a:headEnd type="none" w="med" len="med"/>
                      <a:tailEnd type="none" w="med" len="med"/>
                    </a:lnB>
                  </a:tcPr>
                </a:tc>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8 MB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9B7B4"/>
                      </a:solidFill>
                      <a:prstDash val="solid"/>
                      <a:round/>
                      <a:headEnd type="none" w="med" len="med"/>
                      <a:tailEnd type="none" w="med" len="med"/>
                    </a:lnT>
                    <a:lnB w="12700" cap="flat" cmpd="sng" algn="ctr">
                      <a:solidFill>
                        <a:srgbClr val="C7C5C3"/>
                      </a:solidFill>
                      <a:prstDash val="solid"/>
                      <a:round/>
                      <a:headEnd type="none" w="med" len="med"/>
                      <a:tailEnd type="none" w="med" len="med"/>
                    </a:lnB>
                  </a:tcPr>
                </a:tc>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9B7B4"/>
                      </a:solidFill>
                      <a:prstDash val="solid"/>
                      <a:round/>
                      <a:headEnd type="none" w="med" len="med"/>
                      <a:tailEnd type="none" w="med" len="med"/>
                    </a:lnT>
                    <a:lnB w="12700" cap="flat" cmpd="sng" algn="ctr">
                      <a:solidFill>
                        <a:srgbClr val="C7C5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16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7C5C3"/>
                      </a:solidFill>
                      <a:prstDash val="solid"/>
                      <a:round/>
                      <a:headEnd type="none" w="med" len="med"/>
                      <a:tailEnd type="none" w="med" len="med"/>
                    </a:lnL>
                    <a:lnR w="12700" cap="flat" cmpd="sng" algn="ctr">
                      <a:solidFill>
                        <a:srgbClr val="CBB7B2"/>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CBB7B2"/>
                      </a:solidFill>
                      <a:prstDash val="solid"/>
                      <a:round/>
                      <a:headEnd type="none" w="med" len="med"/>
                      <a:tailEnd type="none" w="med" len="med"/>
                    </a:lnB>
                    <a:solidFill>
                      <a:srgbClr val="FFE5DF"/>
                    </a:solidFill>
                  </a:tcPr>
                </a:tc>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1 MB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B7B2"/>
                      </a:solidFill>
                      <a:prstDash val="solid"/>
                      <a:round/>
                      <a:headEnd type="none" w="med" len="med"/>
                      <a:tailEnd type="none" w="med" len="med"/>
                    </a:lnL>
                    <a:lnR w="12700" cap="flat" cmpd="sng" algn="ctr">
                      <a:solidFill>
                        <a:srgbClr val="CBB7B2"/>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CBB7B2"/>
                      </a:solidFill>
                      <a:prstDash val="solid"/>
                      <a:round/>
                      <a:headEnd type="none" w="med" len="med"/>
                      <a:tailEnd type="none" w="med" len="med"/>
                    </a:lnB>
                    <a:solidFill>
                      <a:srgbClr val="FFE5DF"/>
                    </a:solidFill>
                  </a:tcPr>
                </a:tc>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1 MB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B7B2"/>
                      </a:solidFill>
                      <a:prstDash val="solid"/>
                      <a:round/>
                      <a:headEnd type="none" w="med" len="med"/>
                      <a:tailEnd type="none" w="med" len="med"/>
                    </a:lnL>
                    <a:lnR w="12700" cap="flat" cmpd="sng" algn="ctr">
                      <a:solidFill>
                        <a:srgbClr val="CBB7B2"/>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CBB7B2"/>
                      </a:solidFill>
                      <a:prstDash val="solid"/>
                      <a:round/>
                      <a:headEnd type="none" w="med" len="med"/>
                      <a:tailEnd type="none" w="med" len="med"/>
                    </a:lnB>
                    <a:solidFill>
                      <a:srgbClr val="FFE5DF"/>
                    </a:solidFill>
                  </a:tcPr>
                </a:tc>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B7B2"/>
                      </a:solidFill>
                      <a:prstDash val="solid"/>
                      <a:round/>
                      <a:headEnd type="none" w="med" len="med"/>
                      <a:tailEnd type="none" w="med" len="med"/>
                    </a:lnL>
                    <a:lnR w="12700" cap="flat" cmpd="sng" algn="ctr">
                      <a:solidFill>
                        <a:srgbClr val="CBB7B2"/>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CBB7B2"/>
                      </a:solidFill>
                      <a:prstDash val="solid"/>
                      <a:round/>
                      <a:headEnd type="none" w="med" len="med"/>
                      <a:tailEnd type="none" w="med" len="med"/>
                    </a:lnB>
                    <a:solidFill>
                      <a:srgbClr val="FFE5DF"/>
                    </a:solidFill>
                  </a:tcPr>
                </a:tc>
              </a:tr>
              <a:tr h="359321">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64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7C5C3"/>
                      </a:solidFill>
                      <a:prstDash val="solid"/>
                      <a:round/>
                      <a:headEnd type="none" w="med" len="med"/>
                      <a:tailEnd type="none" w="med" len="med"/>
                    </a:lnL>
                    <a:lnR w="12700" cap="flat" cmpd="sng" algn="ctr">
                      <a:solidFill>
                        <a:srgbClr val="CBB7B2"/>
                      </a:solidFill>
                      <a:prstDash val="solid"/>
                      <a:round/>
                      <a:headEnd type="none" w="med" len="med"/>
                      <a:tailEnd type="none" w="med" len="med"/>
                    </a:lnR>
                    <a:lnT w="12700" cap="flat" cmpd="sng" algn="ctr">
                      <a:solidFill>
                        <a:srgbClr val="CBB7B2"/>
                      </a:solidFill>
                      <a:prstDash val="solid"/>
                      <a:round/>
                      <a:headEnd type="none" w="med" len="med"/>
                      <a:tailEnd type="none" w="med" len="med"/>
                    </a:lnT>
                    <a:lnB w="12700" cap="flat" cmpd="sng" algn="ctr">
                      <a:solidFill>
                        <a:srgbClr val="CBB7B2"/>
                      </a:solidFill>
                      <a:prstDash val="solid"/>
                      <a:round/>
                      <a:headEnd type="none" w="med" len="med"/>
                      <a:tailEnd type="none" w="med" len="med"/>
                    </a:lnB>
                    <a:solidFill>
                      <a:srgbClr val="FFE5DF"/>
                    </a:solidFill>
                  </a:tcPr>
                </a:tc>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1 MB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B7B2"/>
                      </a:solidFill>
                      <a:prstDash val="solid"/>
                      <a:round/>
                      <a:headEnd type="none" w="med" len="med"/>
                      <a:tailEnd type="none" w="med" len="med"/>
                    </a:lnL>
                    <a:lnR w="12700" cap="flat" cmpd="sng" algn="ctr">
                      <a:solidFill>
                        <a:srgbClr val="CBB7B2"/>
                      </a:solidFill>
                      <a:prstDash val="solid"/>
                      <a:round/>
                      <a:headEnd type="none" w="med" len="med"/>
                      <a:tailEnd type="none" w="med" len="med"/>
                    </a:lnR>
                    <a:lnT w="12700" cap="flat" cmpd="sng" algn="ctr">
                      <a:solidFill>
                        <a:srgbClr val="CBB7B2"/>
                      </a:solidFill>
                      <a:prstDash val="solid"/>
                      <a:round/>
                      <a:headEnd type="none" w="med" len="med"/>
                      <a:tailEnd type="none" w="med" len="med"/>
                    </a:lnT>
                    <a:lnB w="12700" cap="flat" cmpd="sng" algn="ctr">
                      <a:solidFill>
                        <a:srgbClr val="CBB7B2"/>
                      </a:solidFill>
                      <a:prstDash val="solid"/>
                      <a:round/>
                      <a:headEnd type="none" w="med" len="med"/>
                      <a:tailEnd type="none" w="med" len="med"/>
                    </a:lnB>
                    <a:solidFill>
                      <a:srgbClr val="FFE5DF"/>
                    </a:solidFill>
                  </a:tcPr>
                </a:tc>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1 MB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B7B2"/>
                      </a:solidFill>
                      <a:prstDash val="solid"/>
                      <a:round/>
                      <a:headEnd type="none" w="med" len="med"/>
                      <a:tailEnd type="none" w="med" len="med"/>
                    </a:lnL>
                    <a:lnR w="12700" cap="flat" cmpd="sng" algn="ctr">
                      <a:solidFill>
                        <a:srgbClr val="CBB7B2"/>
                      </a:solidFill>
                      <a:prstDash val="solid"/>
                      <a:round/>
                      <a:headEnd type="none" w="med" len="med"/>
                      <a:tailEnd type="none" w="med" len="med"/>
                    </a:lnR>
                    <a:lnT w="12700" cap="flat" cmpd="sng" algn="ctr">
                      <a:solidFill>
                        <a:srgbClr val="CBB7B2"/>
                      </a:solidFill>
                      <a:prstDash val="solid"/>
                      <a:round/>
                      <a:headEnd type="none" w="med" len="med"/>
                      <a:tailEnd type="none" w="med" len="med"/>
                    </a:lnT>
                    <a:lnB w="12700" cap="flat" cmpd="sng" algn="ctr">
                      <a:solidFill>
                        <a:srgbClr val="CBB7B2"/>
                      </a:solidFill>
                      <a:prstDash val="solid"/>
                      <a:round/>
                      <a:headEnd type="none" w="med" len="med"/>
                      <a:tailEnd type="none" w="med" len="med"/>
                    </a:lnB>
                    <a:solidFill>
                      <a:srgbClr val="FFE5DF"/>
                    </a:solidFill>
                  </a:tcPr>
                </a:tc>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B7B2"/>
                      </a:solidFill>
                      <a:prstDash val="solid"/>
                      <a:round/>
                      <a:headEnd type="none" w="med" len="med"/>
                      <a:tailEnd type="none" w="med" len="med"/>
                    </a:lnL>
                    <a:lnR w="12700" cap="flat" cmpd="sng" algn="ctr">
                      <a:solidFill>
                        <a:srgbClr val="CBB7B2"/>
                      </a:solidFill>
                      <a:prstDash val="solid"/>
                      <a:round/>
                      <a:headEnd type="none" w="med" len="med"/>
                      <a:tailEnd type="none" w="med" len="med"/>
                    </a:lnR>
                    <a:lnT w="12700" cap="flat" cmpd="sng" algn="ctr">
                      <a:solidFill>
                        <a:srgbClr val="CBB7B2"/>
                      </a:solidFill>
                      <a:prstDash val="solid"/>
                      <a:round/>
                      <a:headEnd type="none" w="med" len="med"/>
                      <a:tailEnd type="none" w="med" len="med"/>
                    </a:lnT>
                    <a:lnB w="12700" cap="flat" cmpd="sng" algn="ctr">
                      <a:solidFill>
                        <a:srgbClr val="CBB7B2"/>
                      </a:solidFill>
                      <a:prstDash val="solid"/>
                      <a:round/>
                      <a:headEnd type="none" w="med" len="med"/>
                      <a:tailEnd type="none" w="med" len="med"/>
                    </a:lnB>
                    <a:solidFill>
                      <a:srgbClr val="FFE5DF"/>
                    </a:solidFill>
                  </a:tcPr>
                </a:tc>
              </a:tr>
              <a:tr h="359321">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200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7C5C3"/>
                      </a:solidFill>
                      <a:prstDash val="solid"/>
                      <a:round/>
                      <a:headEnd type="none" w="med" len="med"/>
                      <a:tailEnd type="none" w="med" len="med"/>
                    </a:lnL>
                    <a:lnR w="12700" cap="flat" cmpd="sng" algn="ctr">
                      <a:solidFill>
                        <a:srgbClr val="CBB7B2"/>
                      </a:solidFill>
                      <a:prstDash val="solid"/>
                      <a:round/>
                      <a:headEnd type="none" w="med" len="med"/>
                      <a:tailEnd type="none" w="med" len="med"/>
                    </a:lnR>
                    <a:lnT w="12700" cap="flat" cmpd="sng" algn="ctr">
                      <a:solidFill>
                        <a:srgbClr val="CBB7B2"/>
                      </a:solidFill>
                      <a:prstDash val="solid"/>
                      <a:round/>
                      <a:headEnd type="none" w="med" len="med"/>
                      <a:tailEnd type="none" w="med" len="med"/>
                    </a:lnT>
                    <a:lnB w="12700" cap="flat" cmpd="sng" algn="ctr">
                      <a:solidFill>
                        <a:srgbClr val="CBB7B2"/>
                      </a:solidFill>
                      <a:prstDash val="solid"/>
                      <a:round/>
                      <a:headEnd type="none" w="med" len="med"/>
                      <a:tailEnd type="none" w="med" len="med"/>
                    </a:lnB>
                    <a:solidFill>
                      <a:srgbClr val="FFE5DF"/>
                    </a:solidFill>
                  </a:tcPr>
                </a:tc>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256 KB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B7B2"/>
                      </a:solidFill>
                      <a:prstDash val="solid"/>
                      <a:round/>
                      <a:headEnd type="none" w="med" len="med"/>
                      <a:tailEnd type="none" w="med" len="med"/>
                    </a:lnL>
                    <a:lnR w="12700" cap="flat" cmpd="sng" algn="ctr">
                      <a:solidFill>
                        <a:srgbClr val="CBB7B2"/>
                      </a:solidFill>
                      <a:prstDash val="solid"/>
                      <a:round/>
                      <a:headEnd type="none" w="med" len="med"/>
                      <a:tailEnd type="none" w="med" len="med"/>
                    </a:lnR>
                    <a:lnT w="12700" cap="flat" cmpd="sng" algn="ctr">
                      <a:solidFill>
                        <a:srgbClr val="CBB7B2"/>
                      </a:solidFill>
                      <a:prstDash val="solid"/>
                      <a:round/>
                      <a:headEnd type="none" w="med" len="med"/>
                      <a:tailEnd type="none" w="med" len="med"/>
                    </a:lnT>
                    <a:lnB w="12700" cap="flat" cmpd="sng" algn="ctr">
                      <a:solidFill>
                        <a:srgbClr val="CBB7B2"/>
                      </a:solidFill>
                      <a:prstDash val="solid"/>
                      <a:round/>
                      <a:headEnd type="none" w="med" len="med"/>
                      <a:tailEnd type="none" w="med" len="med"/>
                    </a:lnB>
                    <a:solidFill>
                      <a:srgbClr val="FFE5DF"/>
                    </a:solidFill>
                  </a:tcPr>
                </a:tc>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256 KB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B7B2"/>
                      </a:solidFill>
                      <a:prstDash val="solid"/>
                      <a:round/>
                      <a:headEnd type="none" w="med" len="med"/>
                      <a:tailEnd type="none" w="med" len="med"/>
                    </a:lnL>
                    <a:lnR w="12700" cap="flat" cmpd="sng" algn="ctr">
                      <a:solidFill>
                        <a:srgbClr val="CBB7B2"/>
                      </a:solidFill>
                      <a:prstDash val="solid"/>
                      <a:round/>
                      <a:headEnd type="none" w="med" len="med"/>
                      <a:tailEnd type="none" w="med" len="med"/>
                    </a:lnR>
                    <a:lnT w="12700" cap="flat" cmpd="sng" algn="ctr">
                      <a:solidFill>
                        <a:srgbClr val="CBB7B2"/>
                      </a:solidFill>
                      <a:prstDash val="solid"/>
                      <a:round/>
                      <a:headEnd type="none" w="med" len="med"/>
                      <a:tailEnd type="none" w="med" len="med"/>
                    </a:lnT>
                    <a:lnB w="12700" cap="flat" cmpd="sng" algn="ctr">
                      <a:solidFill>
                        <a:srgbClr val="CBB7B2"/>
                      </a:solidFill>
                      <a:prstDash val="solid"/>
                      <a:round/>
                      <a:headEnd type="none" w="med" len="med"/>
                      <a:tailEnd type="none" w="med" len="med"/>
                    </a:lnB>
                    <a:solidFill>
                      <a:srgbClr val="FFE5DF"/>
                    </a:solidFill>
                  </a:tcPr>
                </a:tc>
                <a:tc>
                  <a:txBody>
                    <a:bodyPr/>
                    <a:lstStyle/>
                    <a:p>
                      <a:pPr indent="0" marL="0">
                        <a:lnSpc>
                          <a:spcPts val="1820"/>
                        </a:lnSpc>
                        <a:buNone/>
                      </a:pPr>
                      <a:r>
                        <a:rPr lang="en-US" sz="1300" dirty="0">
                          <a:solidFill>
                            <a:srgbClr val="1B3139"/>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B7B2"/>
                      </a:solidFill>
                      <a:prstDash val="solid"/>
                      <a:round/>
                      <a:headEnd type="none" w="med" len="med"/>
                      <a:tailEnd type="none" w="med" len="med"/>
                    </a:lnL>
                    <a:lnR w="12700" cap="flat" cmpd="sng" algn="ctr">
                      <a:solidFill>
                        <a:srgbClr val="CBB7B2"/>
                      </a:solidFill>
                      <a:prstDash val="solid"/>
                      <a:round/>
                      <a:headEnd type="none" w="med" len="med"/>
                      <a:tailEnd type="none" w="med" len="med"/>
                    </a:lnR>
                    <a:lnT w="12700" cap="flat" cmpd="sng" algn="ctr">
                      <a:solidFill>
                        <a:srgbClr val="CBB7B2"/>
                      </a:solidFill>
                      <a:prstDash val="solid"/>
                      <a:round/>
                      <a:headEnd type="none" w="med" len="med"/>
                      <a:tailEnd type="none" w="med" len="med"/>
                    </a:lnT>
                    <a:lnB w="12700" cap="flat" cmpd="sng" algn="ctr">
                      <a:solidFill>
                        <a:srgbClr val="CBB7B2"/>
                      </a:solidFill>
                      <a:prstDash val="solid"/>
                      <a:round/>
                      <a:headEnd type="none" w="med" len="med"/>
                      <a:tailEnd type="none" w="med" len="med"/>
                    </a:lnB>
                    <a:solidFill>
                      <a:srgbClr val="FFE5DF"/>
                    </a:solidFill>
                  </a:tcPr>
                </a:tc>
              </a:tr>
            </a:tbl>
          </a:graphicData>
        </a:graphic>
      </p:graphicFrame>
      <p:sp>
        <p:nvSpPr>
          <p:cNvPr id="14" name="Text 11"/>
          <p:cNvSpPr/>
          <p:nvPr/>
        </p:nvSpPr>
        <p:spPr>
          <a:xfrm>
            <a:off x="812800" y="5388124"/>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55B"/>
                </a:solidFill>
                <a:latin typeface="IBM Plex Sans" pitchFamily="34" charset="0"/>
                <a:ea typeface="IBM Plex Sans" pitchFamily="34" charset="-122"/>
                <a:cs typeface="IBM Plex Sans" pitchFamily="34" charset="-120"/>
              </a:rPr>
              <a:t>Sweeping the two “skew” settings to their loosest (threshold down to 256 KB, factor down to 1) changed nothing. Lowering </a:t>
            </a:r>
            <a:r>
              <a:rPr lang="en-US" sz="1300" b="1" dirty="0">
                <a:solidFill>
                  <a:srgbClr val="44555B"/>
                </a:solidFill>
                <a:latin typeface="IBM Plex Sans" pitchFamily="34" charset="0"/>
                <a:ea typeface="IBM Plex Sans" pitchFamily="34" charset="-122"/>
                <a:cs typeface="IBM Plex Sans" pitchFamily="34" charset="-120"/>
              </a:rPr>
              <a:t>advisoryPartitionSizeInBytes</a:t>
            </a:r>
            <a:r>
              <a:rPr lang="en-US" sz="1300" dirty="0">
                <a:solidFill>
                  <a:srgbClr val="44555B"/>
                </a:solidFill>
                <a:latin typeface="IBM Plex Sans" pitchFamily="34" charset="0"/>
                <a:ea typeface="IBM Plex Sans" pitchFamily="34" charset="-122"/>
                <a:cs typeface="IBM Plex Sans" pitchFamily="34" charset="-120"/>
              </a:rPr>
              <a:t> turned the rule on at once.</a:t>
            </a:r>
            <a:endParaRPr lang="en-US" sz="1300" dirty="0"/>
          </a:p>
        </p:txBody>
      </p:sp>
      <p:sp>
        <p:nvSpPr>
          <p:cNvPr id="15" name="Shape 12"/>
          <p:cNvSpPr/>
          <p:nvPr/>
        </p:nvSpPr>
        <p:spPr>
          <a:xfrm>
            <a:off x="0" y="0"/>
            <a:ext cx="12192000" cy="406400"/>
          </a:xfrm>
          <a:prstGeom prst="rect">
            <a:avLst/>
          </a:prstGeom>
          <a:solidFill>
            <a:srgbClr val="1B3139"/>
          </a:solidFill>
          <a:ln/>
        </p:spPr>
      </p:sp>
      <p:sp>
        <p:nvSpPr>
          <p:cNvPr id="16" name="Shape 13"/>
          <p:cNvSpPr/>
          <p:nvPr/>
        </p:nvSpPr>
        <p:spPr>
          <a:xfrm>
            <a:off x="0" y="393700"/>
            <a:ext cx="12192000" cy="0"/>
          </a:xfrm>
          <a:prstGeom prst="line">
            <a:avLst/>
          </a:prstGeom>
          <a:noFill/>
          <a:ln w="25400">
            <a:solidFill>
              <a:srgbClr val="FF3621"/>
            </a:solidFill>
            <a:prstDash val="solid"/>
          </a:ln>
        </p:spPr>
      </p:sp>
      <p:sp>
        <p:nvSpPr>
          <p:cNvPr id="17" name="Text 14"/>
          <p:cNvSpPr/>
          <p:nvPr/>
        </p:nvSpPr>
        <p:spPr>
          <a:xfrm>
            <a:off x="812800" y="8890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9F7F4"/>
                </a:solidFill>
                <a:latin typeface="IBM Plex Sans" pitchFamily="34" charset="0"/>
                <a:ea typeface="IBM Plex Sans" pitchFamily="34" charset="-122"/>
                <a:cs typeface="IBM Plex Sans" pitchFamily="34" charset="-120"/>
              </a:rPr>
              <a:t>skewbench › AQE vs Salting in Apache Spark</a:t>
            </a:r>
            <a:endParaRPr lang="en-US" sz="1200" dirty="0"/>
          </a:p>
        </p:txBody>
      </p:sp>
      <p:sp>
        <p:nvSpPr>
          <p:cNvPr id="18" name="Text 15"/>
          <p:cNvSpPr/>
          <p:nvPr/>
        </p:nvSpPr>
        <p:spPr>
          <a:xfrm>
            <a:off x="8108950" y="8890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4CFD1"/>
                </a:solidFill>
                <a:latin typeface="IBM Plex Sans" pitchFamily="34" charset="0"/>
                <a:ea typeface="IBM Plex Sans" pitchFamily="34" charset="-122"/>
                <a:cs typeface="IBM Plex Sans" pitchFamily="34" charset="-120"/>
              </a:rPr>
              <a:t>Aditya Malviya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EDE9"/>
        </a:solidFill>
      </p:bgPr>
    </p:bg>
    <p:spTree>
      <p:nvGrpSpPr>
        <p:cNvPr id="1" name=""/>
        <p:cNvGrpSpPr/>
        <p:nvPr/>
      </p:nvGrpSpPr>
      <p:grpSpPr>
        <a:xfrm>
          <a:off x="0" y="0"/>
          <a:ext cx="0" cy="0"/>
          <a:chOff x="0" y="0"/>
          <a:chExt cx="0" cy="0"/>
        </a:xfrm>
      </p:grpSpPr>
      <p:sp>
        <p:nvSpPr>
          <p:cNvPr id="2" name="Text 0"/>
          <p:cNvSpPr/>
          <p:nvPr/>
        </p:nvSpPr>
        <p:spPr>
          <a:xfrm>
            <a:off x="812800" y="812800"/>
            <a:ext cx="10883392" cy="242094"/>
          </a:xfrm>
          <a:prstGeom prst="rect">
            <a:avLst/>
          </a:prstGeom>
          <a:noFill/>
          <a:ln/>
        </p:spPr>
        <p:txBody>
          <a:bodyPr wrap="square" lIns="0" tIns="0" rIns="0" bIns="0" rtlCol="0" anchor="t">
            <a:normAutofit/>
          </a:bodyPr>
          <a:lstStyle/>
          <a:p>
            <a:pPr algn="l" indent="0" marL="0">
              <a:lnSpc>
                <a:spcPts val="1723"/>
              </a:lnSpc>
              <a:buNone/>
            </a:pPr>
            <a:r>
              <a:rPr lang="en-US" sz="1231" b="1" spc="150" kern="0" dirty="0">
                <a:solidFill>
                  <a:srgbClr val="C8240F"/>
                </a:solidFill>
                <a:latin typeface="IBM Plex Sans" pitchFamily="34" charset="0"/>
                <a:ea typeface="IBM Plex Sans" pitchFamily="34" charset="-122"/>
                <a:cs typeface="IBM Plex Sans" pitchFamily="34" charset="-120"/>
              </a:rPr>
              <a:t>FINDING 3 · WHAT AQE ACTUALLY DID</a:t>
            </a:r>
            <a:endParaRPr lang="en-US" sz="1231" dirty="0"/>
          </a:p>
        </p:txBody>
      </p:sp>
      <p:sp>
        <p:nvSpPr>
          <p:cNvPr id="3" name="Text 1"/>
          <p:cNvSpPr/>
          <p:nvPr>
            <p:ph type="title"/>
          </p:nvPr>
        </p:nvSpPr>
        <p:spPr>
          <a:xfrm>
            <a:off x="812800" y="1131094"/>
            <a:ext cx="10883392" cy="901948"/>
          </a:xfrm>
          <a:prstGeom prst="rect">
            <a:avLst/>
          </a:prstGeom>
          <a:noFill/>
          <a:ln/>
        </p:spPr>
        <p:txBody>
          <a:bodyPr wrap="square" lIns="0" tIns="0" rIns="0" bIns="0" rtlCol="0" anchor="t">
            <a:normAutofit/>
          </a:bodyPr>
          <a:lstStyle/>
          <a:p>
            <a:pPr algn="l" indent="0" marL="0">
              <a:lnSpc>
                <a:spcPts val="3462"/>
              </a:lnSpc>
              <a:buNone/>
            </a:pPr>
            <a:r>
              <a:rPr lang="en-US" sz="3010" b="1" i="0" dirty="0">
                <a:solidFill>
                  <a:srgbClr val="1B3139"/>
                </a:solidFill>
                <a:latin typeface="IBM Plex Sans" pitchFamily="34" charset="0"/>
                <a:ea typeface="IBM Plex Sans" pitchFamily="34" charset="-122"/>
                <a:cs typeface="IBM Plex Sans" pitchFamily="34" charset="-120"/>
              </a:rPr>
              <a:t>AQE’s small gain came from merging partitions, not from skew handling</a:t>
            </a:r>
            <a:endParaRPr lang="en-US" sz="3010" dirty="0"/>
          </a:p>
        </p:txBody>
      </p:sp>
      <p:sp>
        <p:nvSpPr>
          <p:cNvPr id="4" name="Shape 2"/>
          <p:cNvSpPr/>
          <p:nvPr/>
        </p:nvSpPr>
        <p:spPr>
          <a:xfrm>
            <a:off x="812800" y="2312442"/>
            <a:ext cx="2794000" cy="3083520"/>
          </a:xfrm>
          <a:prstGeom prst="roundRect">
            <a:avLst>
              <a:gd name="adj" fmla="val 1818"/>
            </a:avLst>
          </a:prstGeom>
          <a:solidFill>
            <a:srgbClr val="1B3139"/>
          </a:solidFill>
          <a:ln/>
        </p:spPr>
      </p:sp>
      <p:sp>
        <p:nvSpPr>
          <p:cNvPr id="5" name="Text 3"/>
          <p:cNvSpPr/>
          <p:nvPr/>
        </p:nvSpPr>
        <p:spPr>
          <a:xfrm>
            <a:off x="1117600" y="2617242"/>
            <a:ext cx="224993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FD1"/>
                </a:solidFill>
                <a:latin typeface="IBM Plex Sans" pitchFamily="34" charset="0"/>
                <a:ea typeface="IBM Plex Sans" pitchFamily="34" charset="-122"/>
                <a:cs typeface="IBM Plex Sans" pitchFamily="34" charset="-120"/>
              </a:rPr>
              <a:t>Join-stage tasks</a:t>
            </a:r>
            <a:endParaRPr lang="en-US" sz="1300" dirty="0"/>
          </a:p>
        </p:txBody>
      </p:sp>
      <p:sp>
        <p:nvSpPr>
          <p:cNvPr id="6" name="Text 4"/>
          <p:cNvSpPr/>
          <p:nvPr/>
        </p:nvSpPr>
        <p:spPr>
          <a:xfrm>
            <a:off x="1117600" y="2924572"/>
            <a:ext cx="2249932" cy="1422400"/>
          </a:xfrm>
          <a:prstGeom prst="rect">
            <a:avLst/>
          </a:prstGeom>
          <a:noFill/>
          <a:ln/>
        </p:spPr>
        <p:txBody>
          <a:bodyPr wrap="square" lIns="0" tIns="0" rIns="0" bIns="0" rtlCol="0" anchor="t">
            <a:normAutofit/>
          </a:bodyPr>
          <a:lstStyle/>
          <a:p>
            <a:pPr algn="l" indent="0" marL="0">
              <a:lnSpc>
                <a:spcPts val="5500"/>
              </a:lnSpc>
              <a:buNone/>
            </a:pPr>
            <a:r>
              <a:rPr lang="en-US" sz="5500" b="1" dirty="0">
                <a:solidFill>
                  <a:srgbClr val="F9F7F4"/>
                </a:solidFill>
                <a:latin typeface="IBM Plex Sans" pitchFamily="34" charset="0"/>
                <a:ea typeface="IBM Plex Sans" pitchFamily="34" charset="-122"/>
                <a:cs typeface="IBM Plex Sans" pitchFamily="34" charset="-120"/>
              </a:rPr>
              <a:t>16 → 3</a:t>
            </a:r>
            <a:endParaRPr lang="en-US" sz="5500" dirty="0"/>
          </a:p>
        </p:txBody>
      </p:sp>
      <p:sp>
        <p:nvSpPr>
          <p:cNvPr id="7" name="Text 5"/>
          <p:cNvSpPr/>
          <p:nvPr/>
        </p:nvSpPr>
        <p:spPr>
          <a:xfrm>
            <a:off x="1117600" y="4397772"/>
            <a:ext cx="224993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FD1"/>
                </a:solidFill>
                <a:latin typeface="IBM Plex Sans" pitchFamily="34" charset="0"/>
                <a:ea typeface="IBM Plex Sans" pitchFamily="34" charset="-122"/>
                <a:cs typeface="IBM Plex Sans" pitchFamily="34" charset="-120"/>
              </a:rPr>
              <a:t>Coalescing merged small partitions. The straggler stayed.</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025900" y="2325142"/>
          <a:ext cx="7353300" cy="1792932"/>
        </p:xfrm>
        <a:graphic>
          <a:graphicData uri="http://schemas.openxmlformats.org/drawingml/2006/table">
            <a:tbl>
              <a:tblPr/>
              <a:tblGrid>
                <a:gridCol w="2500122"/>
                <a:gridCol w="1617726"/>
                <a:gridCol w="1617726"/>
                <a:gridCol w="1617726"/>
              </a:tblGrid>
              <a:tr h="634901">
                <a:tc>
                  <a:txBody>
                    <a:bodyPr/>
                    <a:lstStyle/>
                    <a:p>
                      <a:pPr indent="0" marL="0">
                        <a:lnSpc>
                          <a:spcPts val="1960"/>
                        </a:lnSpc>
                        <a:buNone/>
                      </a:pPr>
                      <a:r>
                        <a:rPr lang="en-US" sz="1400" b="1" dirty="0">
                          <a:solidFill>
                            <a:srgbClr val="1B3139"/>
                          </a:solidFill>
                          <a:latin typeface="IBM Plex Sans" pitchFamily="34" charset="0"/>
                          <a:ea typeface="IBM Plex Sans" pitchFamily="34" charset="-122"/>
                          <a:cs typeface="IBM Plex Sans" pitchFamily="34" charset="-120"/>
                        </a:rPr>
                        <a:t>Run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1B0AD"/>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B1B0AD"/>
                      </a:solidFill>
                      <a:prstDash val="solid"/>
                      <a:round/>
                      <a:headEnd type="none" w="med" len="med"/>
                      <a:tailEnd type="none" w="med" len="med"/>
                    </a:lnB>
                    <a:solidFill>
                      <a:srgbClr val="DDDCD8"/>
                    </a:solidFill>
                  </a:tcPr>
                </a:tc>
                <a:tc>
                  <a:txBody>
                    <a:bodyPr/>
                    <a:lstStyle/>
                    <a:p>
                      <a:pPr algn="r" indent="0" marL="0">
                        <a:lnSpc>
                          <a:spcPts val="1960"/>
                        </a:lnSpc>
                        <a:buNone/>
                      </a:pPr>
                      <a:r>
                        <a:rPr lang="en-US" sz="1400" b="1" dirty="0">
                          <a:solidFill>
                            <a:srgbClr val="1B3139"/>
                          </a:solidFill>
                          <a:latin typeface="IBM Plex Sans" pitchFamily="34" charset="0"/>
                          <a:ea typeface="IBM Plex Sans" pitchFamily="34" charset="-122"/>
                          <a:cs typeface="IBM Plex Sans" pitchFamily="34" charset="-120"/>
                        </a:rPr>
                        <a:t>Wall, P = 100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0AD"/>
                      </a:solidFill>
                      <a:prstDash val="solid"/>
                      <a:round/>
                      <a:headEnd type="none" w="med" len="med"/>
                      <a:tailEnd type="none" w="med" len="med"/>
                    </a:lnL>
                    <a:lnR w="12700" cap="flat" cmpd="sng" algn="ctr">
                      <a:solidFill>
                        <a:srgbClr val="B1B0AD"/>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B1B0AD"/>
                      </a:solidFill>
                      <a:prstDash val="solid"/>
                      <a:round/>
                      <a:headEnd type="none" w="med" len="med"/>
                      <a:tailEnd type="none" w="med" len="med"/>
                    </a:lnB>
                    <a:solidFill>
                      <a:srgbClr val="DDDCD8"/>
                    </a:solidFill>
                  </a:tcPr>
                </a:tc>
                <a:tc>
                  <a:txBody>
                    <a:bodyPr/>
                    <a:lstStyle/>
                    <a:p>
                      <a:pPr algn="r" indent="0" marL="0">
                        <a:lnSpc>
                          <a:spcPts val="1960"/>
                        </a:lnSpc>
                        <a:buNone/>
                      </a:pPr>
                      <a:r>
                        <a:rPr lang="en-US" sz="1400" b="1" dirty="0">
                          <a:solidFill>
                            <a:srgbClr val="1B3139"/>
                          </a:solidFill>
                          <a:latin typeface="IBM Plex Sans" pitchFamily="34" charset="0"/>
                          <a:ea typeface="IBM Plex Sans" pitchFamily="34" charset="-122"/>
                          <a:cs typeface="IBM Plex Sans" pitchFamily="34" charset="-120"/>
                        </a:rPr>
                        <a:t>Wall, P = 320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0AD"/>
                      </a:solidFill>
                      <a:prstDash val="solid"/>
                      <a:round/>
                      <a:headEnd type="none" w="med" len="med"/>
                      <a:tailEnd type="none" w="med" len="med"/>
                    </a:lnL>
                    <a:lnR w="12700" cap="flat" cmpd="sng" algn="ctr">
                      <a:solidFill>
                        <a:srgbClr val="B1B0AD"/>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B1B0AD"/>
                      </a:solidFill>
                      <a:prstDash val="solid"/>
                      <a:round/>
                      <a:headEnd type="none" w="med" len="med"/>
                      <a:tailEnd type="none" w="med" len="med"/>
                    </a:lnB>
                    <a:solidFill>
                      <a:srgbClr val="DDDCD8"/>
                    </a:solidFill>
                  </a:tcPr>
                </a:tc>
                <a:tc>
                  <a:txBody>
                    <a:bodyPr/>
                    <a:lstStyle/>
                    <a:p>
                      <a:pPr algn="r" indent="0" marL="0">
                        <a:lnSpc>
                          <a:spcPts val="1960"/>
                        </a:lnSpc>
                        <a:buNone/>
                      </a:pPr>
                      <a:r>
                        <a:rPr lang="en-US" sz="1400" b="1" dirty="0">
                          <a:solidFill>
                            <a:srgbClr val="1B3139"/>
                          </a:solidFill>
                          <a:latin typeface="IBM Plex Sans" pitchFamily="34" charset="0"/>
                          <a:ea typeface="IBM Plex Sans" pitchFamily="34" charset="-122"/>
                          <a:cs typeface="IBM Plex Sans" pitchFamily="34" charset="-120"/>
                        </a:rPr>
                        <a:t>Longest task, P = 320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0AD"/>
                      </a:solidFill>
                      <a:prstDash val="solid"/>
                      <a:round/>
                      <a:headEnd type="none" w="med" len="med"/>
                      <a:tailEnd type="none" w="med" len="med"/>
                    </a:lnL>
                    <a:lnR w="12700" cap="flat" cmpd="sng" algn="ctr">
                      <a:solidFill>
                        <a:srgbClr val="B1B0AD"/>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B1B0AD"/>
                      </a:solidFill>
                      <a:prstDash val="solid"/>
                      <a:round/>
                      <a:headEnd type="none" w="med" len="med"/>
                      <a:tailEnd type="none" w="med" len="med"/>
                    </a:lnB>
                    <a:solidFill>
                      <a:srgbClr val="DDDCD8"/>
                    </a:solidFill>
                  </a:tcPr>
                </a:tc>
              </a:tr>
              <a:tr h="386011">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Baseline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B1B0AD"/>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6.96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B1B0AD"/>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18.62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B1B0AD"/>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17.0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B1B0AD"/>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AQE, coalescing 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solidFill>
                      <a:srgbClr val="F9F7F4"/>
                    </a:solidFill>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6.90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solidFill>
                      <a:srgbClr val="F9F7F4"/>
                    </a:solidFill>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18.33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solidFill>
                      <a:srgbClr val="F9F7F4"/>
                    </a:solidFill>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17.5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solidFill>
                      <a:srgbClr val="F9F7F4"/>
                    </a:solidFill>
                  </a:tcPr>
                </a:tc>
              </a:tr>
              <a:tr h="386011">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AQE, coalescing off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7.50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18.38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16.9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r>
            </a:tbl>
          </a:graphicData>
        </a:graphic>
      </p:graphicFrame>
      <p:sp>
        <p:nvSpPr>
          <p:cNvPr id="9" name="Text 6"/>
          <p:cNvSpPr/>
          <p:nvPr/>
        </p:nvSpPr>
        <p:spPr>
          <a:xfrm>
            <a:off x="812800" y="5524351"/>
            <a:ext cx="9810750" cy="546249"/>
          </a:xfrm>
          <a:prstGeom prst="rect">
            <a:avLst/>
          </a:prstGeom>
          <a:noFill/>
          <a:ln/>
        </p:spPr>
        <p:txBody>
          <a:bodyPr wrap="square" lIns="0" tIns="0" rIns="0" bIns="0" rtlCol="0" anchor="t">
            <a:normAutofit/>
          </a:bodyPr>
          <a:lstStyle/>
          <a:p>
            <a:pPr algn="l" indent="0" marL="0">
              <a:lnSpc>
                <a:spcPts val="2059"/>
              </a:lnSpc>
              <a:buNone/>
            </a:pPr>
            <a:r>
              <a:rPr lang="en-US" sz="1420" dirty="0">
                <a:solidFill>
                  <a:srgbClr val="44555B"/>
                </a:solidFill>
                <a:latin typeface="IBM Plex Sans" pitchFamily="34" charset="0"/>
                <a:ea typeface="IBM Plex Sans" pitchFamily="34" charset="-122"/>
                <a:cs typeface="IBM Plex Sans" pitchFamily="34" charset="-120"/>
              </a:rPr>
              <a:t>With coalescing off, AQE is no better than no AQE. Fewer tasks lower fixed per-task overhead, which does nothing for a straggler.</a:t>
            </a:r>
            <a:endParaRPr lang="en-US" sz="1420" dirty="0"/>
          </a:p>
        </p:txBody>
      </p:sp>
      <p:sp>
        <p:nvSpPr>
          <p:cNvPr id="10" name="Shape 7"/>
          <p:cNvSpPr/>
          <p:nvPr/>
        </p:nvSpPr>
        <p:spPr>
          <a:xfrm>
            <a:off x="0" y="0"/>
            <a:ext cx="12192000" cy="406400"/>
          </a:xfrm>
          <a:prstGeom prst="rect">
            <a:avLst/>
          </a:prstGeom>
          <a:solidFill>
            <a:srgbClr val="1B3139"/>
          </a:solidFill>
          <a:ln/>
        </p:spPr>
      </p:sp>
      <p:sp>
        <p:nvSpPr>
          <p:cNvPr id="11" name="Shape 8"/>
          <p:cNvSpPr/>
          <p:nvPr/>
        </p:nvSpPr>
        <p:spPr>
          <a:xfrm>
            <a:off x="0" y="393700"/>
            <a:ext cx="12192000" cy="0"/>
          </a:xfrm>
          <a:prstGeom prst="line">
            <a:avLst/>
          </a:prstGeom>
          <a:noFill/>
          <a:ln w="25400">
            <a:solidFill>
              <a:srgbClr val="FF3621"/>
            </a:solidFill>
            <a:prstDash val="solid"/>
          </a:ln>
        </p:spPr>
      </p:sp>
      <p:sp>
        <p:nvSpPr>
          <p:cNvPr id="12" name="Text 9"/>
          <p:cNvSpPr/>
          <p:nvPr/>
        </p:nvSpPr>
        <p:spPr>
          <a:xfrm>
            <a:off x="812800" y="8890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9F7F4"/>
                </a:solidFill>
                <a:latin typeface="IBM Plex Sans" pitchFamily="34" charset="0"/>
                <a:ea typeface="IBM Plex Sans" pitchFamily="34" charset="-122"/>
                <a:cs typeface="IBM Plex Sans" pitchFamily="34" charset="-120"/>
              </a:rPr>
              <a:t>skewbench › AQE vs Salting in Apache Spark</a:t>
            </a:r>
            <a:endParaRPr lang="en-US" sz="1200" dirty="0"/>
          </a:p>
        </p:txBody>
      </p:sp>
      <p:sp>
        <p:nvSpPr>
          <p:cNvPr id="13" name="Text 10"/>
          <p:cNvSpPr/>
          <p:nvPr/>
        </p:nvSpPr>
        <p:spPr>
          <a:xfrm>
            <a:off x="8108950" y="8890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4CFD1"/>
                </a:solidFill>
                <a:latin typeface="IBM Plex Sans" pitchFamily="34" charset="0"/>
                <a:ea typeface="IBM Plex Sans" pitchFamily="34" charset="-122"/>
                <a:cs typeface="IBM Plex Sans" pitchFamily="34" charset="-120"/>
              </a:rPr>
              <a:t>Aditya Malviya</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8240F"/>
                </a:solidFill>
                <a:latin typeface="IBM Plex Sans" pitchFamily="34" charset="0"/>
                <a:ea typeface="IBM Plex Sans" pitchFamily="34" charset="-122"/>
                <a:cs typeface="IBM Plex Sans" pitchFamily="34" charset="-120"/>
              </a:rPr>
              <a:t>FINDING 4 · THE CLEANEST RESULT</a:t>
            </a:r>
            <a:endParaRPr lang="en-US" sz="1300" dirty="0"/>
          </a:p>
        </p:txBody>
      </p:sp>
      <p:sp>
        <p:nvSpPr>
          <p:cNvPr id="3" name="Text 1"/>
          <p:cNvSpPr/>
          <p:nvPr>
            <p:ph type="title"/>
          </p:nvPr>
        </p:nvSpPr>
        <p:spPr>
          <a:xfrm>
            <a:off x="812800" y="114553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3139"/>
                </a:solidFill>
                <a:latin typeface="IBM Plex Sans" pitchFamily="34" charset="0"/>
                <a:ea typeface="IBM Plex Sans" pitchFamily="34" charset="-122"/>
                <a:cs typeface="IBM Plex Sans" pitchFamily="34" charset="-120"/>
              </a:rPr>
              <a:t>Uniform salting copied 1,818× more rows, exactly as the model predicts</a:t>
            </a:r>
            <a:endParaRPr lang="en-US" sz="3200" dirty="0"/>
          </a:p>
        </p:txBody>
      </p:sp>
      <p:sp>
        <p:nvSpPr>
          <p:cNvPr id="4" name="Text 2"/>
          <p:cNvSpPr/>
          <p:nvPr/>
        </p:nvSpPr>
        <p:spPr>
          <a:xfrm>
            <a:off x="812800" y="238497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55B"/>
                </a:solidFill>
                <a:latin typeface="IBM Plex Sans" pitchFamily="34" charset="0"/>
                <a:ea typeface="IBM Plex Sans" pitchFamily="34" charset="-122"/>
                <a:cs typeface="IBM Plex Sans" pitchFamily="34" charset="-120"/>
              </a:rPr>
              <a:t>Extra shuffle records added per salt value (straight-line fit over k, both R² = 1.000)</a:t>
            </a:r>
            <a:endParaRPr lang="en-US" sz="1400" dirty="0"/>
          </a:p>
        </p:txBody>
      </p:sp>
      <p:sp>
        <p:nvSpPr>
          <p:cNvPr id="5" name="Text 3"/>
          <p:cNvSpPr/>
          <p:nvPr/>
        </p:nvSpPr>
        <p:spPr>
          <a:xfrm>
            <a:off x="812800" y="2983111"/>
            <a:ext cx="22237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3139"/>
                </a:solidFill>
                <a:latin typeface="IBM Plex Sans" pitchFamily="34" charset="0"/>
                <a:ea typeface="IBM Plex Sans" pitchFamily="34" charset="-122"/>
                <a:cs typeface="IBM Plex Sans" pitchFamily="34" charset="-120"/>
              </a:rPr>
              <a:t>Uniform salting</a:t>
            </a:r>
            <a:endParaRPr lang="en-US" sz="1500" dirty="0"/>
          </a:p>
        </p:txBody>
      </p:sp>
      <p:sp>
        <p:nvSpPr>
          <p:cNvPr id="6" name="Shape 4"/>
          <p:cNvSpPr/>
          <p:nvPr/>
        </p:nvSpPr>
        <p:spPr>
          <a:xfrm>
            <a:off x="3124200" y="2938661"/>
            <a:ext cx="6985000" cy="355600"/>
          </a:xfrm>
          <a:prstGeom prst="rect">
            <a:avLst/>
          </a:prstGeom>
          <a:solidFill>
            <a:srgbClr val="9AA3AE"/>
          </a:solidFill>
          <a:ln/>
        </p:spPr>
      </p:sp>
      <p:sp>
        <p:nvSpPr>
          <p:cNvPr id="7" name="Text 5"/>
          <p:cNvSpPr/>
          <p:nvPr/>
        </p:nvSpPr>
        <p:spPr>
          <a:xfrm>
            <a:off x="10261600" y="2983111"/>
            <a:ext cx="75414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3139"/>
                </a:solidFill>
                <a:latin typeface="IBM Plex Sans" pitchFamily="34" charset="0"/>
                <a:ea typeface="IBM Plex Sans" pitchFamily="34" charset="-122"/>
                <a:cs typeface="IBM Plex Sans" pitchFamily="34" charset="-120"/>
              </a:rPr>
              <a:t>20,000</a:t>
            </a:r>
            <a:endParaRPr lang="en-US" sz="1500" dirty="0"/>
          </a:p>
        </p:txBody>
      </p:sp>
      <p:sp>
        <p:nvSpPr>
          <p:cNvPr id="8" name="Text 6"/>
          <p:cNvSpPr/>
          <p:nvPr/>
        </p:nvSpPr>
        <p:spPr>
          <a:xfrm>
            <a:off x="812800" y="3516511"/>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8240F"/>
                </a:solidFill>
                <a:latin typeface="IBM Plex Sans" pitchFamily="34" charset="0"/>
                <a:ea typeface="IBM Plex Sans" pitchFamily="34" charset="-122"/>
                <a:cs typeface="IBM Plex Sans" pitchFamily="34" charset="-120"/>
              </a:rPr>
              <a:t>Selective salting</a:t>
            </a:r>
            <a:endParaRPr lang="en-US" sz="1500" dirty="0"/>
          </a:p>
        </p:txBody>
      </p:sp>
      <p:sp>
        <p:nvSpPr>
          <p:cNvPr id="9" name="Shape 7"/>
          <p:cNvSpPr/>
          <p:nvPr/>
        </p:nvSpPr>
        <p:spPr>
          <a:xfrm>
            <a:off x="3124200" y="3472061"/>
            <a:ext cx="19050" cy="355600"/>
          </a:xfrm>
          <a:prstGeom prst="rect">
            <a:avLst/>
          </a:prstGeom>
          <a:solidFill>
            <a:srgbClr val="FF3621"/>
          </a:solidFill>
          <a:ln/>
        </p:spPr>
      </p:sp>
      <p:sp>
        <p:nvSpPr>
          <p:cNvPr id="10" name="Text 8"/>
          <p:cNvSpPr/>
          <p:nvPr/>
        </p:nvSpPr>
        <p:spPr>
          <a:xfrm>
            <a:off x="3295650" y="3516511"/>
            <a:ext cx="279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8240F"/>
                </a:solidFill>
                <a:latin typeface="IBM Plex Sans" pitchFamily="34" charset="0"/>
                <a:ea typeface="IBM Plex Sans" pitchFamily="34" charset="-122"/>
                <a:cs typeface="IBM Plex Sans" pitchFamily="34" charset="-120"/>
              </a:rPr>
              <a:t>11</a:t>
            </a:r>
            <a:endParaRPr lang="en-US" sz="1500" dirty="0"/>
          </a:p>
        </p:txBody>
      </p:sp>
      <p:sp>
        <p:nvSpPr>
          <p:cNvPr id="11" name="Text 9"/>
          <p:cNvSpPr/>
          <p:nvPr/>
        </p:nvSpPr>
        <p:spPr>
          <a:xfrm>
            <a:off x="3676650" y="3534271"/>
            <a:ext cx="264771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E73"/>
                </a:solidFill>
                <a:latin typeface="IBM Plex Sans" pitchFamily="34" charset="0"/>
                <a:ea typeface="IBM Plex Sans" pitchFamily="34" charset="-122"/>
                <a:cs typeface="IBM Plex Sans" pitchFamily="34" charset="-120"/>
              </a:rPr>
              <a:t>(too small to see at this scale)</a:t>
            </a:r>
            <a:endParaRPr lang="en-US" sz="1300" dirty="0"/>
          </a:p>
        </p:txBody>
      </p:sp>
      <p:sp>
        <p:nvSpPr>
          <p:cNvPr id="12" name="Shape 10"/>
          <p:cNvSpPr/>
          <p:nvPr/>
        </p:nvSpPr>
        <p:spPr>
          <a:xfrm>
            <a:off x="815975" y="4135636"/>
            <a:ext cx="3384550" cy="1263600"/>
          </a:xfrm>
          <a:prstGeom prst="roundRect">
            <a:avLst>
              <a:gd name="adj" fmla="val 2764"/>
            </a:avLst>
          </a:prstGeom>
          <a:solidFill>
            <a:srgbClr val="FFFFFF"/>
          </a:solidFill>
          <a:ln w="6350">
            <a:solidFill>
              <a:srgbClr val="DCE0E2"/>
            </a:solidFill>
            <a:prstDash val="solid"/>
          </a:ln>
        </p:spPr>
      </p:sp>
      <p:sp>
        <p:nvSpPr>
          <p:cNvPr id="13" name="Text 11"/>
          <p:cNvSpPr/>
          <p:nvPr/>
        </p:nvSpPr>
        <p:spPr>
          <a:xfrm>
            <a:off x="1022350" y="4342011"/>
            <a:ext cx="306095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E73"/>
                </a:solidFill>
                <a:latin typeface="IBM Plex Sans" pitchFamily="34" charset="0"/>
                <a:ea typeface="IBM Plex Sans" pitchFamily="34" charset="-122"/>
                <a:cs typeface="IBM Plex Sans" pitchFamily="34" charset="-120"/>
              </a:rPr>
              <a:t>Measured ratio</a:t>
            </a:r>
            <a:endParaRPr lang="en-US" sz="1300" dirty="0"/>
          </a:p>
        </p:txBody>
      </p:sp>
      <p:sp>
        <p:nvSpPr>
          <p:cNvPr id="14" name="Text 12"/>
          <p:cNvSpPr/>
          <p:nvPr/>
        </p:nvSpPr>
        <p:spPr>
          <a:xfrm>
            <a:off x="1022350" y="4623941"/>
            <a:ext cx="3060954"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B3139"/>
                </a:solidFill>
                <a:latin typeface="IBM Plex Sans" pitchFamily="34" charset="0"/>
                <a:ea typeface="IBM Plex Sans" pitchFamily="34" charset="-122"/>
                <a:cs typeface="IBM Plex Sans" pitchFamily="34" charset="-120"/>
              </a:rPr>
              <a:t>1,818</a:t>
            </a:r>
            <a:endParaRPr lang="en-US" sz="3200" dirty="0"/>
          </a:p>
        </p:txBody>
      </p:sp>
      <p:sp>
        <p:nvSpPr>
          <p:cNvPr id="15" name="Shape 13"/>
          <p:cNvSpPr/>
          <p:nvPr/>
        </p:nvSpPr>
        <p:spPr>
          <a:xfrm>
            <a:off x="4410075" y="4135636"/>
            <a:ext cx="3384550" cy="1263600"/>
          </a:xfrm>
          <a:prstGeom prst="roundRect">
            <a:avLst>
              <a:gd name="adj" fmla="val 2764"/>
            </a:avLst>
          </a:prstGeom>
          <a:solidFill>
            <a:srgbClr val="FFFFFF"/>
          </a:solidFill>
          <a:ln w="6350">
            <a:solidFill>
              <a:srgbClr val="DCE0E2"/>
            </a:solidFill>
            <a:prstDash val="solid"/>
          </a:ln>
        </p:spPr>
      </p:sp>
      <p:sp>
        <p:nvSpPr>
          <p:cNvPr id="16" name="Text 14"/>
          <p:cNvSpPr/>
          <p:nvPr/>
        </p:nvSpPr>
        <p:spPr>
          <a:xfrm>
            <a:off x="4616450" y="4342011"/>
            <a:ext cx="306095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E73"/>
                </a:solidFill>
                <a:latin typeface="IBM Plex Sans" pitchFamily="34" charset="0"/>
                <a:ea typeface="IBM Plex Sans" pitchFamily="34" charset="-122"/>
                <a:cs typeface="IBM Plex Sans" pitchFamily="34" charset="-120"/>
              </a:rPr>
              <a:t>Model predicts M ÷ P</a:t>
            </a:r>
            <a:endParaRPr lang="en-US" sz="1300" dirty="0"/>
          </a:p>
        </p:txBody>
      </p:sp>
      <p:sp>
        <p:nvSpPr>
          <p:cNvPr id="17" name="Text 15"/>
          <p:cNvSpPr/>
          <p:nvPr/>
        </p:nvSpPr>
        <p:spPr>
          <a:xfrm>
            <a:off x="4616450" y="4623941"/>
            <a:ext cx="3060954"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B3139"/>
                </a:solidFill>
                <a:latin typeface="IBM Plex Sans" pitchFamily="34" charset="0"/>
                <a:ea typeface="IBM Plex Sans" pitchFamily="34" charset="-122"/>
                <a:cs typeface="IBM Plex Sans" pitchFamily="34" charset="-120"/>
              </a:rPr>
              <a:t>20,000 ÷ 11</a:t>
            </a:r>
            <a:endParaRPr lang="en-US" sz="3200" dirty="0"/>
          </a:p>
        </p:txBody>
      </p:sp>
      <p:sp>
        <p:nvSpPr>
          <p:cNvPr id="18" name="Shape 16"/>
          <p:cNvSpPr/>
          <p:nvPr/>
        </p:nvSpPr>
        <p:spPr>
          <a:xfrm>
            <a:off x="8001000" y="4132461"/>
            <a:ext cx="3378200" cy="1269950"/>
          </a:xfrm>
          <a:prstGeom prst="roundRect">
            <a:avLst>
              <a:gd name="adj" fmla="val 3000"/>
            </a:avLst>
          </a:prstGeom>
          <a:solidFill>
            <a:srgbClr val="1B3139"/>
          </a:solidFill>
          <a:ln/>
        </p:spPr>
      </p:sp>
      <p:sp>
        <p:nvSpPr>
          <p:cNvPr id="19" name="Text 17"/>
          <p:cNvSpPr/>
          <p:nvPr/>
        </p:nvSpPr>
        <p:spPr>
          <a:xfrm>
            <a:off x="8204200" y="4335661"/>
            <a:ext cx="306095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FD1"/>
                </a:solidFill>
                <a:latin typeface="IBM Plex Sans" pitchFamily="34" charset="0"/>
                <a:ea typeface="IBM Plex Sans" pitchFamily="34" charset="-122"/>
                <a:cs typeface="IBM Plex Sans" pitchFamily="34" charset="-120"/>
              </a:rPr>
              <a:t>Verdict</a:t>
            </a:r>
            <a:endParaRPr lang="en-US" sz="1300" dirty="0"/>
          </a:p>
        </p:txBody>
      </p:sp>
      <p:sp>
        <p:nvSpPr>
          <p:cNvPr id="20" name="Text 18"/>
          <p:cNvSpPr/>
          <p:nvPr/>
        </p:nvSpPr>
        <p:spPr>
          <a:xfrm>
            <a:off x="8204200" y="4617591"/>
            <a:ext cx="3060954"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F5F46"/>
                </a:solidFill>
                <a:latin typeface="IBM Plex Sans" pitchFamily="34" charset="0"/>
                <a:ea typeface="IBM Plex Sans" pitchFamily="34" charset="-122"/>
                <a:cs typeface="IBM Plex Sans" pitchFamily="34" charset="-120"/>
              </a:rPr>
              <a:t>Exact match</a:t>
            </a:r>
            <a:endParaRPr lang="en-US" sz="3200" dirty="0"/>
          </a:p>
        </p:txBody>
      </p:sp>
      <p:sp>
        <p:nvSpPr>
          <p:cNvPr id="21" name="Shape 19"/>
          <p:cNvSpPr/>
          <p:nvPr/>
        </p:nvSpPr>
        <p:spPr>
          <a:xfrm>
            <a:off x="0" y="0"/>
            <a:ext cx="12192000" cy="406400"/>
          </a:xfrm>
          <a:prstGeom prst="rect">
            <a:avLst/>
          </a:prstGeom>
          <a:solidFill>
            <a:srgbClr val="1B3139"/>
          </a:solidFill>
          <a:ln/>
        </p:spPr>
      </p:sp>
      <p:sp>
        <p:nvSpPr>
          <p:cNvPr id="22" name="Shape 20"/>
          <p:cNvSpPr/>
          <p:nvPr/>
        </p:nvSpPr>
        <p:spPr>
          <a:xfrm>
            <a:off x="0" y="393700"/>
            <a:ext cx="12192000" cy="0"/>
          </a:xfrm>
          <a:prstGeom prst="line">
            <a:avLst/>
          </a:prstGeom>
          <a:noFill/>
          <a:ln w="25400">
            <a:solidFill>
              <a:srgbClr val="FF3621"/>
            </a:solidFill>
            <a:prstDash val="solid"/>
          </a:ln>
        </p:spPr>
      </p:sp>
      <p:sp>
        <p:nvSpPr>
          <p:cNvPr id="23" name="Text 21"/>
          <p:cNvSpPr/>
          <p:nvPr/>
        </p:nvSpPr>
        <p:spPr>
          <a:xfrm>
            <a:off x="812800" y="8890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9F7F4"/>
                </a:solidFill>
                <a:latin typeface="IBM Plex Sans" pitchFamily="34" charset="0"/>
                <a:ea typeface="IBM Plex Sans" pitchFamily="34" charset="-122"/>
                <a:cs typeface="IBM Plex Sans" pitchFamily="34" charset="-120"/>
              </a:rPr>
              <a:t>skewbench › AQE vs Salting in Apache Spark</a:t>
            </a:r>
            <a:endParaRPr lang="en-US" sz="1200" dirty="0"/>
          </a:p>
        </p:txBody>
      </p:sp>
      <p:sp>
        <p:nvSpPr>
          <p:cNvPr id="24" name="Text 22"/>
          <p:cNvSpPr/>
          <p:nvPr/>
        </p:nvSpPr>
        <p:spPr>
          <a:xfrm>
            <a:off x="8108950" y="8890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4CFD1"/>
                </a:solidFill>
                <a:latin typeface="IBM Plex Sans" pitchFamily="34" charset="0"/>
                <a:ea typeface="IBM Plex Sans" pitchFamily="34" charset="-122"/>
                <a:cs typeface="IBM Plex Sans" pitchFamily="34" charset="-120"/>
              </a:rPr>
              <a:t>Aditya Malviya</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EDE9"/>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8240F"/>
                </a:solidFill>
                <a:latin typeface="IBM Plex Sans" pitchFamily="34" charset="0"/>
                <a:ea typeface="IBM Plex Sans" pitchFamily="34" charset="-122"/>
                <a:cs typeface="IBM Plex Sans" pitchFamily="34" charset="-120"/>
              </a:rPr>
              <a:t>FINDING 5 · REPORTED AS A NEGATIVE RESULT</a:t>
            </a:r>
            <a:endParaRPr lang="en-US" sz="1300" dirty="0"/>
          </a:p>
        </p:txBody>
      </p:sp>
      <p:sp>
        <p:nvSpPr>
          <p:cNvPr id="3" name="Text 1"/>
          <p:cNvSpPr/>
          <p:nvPr>
            <p:ph type="title"/>
          </p:nvPr>
        </p:nvSpPr>
        <p:spPr>
          <a:xfrm>
            <a:off x="812800" y="114553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3139"/>
                </a:solidFill>
                <a:latin typeface="IBM Plex Sans" pitchFamily="34" charset="0"/>
                <a:ea typeface="IBM Plex Sans" pitchFamily="34" charset="-122"/>
                <a:cs typeface="IBM Plex Sans" pitchFamily="34" charset="-120"/>
              </a:rPr>
              <a:t>The formula for the best k could not be validated at this scale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72271"/>
          <a:ext cx="6337300" cy="1930053"/>
        </p:xfrm>
        <a:graphic>
          <a:graphicData uri="http://schemas.openxmlformats.org/drawingml/2006/table">
            <a:tbl>
              <a:tblPr/>
              <a:tblGrid>
                <a:gridCol w="2534920"/>
                <a:gridCol w="1267460"/>
                <a:gridCol w="1267460"/>
                <a:gridCol w="1267460"/>
              </a:tblGrid>
              <a:tr h="386011">
                <a:tc>
                  <a:txBody>
                    <a:bodyPr/>
                    <a:lstStyle/>
                    <a:p>
                      <a:pPr indent="0" marL="0">
                        <a:lnSpc>
                          <a:spcPts val="1960"/>
                        </a:lnSpc>
                        <a:buNone/>
                      </a:pPr>
                      <a:r>
                        <a:rPr lang="en-US" sz="1400" b="1" dirty="0">
                          <a:solidFill>
                            <a:srgbClr val="1B3139"/>
                          </a:solidFill>
                          <a:latin typeface="IBM Plex Sans" pitchFamily="34" charset="0"/>
                          <a:ea typeface="IBM Plex Sans" pitchFamily="34" charset="-122"/>
                          <a:cs typeface="IBM Plex Sans" pitchFamily="34" charset="-120"/>
                        </a:rPr>
                        <a:t>Fit of T(k)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1B0AD"/>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B1B0AD"/>
                      </a:solidFill>
                      <a:prstDash val="solid"/>
                      <a:round/>
                      <a:headEnd type="none" w="med" len="med"/>
                      <a:tailEnd type="none" w="med" len="med"/>
                    </a:lnB>
                    <a:solidFill>
                      <a:srgbClr val="DDDCD8"/>
                    </a:solidFill>
                  </a:tcPr>
                </a:tc>
                <a:tc>
                  <a:txBody>
                    <a:bodyPr/>
                    <a:lstStyle/>
                    <a:p>
                      <a:pPr algn="r" indent="0" marL="0">
                        <a:lnSpc>
                          <a:spcPts val="1960"/>
                        </a:lnSpc>
                        <a:buNone/>
                      </a:pPr>
                      <a:r>
                        <a:rPr lang="en-US" sz="1400" b="1" dirty="0">
                          <a:solidFill>
                            <a:srgbClr val="1B3139"/>
                          </a:solidFill>
                          <a:latin typeface="IBM Plex Sans" pitchFamily="34" charset="0"/>
                          <a:ea typeface="IBM Plex Sans" pitchFamily="34" charset="-122"/>
                          <a:cs typeface="IBM Plex Sans" pitchFamily="34" charset="-120"/>
                        </a:rPr>
                        <a:t>P = 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0AD"/>
                      </a:solidFill>
                      <a:prstDash val="solid"/>
                      <a:round/>
                      <a:headEnd type="none" w="med" len="med"/>
                      <a:tailEnd type="none" w="med" len="med"/>
                    </a:lnL>
                    <a:lnR w="12700" cap="flat" cmpd="sng" algn="ctr">
                      <a:solidFill>
                        <a:srgbClr val="B1B0AD"/>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B1B0AD"/>
                      </a:solidFill>
                      <a:prstDash val="solid"/>
                      <a:round/>
                      <a:headEnd type="none" w="med" len="med"/>
                      <a:tailEnd type="none" w="med" len="med"/>
                    </a:lnB>
                    <a:solidFill>
                      <a:srgbClr val="DDDCD8"/>
                    </a:solidFill>
                  </a:tcPr>
                </a:tc>
                <a:tc>
                  <a:txBody>
                    <a:bodyPr/>
                    <a:lstStyle/>
                    <a:p>
                      <a:pPr algn="r" indent="0" marL="0">
                        <a:lnSpc>
                          <a:spcPts val="1960"/>
                        </a:lnSpc>
                        <a:buNone/>
                      </a:pPr>
                      <a:r>
                        <a:rPr lang="en-US" sz="1400" b="1" dirty="0">
                          <a:solidFill>
                            <a:srgbClr val="1B3139"/>
                          </a:solidFill>
                          <a:latin typeface="IBM Plex Sans" pitchFamily="34" charset="0"/>
                          <a:ea typeface="IBM Plex Sans" pitchFamily="34" charset="-122"/>
                          <a:cs typeface="IBM Plex Sans" pitchFamily="34" charset="-120"/>
                        </a:rPr>
                        <a:t>P = 100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0AD"/>
                      </a:solidFill>
                      <a:prstDash val="solid"/>
                      <a:round/>
                      <a:headEnd type="none" w="med" len="med"/>
                      <a:tailEnd type="none" w="med" len="med"/>
                    </a:lnL>
                    <a:lnR w="12700" cap="flat" cmpd="sng" algn="ctr">
                      <a:solidFill>
                        <a:srgbClr val="B1B0AD"/>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B1B0AD"/>
                      </a:solidFill>
                      <a:prstDash val="solid"/>
                      <a:round/>
                      <a:headEnd type="none" w="med" len="med"/>
                      <a:tailEnd type="none" w="med" len="med"/>
                    </a:lnB>
                    <a:solidFill>
                      <a:srgbClr val="DDDCD8"/>
                    </a:solidFill>
                  </a:tcPr>
                </a:tc>
                <a:tc>
                  <a:txBody>
                    <a:bodyPr/>
                    <a:lstStyle/>
                    <a:p>
                      <a:pPr algn="r" indent="0" marL="0">
                        <a:lnSpc>
                          <a:spcPts val="1960"/>
                        </a:lnSpc>
                        <a:buNone/>
                      </a:pPr>
                      <a:r>
                        <a:rPr lang="en-US" sz="1400" b="1" dirty="0">
                          <a:solidFill>
                            <a:srgbClr val="1B3139"/>
                          </a:solidFill>
                          <a:latin typeface="IBM Plex Sans" pitchFamily="34" charset="0"/>
                          <a:ea typeface="IBM Plex Sans" pitchFamily="34" charset="-122"/>
                          <a:cs typeface="IBM Plex Sans" pitchFamily="34" charset="-120"/>
                        </a:rPr>
                        <a:t>P = 320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0AD"/>
                      </a:solidFill>
                      <a:prstDash val="solid"/>
                      <a:round/>
                      <a:headEnd type="none" w="med" len="med"/>
                      <a:tailEnd type="none" w="med" len="med"/>
                    </a:lnL>
                    <a:lnR w="12700" cap="flat" cmpd="sng" algn="ctr">
                      <a:solidFill>
                        <a:srgbClr val="B1B0AD"/>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B1B0AD"/>
                      </a:solidFill>
                      <a:prstDash val="solid"/>
                      <a:round/>
                      <a:headEnd type="none" w="med" len="med"/>
                      <a:tailEnd type="none" w="med" len="med"/>
                    </a:lnB>
                    <a:solidFill>
                      <a:srgbClr val="DDDCD8"/>
                    </a:solidFill>
                  </a:tcPr>
                </a:tc>
              </a:tr>
              <a:tr h="386011">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R²</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B1B0AD"/>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0.312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B1B0AD"/>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0.288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B1B0AD"/>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0.820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B1B0AD"/>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|b| ÷ se(b)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solidFill>
                      <a:srgbClr val="F9F7F4"/>
                    </a:solidFill>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1.16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solidFill>
                      <a:srgbClr val="F9F7F4"/>
                    </a:solidFill>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0.06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solidFill>
                      <a:srgbClr val="F9F7F4"/>
                    </a:solidFill>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1.14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solidFill>
                      <a:srgbClr val="F9F7F4"/>
                    </a:solidFill>
                  </a:tcPr>
                </a:tc>
              </a:tr>
              <a:tr h="386011">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Copy cost b identified?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BEBDBA"/>
                      </a:solidFill>
                      <a:prstDash val="solid"/>
                      <a:round/>
                      <a:headEnd type="none" w="med" len="med"/>
                      <a:tailEnd type="none" w="med" len="med"/>
                    </a:lnR>
                    <a:lnT w="12700" cap="flat" cmpd="sng" algn="ctr">
                      <a:solidFill>
                        <a:srgbClr val="C7C5C3"/>
                      </a:solidFill>
                      <a:prstDash val="solid"/>
                      <a:round/>
                      <a:headEnd type="none" w="med" len="med"/>
                      <a:tailEnd type="none" w="med" len="med"/>
                    </a:lnT>
                    <a:lnB w="12700" cap="flat" cmpd="sng" algn="ctr">
                      <a:solidFill>
                        <a:srgbClr val="BEBDBA"/>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BDBA"/>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solidFill>
                      <a:srgbClr val="F9F7F4"/>
                    </a:solidFill>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solidFill>
                      <a:srgbClr val="F9F7F4"/>
                    </a:solidFill>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solidFill>
                      <a:srgbClr val="F9F7F4"/>
                    </a:solidFill>
                  </a:tcPr>
                </a:tc>
                <a:tc>
                  <a:txBody>
                    <a:bodyPr/>
                    <a:lstStyle/>
                    <a:p>
                      <a:pPr algn="r" indent="0" marL="0">
                        <a:lnSpc>
                          <a:spcPts val="1960"/>
                        </a:lnSpc>
                        <a:buNone/>
                      </a:pPr>
                      <a:r>
                        <a:rPr lang="en-US" sz="1400" dirty="0">
                          <a:solidFill>
                            <a:srgbClr val="1B3139"/>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3"/>
                      </a:solidFill>
                      <a:prstDash val="solid"/>
                      <a:round/>
                      <a:headEnd type="none" w="med" len="med"/>
                      <a:tailEnd type="none" w="med" len="med"/>
                    </a:lnL>
                    <a:lnR w="12700" cap="flat" cmpd="sng" algn="ctr">
                      <a:solidFill>
                        <a:srgbClr val="C7C5C3"/>
                      </a:solidFill>
                      <a:prstDash val="solid"/>
                      <a:round/>
                      <a:headEnd type="none" w="med" len="med"/>
                      <a:tailEnd type="none" w="med" len="med"/>
                    </a:lnR>
                    <a:lnT w="12700" cap="flat" cmpd="sng" algn="ctr">
                      <a:solidFill>
                        <a:srgbClr val="BEBDBA"/>
                      </a:solidFill>
                      <a:prstDash val="solid"/>
                      <a:round/>
                      <a:headEnd type="none" w="med" len="med"/>
                      <a:tailEnd type="none" w="med" len="med"/>
                    </a:lnT>
                    <a:lnB w="12700" cap="flat" cmpd="sng" algn="ctr">
                      <a:solidFill>
                        <a:srgbClr val="C7C5C3"/>
                      </a:solidFill>
                      <a:prstDash val="solid"/>
                      <a:round/>
                      <a:headEnd type="none" w="med" len="med"/>
                      <a:tailEnd type="none" w="med" len="med"/>
                    </a:lnB>
                    <a:solidFill>
                      <a:srgbClr val="F9F7F4"/>
                    </a:solidFill>
                  </a:tcPr>
                </a:tc>
              </a:tr>
            </a:tbl>
          </a:graphicData>
        </a:graphic>
      </p:graphicFrame>
      <p:sp>
        <p:nvSpPr>
          <p:cNvPr id="5" name="Shape 2"/>
          <p:cNvSpPr/>
          <p:nvPr/>
        </p:nvSpPr>
        <p:spPr>
          <a:xfrm>
            <a:off x="7569200" y="2359571"/>
            <a:ext cx="3810000" cy="1115020"/>
          </a:xfrm>
          <a:prstGeom prst="roundRect">
            <a:avLst>
              <a:gd name="adj" fmla="val 3417"/>
            </a:avLst>
          </a:prstGeom>
          <a:solidFill>
            <a:srgbClr val="1B3139"/>
          </a:solidFill>
          <a:ln/>
        </p:spPr>
      </p:sp>
      <p:sp>
        <p:nvSpPr>
          <p:cNvPr id="6" name="Text 3"/>
          <p:cNvSpPr/>
          <p:nvPr/>
        </p:nvSpPr>
        <p:spPr>
          <a:xfrm>
            <a:off x="7747000" y="2537371"/>
            <a:ext cx="355803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5F46"/>
                </a:solidFill>
                <a:latin typeface="IBM Plex Sans" pitchFamily="34" charset="0"/>
                <a:ea typeface="IBM Plex Sans" pitchFamily="34" charset="-122"/>
                <a:cs typeface="IBM Plex Sans" pitchFamily="34" charset="-120"/>
              </a:rPr>
              <a:t>0 of 3</a:t>
            </a:r>
            <a:endParaRPr lang="en-US" sz="3600" dirty="0"/>
          </a:p>
        </p:txBody>
      </p:sp>
      <p:sp>
        <p:nvSpPr>
          <p:cNvPr id="7" name="Text 4"/>
          <p:cNvSpPr/>
          <p:nvPr/>
        </p:nvSpPr>
        <p:spPr>
          <a:xfrm>
            <a:off x="7747000" y="3065661"/>
            <a:ext cx="355803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FD1"/>
                </a:solidFill>
                <a:latin typeface="IBM Plex Sans" pitchFamily="34" charset="0"/>
                <a:ea typeface="IBM Plex Sans" pitchFamily="34" charset="-122"/>
                <a:cs typeface="IBM Plex Sans" pitchFamily="34" charset="-120"/>
              </a:rPr>
              <a:t>fits resolved the copy cost</a:t>
            </a:r>
            <a:endParaRPr lang="en-US" sz="1300" dirty="0"/>
          </a:p>
        </p:txBody>
      </p:sp>
      <p:sp>
        <p:nvSpPr>
          <p:cNvPr id="8" name="Shape 5"/>
          <p:cNvSpPr/>
          <p:nvPr/>
        </p:nvSpPr>
        <p:spPr>
          <a:xfrm>
            <a:off x="7572375" y="3630166"/>
            <a:ext cx="3803650" cy="1121370"/>
          </a:xfrm>
          <a:prstGeom prst="roundRect">
            <a:avLst>
              <a:gd name="adj" fmla="val 3114"/>
            </a:avLst>
          </a:prstGeom>
          <a:solidFill>
            <a:srgbClr val="F9F7F4"/>
          </a:solidFill>
          <a:ln w="6350">
            <a:solidFill>
              <a:srgbClr val="C8CDD0"/>
            </a:solidFill>
            <a:prstDash val="solid"/>
          </a:ln>
        </p:spPr>
      </p:sp>
      <p:sp>
        <p:nvSpPr>
          <p:cNvPr id="9" name="Text 6"/>
          <p:cNvSpPr/>
          <p:nvPr/>
        </p:nvSpPr>
        <p:spPr>
          <a:xfrm>
            <a:off x="7753350" y="3811141"/>
            <a:ext cx="3544951"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B3139"/>
                </a:solidFill>
                <a:latin typeface="IBM Plex Sans" pitchFamily="34" charset="0"/>
                <a:ea typeface="IBM Plex Sans" pitchFamily="34" charset="-122"/>
                <a:cs typeface="IBM Plex Sans" pitchFamily="34" charset="-120"/>
              </a:rPr>
              <a:t>121×</a:t>
            </a:r>
            <a:endParaRPr lang="en-US" sz="3600" dirty="0"/>
          </a:p>
        </p:txBody>
      </p:sp>
      <p:sp>
        <p:nvSpPr>
          <p:cNvPr id="10" name="Text 7"/>
          <p:cNvSpPr/>
          <p:nvPr/>
        </p:nvSpPr>
        <p:spPr>
          <a:xfrm>
            <a:off x="7753350" y="4339431"/>
            <a:ext cx="354495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55B"/>
                </a:solidFill>
                <a:latin typeface="IBM Plex Sans" pitchFamily="34" charset="0"/>
                <a:ea typeface="IBM Plex Sans" pitchFamily="34" charset="-122"/>
                <a:cs typeface="IBM Plex Sans" pitchFamily="34" charset="-120"/>
              </a:rPr>
              <a:t>spread in fitted γ on one machine</a:t>
            </a:r>
            <a:endParaRPr lang="en-US" sz="1300" dirty="0"/>
          </a:p>
        </p:txBody>
      </p:sp>
      <p:sp>
        <p:nvSpPr>
          <p:cNvPr id="11" name="Text 8"/>
          <p:cNvSpPr/>
          <p:nvPr/>
        </p:nvSpPr>
        <p:spPr>
          <a:xfrm>
            <a:off x="812800" y="5034111"/>
            <a:ext cx="10137775"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4555B"/>
                </a:solidFill>
                <a:latin typeface="IBM Plex Sans" pitchFamily="34" charset="0"/>
                <a:ea typeface="IBM Plex Sans" pitchFamily="34" charset="-122"/>
                <a:cs typeface="IBM Plex Sans" pitchFamily="34" charset="-120"/>
              </a:rPr>
              <a:t>The copy term is real in records but too small to see in wall-clock time on one node. So the code returns no k* rather than a noise-driven one, and k* = √(γH/P) stays theory until it is tested on a cluster.</a:t>
            </a:r>
            <a:endParaRPr lang="en-US" sz="1500" dirty="0"/>
          </a:p>
        </p:txBody>
      </p:sp>
      <p:sp>
        <p:nvSpPr>
          <p:cNvPr id="12" name="Shape 9"/>
          <p:cNvSpPr/>
          <p:nvPr/>
        </p:nvSpPr>
        <p:spPr>
          <a:xfrm>
            <a:off x="0" y="0"/>
            <a:ext cx="12192000" cy="406400"/>
          </a:xfrm>
          <a:prstGeom prst="rect">
            <a:avLst/>
          </a:prstGeom>
          <a:solidFill>
            <a:srgbClr val="1B3139"/>
          </a:solidFill>
          <a:ln/>
        </p:spPr>
      </p:sp>
      <p:sp>
        <p:nvSpPr>
          <p:cNvPr id="13" name="Shape 10"/>
          <p:cNvSpPr/>
          <p:nvPr/>
        </p:nvSpPr>
        <p:spPr>
          <a:xfrm>
            <a:off x="0" y="393700"/>
            <a:ext cx="12192000" cy="0"/>
          </a:xfrm>
          <a:prstGeom prst="line">
            <a:avLst/>
          </a:prstGeom>
          <a:noFill/>
          <a:ln w="25400">
            <a:solidFill>
              <a:srgbClr val="FF3621"/>
            </a:solidFill>
            <a:prstDash val="solid"/>
          </a:ln>
        </p:spPr>
      </p:sp>
      <p:sp>
        <p:nvSpPr>
          <p:cNvPr id="14" name="Text 11"/>
          <p:cNvSpPr/>
          <p:nvPr/>
        </p:nvSpPr>
        <p:spPr>
          <a:xfrm>
            <a:off x="812800" y="8890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9F7F4"/>
                </a:solidFill>
                <a:latin typeface="IBM Plex Sans" pitchFamily="34" charset="0"/>
                <a:ea typeface="IBM Plex Sans" pitchFamily="34" charset="-122"/>
                <a:cs typeface="IBM Plex Sans" pitchFamily="34" charset="-120"/>
              </a:rPr>
              <a:t>skewbench › AQE vs Salting in Apache Spark</a:t>
            </a:r>
            <a:endParaRPr lang="en-US" sz="1200" dirty="0"/>
          </a:p>
        </p:txBody>
      </p:sp>
      <p:sp>
        <p:nvSpPr>
          <p:cNvPr id="15" name="Text 12"/>
          <p:cNvSpPr/>
          <p:nvPr/>
        </p:nvSpPr>
        <p:spPr>
          <a:xfrm>
            <a:off x="8108950" y="8890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4CFD1"/>
                </a:solidFill>
                <a:latin typeface="IBM Plex Sans" pitchFamily="34" charset="0"/>
                <a:ea typeface="IBM Plex Sans" pitchFamily="34" charset="-122"/>
                <a:cs typeface="IBM Plex Sans" pitchFamily="34" charset="-120"/>
              </a:rPr>
              <a:t>Aditya Malviya</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139"/>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F5F46"/>
                </a:solidFill>
                <a:latin typeface="IBM Plex Sans" pitchFamily="34" charset="0"/>
                <a:ea typeface="IBM Plex Sans" pitchFamily="34" charset="-122"/>
                <a:cs typeface="IBM Plex Sans" pitchFamily="34" charset="-120"/>
              </a:rPr>
              <a:t>FOR PRACTITIONERS</a:t>
            </a:r>
            <a:endParaRPr lang="en-US" sz="1300" dirty="0"/>
          </a:p>
        </p:txBody>
      </p:sp>
      <p:sp>
        <p:nvSpPr>
          <p:cNvPr id="3" name="Text 1"/>
          <p:cNvSpPr/>
          <p:nvPr>
            <p:ph type="title"/>
          </p:nvPr>
        </p:nvSpPr>
        <p:spPr>
          <a:xfrm>
            <a:off x="812800" y="114553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9F7F4"/>
                </a:solidFill>
                <a:latin typeface="IBM Plex Sans" pitchFamily="34" charset="0"/>
                <a:ea typeface="IBM Plex Sans" pitchFamily="34" charset="-122"/>
                <a:cs typeface="IBM Plex Sans" pitchFamily="34" charset="-120"/>
              </a:rPr>
              <a:t>Five things to check before fixing a skewed join</a:t>
            </a:r>
            <a:endParaRPr lang="en-US" sz="3200" dirty="0"/>
          </a:p>
        </p:txBody>
      </p:sp>
      <p:sp>
        <p:nvSpPr>
          <p:cNvPr id="4" name="Text 2"/>
          <p:cNvSpPr/>
          <p:nvPr/>
        </p:nvSpPr>
        <p:spPr>
          <a:xfrm>
            <a:off x="812800" y="1968450"/>
            <a:ext cx="355600" cy="8255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5F46"/>
                </a:solidFill>
                <a:latin typeface="IBM Plex Sans" pitchFamily="34" charset="0"/>
                <a:ea typeface="IBM Plex Sans" pitchFamily="34" charset="-122"/>
                <a:cs typeface="IBM Plex Sans" pitchFamily="34" charset="-120"/>
              </a:rPr>
              <a:t>1</a:t>
            </a:r>
            <a:endParaRPr lang="en-US" sz="2800" dirty="0"/>
          </a:p>
        </p:txBody>
      </p:sp>
      <p:sp>
        <p:nvSpPr>
          <p:cNvPr id="5" name="Text 3"/>
          <p:cNvSpPr/>
          <p:nvPr/>
        </p:nvSpPr>
        <p:spPr>
          <a:xfrm>
            <a:off x="1295400" y="1968450"/>
            <a:ext cx="494461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9F7F4"/>
                </a:solidFill>
                <a:latin typeface="IBM Plex Sans" pitchFamily="34" charset="0"/>
                <a:ea typeface="IBM Plex Sans" pitchFamily="34" charset="-122"/>
                <a:cs typeface="IBM Plex Sans" pitchFamily="34" charset="-120"/>
              </a:rPr>
              <a:t>If the dimension table fits under the broadcast threshold, broadcast it and stop.</a:t>
            </a:r>
            <a:endParaRPr lang="en-US" sz="1500" dirty="0"/>
          </a:p>
        </p:txBody>
      </p:sp>
      <p:sp>
        <p:nvSpPr>
          <p:cNvPr id="6" name="Text 4"/>
          <p:cNvSpPr/>
          <p:nvPr/>
        </p:nvSpPr>
        <p:spPr>
          <a:xfrm>
            <a:off x="6096000" y="1968450"/>
            <a:ext cx="355600" cy="8255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5F46"/>
                </a:solidFill>
                <a:latin typeface="IBM Plex Sans" pitchFamily="34" charset="0"/>
                <a:ea typeface="IBM Plex Sans" pitchFamily="34" charset="-122"/>
                <a:cs typeface="IBM Plex Sans" pitchFamily="34" charset="-120"/>
              </a:rPr>
              <a:t>2</a:t>
            </a:r>
            <a:endParaRPr lang="en-US" sz="2800" dirty="0"/>
          </a:p>
        </p:txBody>
      </p:sp>
      <p:sp>
        <p:nvSpPr>
          <p:cNvPr id="7" name="Text 5"/>
          <p:cNvSpPr/>
          <p:nvPr/>
        </p:nvSpPr>
        <p:spPr>
          <a:xfrm>
            <a:off x="6578600" y="1968450"/>
            <a:ext cx="494461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9F7F4"/>
                </a:solidFill>
                <a:latin typeface="IBM Plex Sans" pitchFamily="34" charset="0"/>
                <a:ea typeface="IBM Plex Sans" pitchFamily="34" charset="-122"/>
                <a:cs typeface="IBM Plex Sans" pitchFamily="34" charset="-120"/>
              </a:rPr>
              <a:t>Compare the hot partition with </a:t>
            </a:r>
            <a:r>
              <a:rPr lang="en-US" sz="1500" b="1" dirty="0">
                <a:solidFill>
                  <a:srgbClr val="F9F7F4"/>
                </a:solidFill>
                <a:latin typeface="IBM Plex Sans" pitchFamily="34" charset="0"/>
                <a:ea typeface="IBM Plex Sans" pitchFamily="34" charset="-122"/>
                <a:cs typeface="IBM Plex Sans" pitchFamily="34" charset="-120"/>
              </a:rPr>
              <a:t>advisoryPartitionSizeInBytes</a:t>
            </a:r>
            <a:r>
              <a:rPr lang="en-US" sz="1500" dirty="0">
                <a:solidFill>
                  <a:srgbClr val="F9F7F4"/>
                </a:solidFill>
                <a:latin typeface="IBM Plex Sans" pitchFamily="34" charset="0"/>
                <a:ea typeface="IBM Plex Sans" pitchFamily="34" charset="-122"/>
                <a:cs typeface="IBM Plex Sans" pitchFamily="34" charset="-120"/>
              </a:rPr>
              <a:t>. If it is smaller, AQE silently does nothing.</a:t>
            </a:r>
            <a:endParaRPr lang="en-US" sz="1500" dirty="0"/>
          </a:p>
        </p:txBody>
      </p:sp>
      <p:sp>
        <p:nvSpPr>
          <p:cNvPr id="8" name="Text 6"/>
          <p:cNvSpPr/>
          <p:nvPr/>
        </p:nvSpPr>
        <p:spPr>
          <a:xfrm>
            <a:off x="812800" y="2768550"/>
            <a:ext cx="355600" cy="5588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5F46"/>
                </a:solidFill>
                <a:latin typeface="IBM Plex Sans" pitchFamily="34" charset="0"/>
                <a:ea typeface="IBM Plex Sans" pitchFamily="34" charset="-122"/>
                <a:cs typeface="IBM Plex Sans" pitchFamily="34" charset="-120"/>
              </a:rPr>
              <a:t>3</a:t>
            </a:r>
            <a:endParaRPr lang="en-US" sz="2800" dirty="0"/>
          </a:p>
        </p:txBody>
      </p:sp>
      <p:sp>
        <p:nvSpPr>
          <p:cNvPr id="9" name="Text 7"/>
          <p:cNvSpPr/>
          <p:nvPr/>
        </p:nvSpPr>
        <p:spPr>
          <a:xfrm>
            <a:off x="1295400" y="2768550"/>
            <a:ext cx="494461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9F7F4"/>
                </a:solidFill>
                <a:latin typeface="IBM Plex Sans" pitchFamily="34" charset="0"/>
                <a:ea typeface="IBM Plex Sans" pitchFamily="34" charset="-122"/>
                <a:cs typeface="IBM Plex Sans" pitchFamily="34" charset="-120"/>
              </a:rPr>
              <a:t>Check μ with one sampled group-by: one-sided skew suits AQE, two-sided skew needs salting.</a:t>
            </a:r>
            <a:endParaRPr lang="en-US" sz="1500" dirty="0"/>
          </a:p>
        </p:txBody>
      </p:sp>
      <p:sp>
        <p:nvSpPr>
          <p:cNvPr id="10" name="Text 8"/>
          <p:cNvSpPr/>
          <p:nvPr/>
        </p:nvSpPr>
        <p:spPr>
          <a:xfrm>
            <a:off x="6096000" y="2768550"/>
            <a:ext cx="355600" cy="5588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5F46"/>
                </a:solidFill>
                <a:latin typeface="IBM Plex Sans" pitchFamily="34" charset="0"/>
                <a:ea typeface="IBM Plex Sans" pitchFamily="34" charset="-122"/>
                <a:cs typeface="IBM Plex Sans" pitchFamily="34" charset="-120"/>
              </a:rPr>
              <a:t>4</a:t>
            </a:r>
            <a:endParaRPr lang="en-US" sz="2800" dirty="0"/>
          </a:p>
        </p:txBody>
      </p:sp>
      <p:sp>
        <p:nvSpPr>
          <p:cNvPr id="11" name="Text 9"/>
          <p:cNvSpPr/>
          <p:nvPr/>
        </p:nvSpPr>
        <p:spPr>
          <a:xfrm>
            <a:off x="6578600" y="2768550"/>
            <a:ext cx="494461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9F7F4"/>
                </a:solidFill>
                <a:latin typeface="IBM Plex Sans" pitchFamily="34" charset="0"/>
                <a:ea typeface="IBM Plex Sans" pitchFamily="34" charset="-122"/>
                <a:cs typeface="IBM Plex Sans" pitchFamily="34" charset="-120"/>
              </a:rPr>
              <a:t>Salt selectively, not uniformly. Here it copied 1,818× fewer rows.</a:t>
            </a:r>
            <a:endParaRPr lang="en-US" sz="1500" dirty="0"/>
          </a:p>
        </p:txBody>
      </p:sp>
      <p:sp>
        <p:nvSpPr>
          <p:cNvPr id="12" name="Text 10"/>
          <p:cNvSpPr/>
          <p:nvPr/>
        </p:nvSpPr>
        <p:spPr>
          <a:xfrm>
            <a:off x="812800" y="3301950"/>
            <a:ext cx="355600" cy="5588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5F46"/>
                </a:solidFill>
                <a:latin typeface="IBM Plex Sans" pitchFamily="34" charset="0"/>
                <a:ea typeface="IBM Plex Sans" pitchFamily="34" charset="-122"/>
                <a:cs typeface="IBM Plex Sans" pitchFamily="34" charset="-120"/>
              </a:rPr>
              <a:t>5</a:t>
            </a:r>
            <a:endParaRPr lang="en-US" sz="2800" dirty="0"/>
          </a:p>
        </p:txBody>
      </p:sp>
      <p:sp>
        <p:nvSpPr>
          <p:cNvPr id="13" name="Text 11"/>
          <p:cNvSpPr/>
          <p:nvPr/>
        </p:nvSpPr>
        <p:spPr>
          <a:xfrm>
            <a:off x="1295400" y="3301950"/>
            <a:ext cx="494461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9F7F4"/>
                </a:solidFill>
                <a:latin typeface="IBM Plex Sans" pitchFamily="34" charset="0"/>
                <a:ea typeface="IBM Plex Sans" pitchFamily="34" charset="-122"/>
                <a:cs typeface="IBM Plex Sans" pitchFamily="34" charset="-120"/>
              </a:rPr>
              <a:t>Cap k at min(ρ, task slots); past that, salting is pure waste.</a:t>
            </a:r>
            <a:endParaRPr lang="en-US" sz="1500" dirty="0"/>
          </a:p>
        </p:txBody>
      </p:sp>
      <p:sp>
        <p:nvSpPr>
          <p:cNvPr id="14" name="Text 12"/>
          <p:cNvSpPr/>
          <p:nvPr/>
        </p:nvSpPr>
        <p:spPr>
          <a:xfrm>
            <a:off x="6096000" y="3301950"/>
            <a:ext cx="355600" cy="5588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50A0E6"/>
                </a:solidFill>
                <a:latin typeface="IBM Plex Sans" pitchFamily="34" charset="0"/>
                <a:ea typeface="IBM Plex Sans" pitchFamily="34" charset="-122"/>
                <a:cs typeface="IBM Plex Sans" pitchFamily="34" charset="-120"/>
              </a:rPr>
              <a:t>+</a:t>
            </a:r>
            <a:endParaRPr lang="en-US" sz="2800" dirty="0"/>
          </a:p>
        </p:txBody>
      </p:sp>
      <p:sp>
        <p:nvSpPr>
          <p:cNvPr id="15" name="Text 13"/>
          <p:cNvSpPr/>
          <p:nvPr/>
        </p:nvSpPr>
        <p:spPr>
          <a:xfrm>
            <a:off x="6578600" y="3301950"/>
            <a:ext cx="494461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4CFD1"/>
                </a:solidFill>
                <a:latin typeface="IBM Plex Sans" pitchFamily="34" charset="0"/>
                <a:ea typeface="IBM Plex Sans" pitchFamily="34" charset="-122"/>
                <a:cs typeface="IBM Plex Sans" pitchFamily="34" charset="-120"/>
              </a:rPr>
              <a:t>Measure your own noise floor before calling any speedup real.</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8240F"/>
                </a:solidFill>
                <a:latin typeface="IBM Plex Sans" pitchFamily="34" charset="0"/>
                <a:ea typeface="IBM Plex Sans" pitchFamily="34" charset="-122"/>
                <a:cs typeface="IBM Plex Sans" pitchFamily="34" charset="-120"/>
              </a:rPr>
              <a:t>LIMITS AND NEXT STEPS</a:t>
            </a:r>
            <a:endParaRPr lang="en-US" sz="1300" dirty="0"/>
          </a:p>
        </p:txBody>
      </p:sp>
      <p:sp>
        <p:nvSpPr>
          <p:cNvPr id="3" name="Text 1"/>
          <p:cNvSpPr/>
          <p:nvPr>
            <p:ph type="title"/>
          </p:nvPr>
        </p:nvSpPr>
        <p:spPr>
          <a:xfrm>
            <a:off x="812800" y="114553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3139"/>
                </a:solidFill>
                <a:latin typeface="IBM Plex Sans" pitchFamily="34" charset="0"/>
                <a:ea typeface="IBM Plex Sans" pitchFamily="34" charset="-122"/>
                <a:cs typeface="IBM Plex Sans" pitchFamily="34" charset="-120"/>
              </a:rPr>
              <a:t>What one node can and cannot show</a:t>
            </a:r>
            <a:endParaRPr lang="en-US" sz="3200" dirty="0"/>
          </a:p>
        </p:txBody>
      </p:sp>
      <p:sp>
        <p:nvSpPr>
          <p:cNvPr id="4" name="Text 2"/>
          <p:cNvSpPr/>
          <p:nvPr/>
        </p:nvSpPr>
        <p:spPr>
          <a:xfrm>
            <a:off x="812800" y="1968450"/>
            <a:ext cx="491845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3139"/>
                </a:solidFill>
                <a:latin typeface="IBM Plex Sans" pitchFamily="34" charset="0"/>
                <a:ea typeface="IBM Plex Sans" pitchFamily="34" charset="-122"/>
                <a:cs typeface="IBM Plex Sans" pitchFamily="34" charset="-120"/>
              </a:rPr>
              <a:t>Stated limits</a:t>
            </a:r>
            <a:endParaRPr lang="en-US" sz="1800" dirty="0"/>
          </a:p>
        </p:txBody>
      </p:sp>
      <p:sp>
        <p:nvSpPr>
          <p:cNvPr id="5" name="Text 3"/>
          <p:cNvSpPr/>
          <p:nvPr/>
        </p:nvSpPr>
        <p:spPr>
          <a:xfrm>
            <a:off x="891032" y="2369741"/>
            <a:ext cx="4832604" cy="16256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4555B"/>
                </a:solidFill>
                <a:latin typeface="IBM Plex Sans" pitchFamily="34" charset="0"/>
                <a:ea typeface="IBM Plex Sans" pitchFamily="34" charset="-122"/>
                <a:cs typeface="IBM Plex Sans" pitchFamily="34" charset="-120"/>
              </a:rPr>
              <a:t>One node, 2 cores: wall-clock times do not transfer to a cluster</a:t>
            </a:r>
            <a:endParaRPr lang="en-US" sz="1400" dirty="0"/>
          </a:p>
          <a:p>
            <a:pPr algn="l" marL="175768" indent="-175768">
              <a:lnSpc>
                <a:spcPts val="2100"/>
              </a:lnSpc>
              <a:buSzPct val="100000"/>
              <a:buChar char="•"/>
            </a:pPr>
            <a:r>
              <a:rPr lang="en-US" sz="1400" dirty="0">
                <a:solidFill>
                  <a:srgbClr val="44555B"/>
                </a:solidFill>
                <a:latin typeface="IBM Plex Sans" pitchFamily="34" charset="0"/>
                <a:ea typeface="IBM Plex Sans" pitchFamily="34" charset="-122"/>
                <a:cs typeface="IBM Plex Sans" pitchFamily="34" charset="-120"/>
              </a:rPr>
              <a:t>Synthetic Zipf data, not production key distributions</a:t>
            </a:r>
            <a:endParaRPr lang="en-US" sz="1400" dirty="0"/>
          </a:p>
          <a:p>
            <a:pPr algn="l" marL="175768" indent="-175768">
              <a:lnSpc>
                <a:spcPts val="2100"/>
              </a:lnSpc>
              <a:buSzPct val="100000"/>
              <a:buChar char="•"/>
            </a:pPr>
            <a:r>
              <a:rPr lang="en-US" sz="1400" dirty="0">
                <a:solidFill>
                  <a:srgbClr val="44555B"/>
                </a:solidFill>
                <a:latin typeface="IBM Plex Sans" pitchFamily="34" charset="0"/>
                <a:ea typeface="IBM Plex Sans" pitchFamily="34" charset="-122"/>
                <a:cs typeface="IBM Plex Sans" pitchFamily="34" charset="-120"/>
              </a:rPr>
              <a:t>Probe-side hot key capped at μ times the mean</a:t>
            </a:r>
            <a:endParaRPr lang="en-US" sz="1400" dirty="0"/>
          </a:p>
          <a:p>
            <a:pPr algn="l" marL="175768" indent="-175768">
              <a:lnSpc>
                <a:spcPts val="2100"/>
              </a:lnSpc>
              <a:buSzPct val="100000"/>
              <a:buChar char="•"/>
            </a:pPr>
            <a:r>
              <a:rPr lang="en-US" sz="1400" dirty="0">
                <a:solidFill>
                  <a:srgbClr val="44555B"/>
                </a:solidFill>
                <a:latin typeface="IBM Plex Sans" pitchFamily="34" charset="0"/>
                <a:ea typeface="IBM Plex Sans" pitchFamily="34" charset="-122"/>
                <a:cs typeface="IBM Plex Sans" pitchFamily="34" charset="-120"/>
              </a:rPr>
              <a:t>One Spark version (3.5.3), inner equi-joins on one key</a:t>
            </a:r>
            <a:endParaRPr lang="en-US" sz="1400" dirty="0"/>
          </a:p>
          <a:p>
            <a:pPr algn="l" marL="175768" indent="-175768">
              <a:lnSpc>
                <a:spcPts val="2100"/>
              </a:lnSpc>
              <a:buSzPct val="100000"/>
              <a:buChar char="•"/>
            </a:pPr>
            <a:r>
              <a:rPr lang="en-US" sz="1400" dirty="0">
                <a:solidFill>
                  <a:srgbClr val="44555B"/>
                </a:solidFill>
                <a:latin typeface="IBM Plex Sans" pitchFamily="34" charset="0"/>
                <a:ea typeface="IBM Plex Sans" pitchFamily="34" charset="-122"/>
                <a:cs typeface="IBM Plex Sans" pitchFamily="34" charset="-120"/>
              </a:rPr>
              <a:t>Dimension table small enough to broadcast</a:t>
            </a:r>
            <a:endParaRPr lang="en-US" sz="1400" dirty="0"/>
          </a:p>
        </p:txBody>
      </p:sp>
      <p:sp>
        <p:nvSpPr>
          <p:cNvPr id="6" name="Shape 4"/>
          <p:cNvSpPr/>
          <p:nvPr/>
        </p:nvSpPr>
        <p:spPr>
          <a:xfrm>
            <a:off x="5994400" y="1968450"/>
            <a:ext cx="5384800" cy="4076750"/>
          </a:xfrm>
          <a:prstGeom prst="roundRect">
            <a:avLst>
              <a:gd name="adj" fmla="val 1246"/>
            </a:avLst>
          </a:prstGeom>
          <a:solidFill>
            <a:srgbClr val="EEEDE9"/>
          </a:solidFill>
          <a:ln/>
        </p:spPr>
      </p:sp>
      <p:sp>
        <p:nvSpPr>
          <p:cNvPr id="7" name="Text 5"/>
          <p:cNvSpPr/>
          <p:nvPr/>
        </p:nvSpPr>
        <p:spPr>
          <a:xfrm>
            <a:off x="6299200" y="2273250"/>
            <a:ext cx="491845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3139"/>
                </a:solidFill>
                <a:latin typeface="IBM Plex Sans" pitchFamily="34" charset="0"/>
                <a:ea typeface="IBM Plex Sans" pitchFamily="34" charset="-122"/>
                <a:cs typeface="IBM Plex Sans" pitchFamily="34" charset="-120"/>
              </a:rPr>
              <a:t>Next steps</a:t>
            </a:r>
            <a:endParaRPr lang="en-US" sz="1800" dirty="0"/>
          </a:p>
        </p:txBody>
      </p:sp>
      <p:sp>
        <p:nvSpPr>
          <p:cNvPr id="8" name="Text 6"/>
          <p:cNvSpPr/>
          <p:nvPr/>
        </p:nvSpPr>
        <p:spPr>
          <a:xfrm>
            <a:off x="6377432" y="2674541"/>
            <a:ext cx="4832604" cy="16256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4555B"/>
                </a:solidFill>
                <a:latin typeface="IBM Plex Sans" pitchFamily="34" charset="0"/>
                <a:ea typeface="IBM Plex Sans" pitchFamily="34" charset="-122"/>
                <a:cs typeface="IBM Plex Sans" pitchFamily="34" charset="-120"/>
              </a:rPr>
              <a:t>Validate on a cluster, where network shuffle should raise b and lower k*</a:t>
            </a:r>
            <a:endParaRPr lang="en-US" sz="1400" dirty="0"/>
          </a:p>
          <a:p>
            <a:pPr algn="l" marL="175768" indent="-175768">
              <a:lnSpc>
                <a:spcPts val="2100"/>
              </a:lnSpc>
              <a:buSzPct val="100000"/>
              <a:buChar char="•"/>
            </a:pPr>
            <a:r>
              <a:rPr lang="en-US" sz="1400" dirty="0">
                <a:solidFill>
                  <a:srgbClr val="44555B"/>
                </a:solidFill>
                <a:latin typeface="IBM Plex Sans" pitchFamily="34" charset="0"/>
                <a:ea typeface="IBM Plex Sans" pitchFamily="34" charset="-122"/>
                <a:cs typeface="IBM Plex Sans" pitchFamily="34" charset="-120"/>
              </a:rPr>
              <a:t>Build k* into Spark’s planner, so salting is computed, not configured</a:t>
            </a:r>
            <a:endParaRPr lang="en-US" sz="1400" dirty="0"/>
          </a:p>
          <a:p>
            <a:pPr algn="l" marL="175768" indent="-175768">
              <a:lnSpc>
                <a:spcPts val="2100"/>
              </a:lnSpc>
              <a:buSzPct val="100000"/>
              <a:buChar char="•"/>
            </a:pPr>
            <a:r>
              <a:rPr lang="en-US" sz="1400" dirty="0">
                <a:solidFill>
                  <a:srgbClr val="44555B"/>
                </a:solidFill>
                <a:latin typeface="IBM Plex Sans" pitchFamily="34" charset="0"/>
                <a:ea typeface="IBM Plex Sans" pitchFamily="34" charset="-122"/>
                <a:cs typeface="IBM Plex Sans" pitchFamily="34" charset="-120"/>
              </a:rPr>
              <a:t>Extend to multi-key joins, outer joins and skew that drifts over time</a:t>
            </a:r>
            <a:endParaRPr lang="en-US" sz="1400" dirty="0"/>
          </a:p>
        </p:txBody>
      </p:sp>
      <p:sp>
        <p:nvSpPr>
          <p:cNvPr id="9" name="Shape 7"/>
          <p:cNvSpPr/>
          <p:nvPr/>
        </p:nvSpPr>
        <p:spPr>
          <a:xfrm>
            <a:off x="0" y="0"/>
            <a:ext cx="12192000" cy="406400"/>
          </a:xfrm>
          <a:prstGeom prst="rect">
            <a:avLst/>
          </a:prstGeom>
          <a:solidFill>
            <a:srgbClr val="1B3139"/>
          </a:solidFill>
          <a:ln/>
        </p:spPr>
      </p:sp>
      <p:sp>
        <p:nvSpPr>
          <p:cNvPr id="10" name="Shape 8"/>
          <p:cNvSpPr/>
          <p:nvPr/>
        </p:nvSpPr>
        <p:spPr>
          <a:xfrm>
            <a:off x="0" y="393700"/>
            <a:ext cx="12192000" cy="0"/>
          </a:xfrm>
          <a:prstGeom prst="line">
            <a:avLst/>
          </a:prstGeom>
          <a:noFill/>
          <a:ln w="25400">
            <a:solidFill>
              <a:srgbClr val="FF3621"/>
            </a:solidFill>
            <a:prstDash val="solid"/>
          </a:ln>
        </p:spPr>
      </p:sp>
      <p:sp>
        <p:nvSpPr>
          <p:cNvPr id="11" name="Text 9"/>
          <p:cNvSpPr/>
          <p:nvPr/>
        </p:nvSpPr>
        <p:spPr>
          <a:xfrm>
            <a:off x="812800" y="8890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9F7F4"/>
                </a:solidFill>
                <a:latin typeface="IBM Plex Sans" pitchFamily="34" charset="0"/>
                <a:ea typeface="IBM Plex Sans" pitchFamily="34" charset="-122"/>
                <a:cs typeface="IBM Plex Sans" pitchFamily="34" charset="-120"/>
              </a:rPr>
              <a:t>skewbench › AQE vs Salting in Apache Spark</a:t>
            </a:r>
            <a:endParaRPr lang="en-US" sz="1200" dirty="0"/>
          </a:p>
        </p:txBody>
      </p:sp>
      <p:sp>
        <p:nvSpPr>
          <p:cNvPr id="12" name="Text 10"/>
          <p:cNvSpPr/>
          <p:nvPr/>
        </p:nvSpPr>
        <p:spPr>
          <a:xfrm>
            <a:off x="8108950" y="88900"/>
            <a:ext cx="3270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4CFD1"/>
                </a:solidFill>
                <a:latin typeface="IBM Plex Sans" pitchFamily="34" charset="0"/>
                <a:ea typeface="IBM Plex Sans" pitchFamily="34" charset="-122"/>
                <a:cs typeface="IBM Plex Sans" pitchFamily="34" charset="-120"/>
              </a:rPr>
              <a:t>Aditya Malviya</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3139"/>
        </a:solidFill>
      </p:bgPr>
    </p:bg>
    <p:spTree>
      <p:nvGrpSpPr>
        <p:cNvPr id="1" name=""/>
        <p:cNvGrpSpPr/>
        <p:nvPr/>
      </p:nvGrpSpPr>
      <p:grpSpPr>
        <a:xfrm>
          <a:off x="0" y="0"/>
          <a:ext cx="0" cy="0"/>
          <a:chOff x="0" y="0"/>
          <a:chExt cx="0" cy="0"/>
        </a:xfrm>
      </p:grpSpPr>
      <p:sp>
        <p:nvSpPr>
          <p:cNvPr id="2" name="Text 0"/>
          <p:cNvSpPr/>
          <p:nvPr/>
        </p:nvSpPr>
        <p:spPr>
          <a:xfrm>
            <a:off x="812800" y="2021830"/>
            <a:ext cx="6200394"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F5F46"/>
                </a:solidFill>
                <a:latin typeface="IBM Plex Sans" pitchFamily="34" charset="0"/>
                <a:ea typeface="IBM Plex Sans" pitchFamily="34" charset="-122"/>
                <a:cs typeface="IBM Plex Sans" pitchFamily="34" charset="-120"/>
              </a:rPr>
              <a:t>THE RESEARCH PAPER</a:t>
            </a:r>
            <a:endParaRPr lang="en-US" sz="1300" dirty="0"/>
          </a:p>
        </p:txBody>
      </p:sp>
      <p:sp>
        <p:nvSpPr>
          <p:cNvPr id="3" name="Text 1"/>
          <p:cNvSpPr/>
          <p:nvPr>
            <p:ph type="title"/>
          </p:nvPr>
        </p:nvSpPr>
        <p:spPr>
          <a:xfrm>
            <a:off x="812800" y="2456160"/>
            <a:ext cx="6200394"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9F7F4"/>
                </a:solidFill>
                <a:latin typeface="IBM Plex Sans" pitchFamily="34" charset="0"/>
                <a:ea typeface="IBM Plex Sans" pitchFamily="34" charset="-122"/>
                <a:cs typeface="IBM Plex Sans" pitchFamily="34" charset="-120"/>
              </a:rPr>
              <a:t>The full paper, all 13 pages</a:t>
            </a:r>
            <a:endParaRPr lang="en-US" sz="4000" dirty="0"/>
          </a:p>
        </p:txBody>
      </p:sp>
      <p:sp>
        <p:nvSpPr>
          <p:cNvPr id="4" name="Text 2"/>
          <p:cNvSpPr/>
          <p:nvPr/>
        </p:nvSpPr>
        <p:spPr>
          <a:xfrm>
            <a:off x="812800" y="3776960"/>
            <a:ext cx="6200394"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C4CFD1"/>
                </a:solidFill>
                <a:latin typeface="IBM Plex Sans" pitchFamily="34" charset="0"/>
                <a:ea typeface="IBM Plex Sans" pitchFamily="34" charset="-122"/>
                <a:cs typeface="IBM Plex Sans" pitchFamily="34" charset="-120"/>
              </a:rPr>
              <a:t>Adaptive Query Execution or Salting? A Cost Model and Decision Procedure for Skewed Joins in Apache Spark</a:t>
            </a:r>
            <a:endParaRPr lang="en-US" sz="1600" dirty="0"/>
          </a:p>
        </p:txBody>
      </p:sp>
      <p:sp>
        <p:nvSpPr>
          <p:cNvPr id="5" name="Text 3"/>
          <p:cNvSpPr/>
          <p:nvPr/>
        </p:nvSpPr>
        <p:spPr>
          <a:xfrm>
            <a:off x="812800" y="4569420"/>
            <a:ext cx="620039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9F7F4"/>
                </a:solidFill>
                <a:latin typeface="IBM Plex Sans" pitchFamily="34" charset="0"/>
                <a:ea typeface="IBM Plex Sans" pitchFamily="34" charset="-122"/>
                <a:cs typeface="IBM Plex Sans" pitchFamily="34" charset="-120"/>
              </a:rPr>
              <a:t>Aditya Malviya · Independent Researcher</a:t>
            </a:r>
            <a:endParaRPr lang="en-US" sz="1500" dirty="0"/>
          </a:p>
        </p:txBody>
      </p:sp>
      <p:pic>
        <p:nvPicPr>
          <p:cNvPr id="6" name="Image 0" descr="First page of the paper: title, author and abstract">    </p:cNvPr>
          <p:cNvPicPr>
            <a:picLocks noChangeAspect="1"/>
          </p:cNvPicPr>
          <p:nvPr/>
        </p:nvPicPr>
        <p:blipFill>
          <a:blip r:embed="rId1"/>
          <a:srcRect l="-8" r="-8" t="0" b="0"/>
          <a:stretch/>
        </p:blipFill>
        <p:spPr>
          <a:xfrm>
            <a:off x="7442200" y="882650"/>
            <a:ext cx="3937000" cy="5092700"/>
          </a:xfrm>
          <a:prstGeom prst="rect">
            <a:avLst/>
          </a:prstGeom>
          <a:effectLst>
            <a:outerShdw sx="100000" sy="100000" kx="0" ky="0" algn="bl" rotWithShape="0" blurRad="406400" dist="152400" dir="5400000">
              <a:srgbClr val="000000">
                <a:alpha val="45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DCE0E2"/>
        </a:solidFill>
      </p:bgPr>
    </p:bg>
    <p:spTree>
      <p:nvGrpSpPr>
        <p:cNvPr id="1" name=""/>
        <p:cNvGrpSpPr/>
        <p:nvPr/>
      </p:nvGrpSpPr>
      <p:grpSpPr>
        <a:xfrm>
          <a:off x="0" y="0"/>
          <a:ext cx="0" cy="0"/>
          <a:chOff x="0" y="0"/>
          <a:chExt cx="0" cy="0"/>
        </a:xfrm>
      </p:grpSpPr>
      <p:pic>
        <p:nvPicPr>
          <p:cNvPr id="2" name="Image 0" descr="Paper page 1: title, abstract and introduction">    </p:cNvPr>
          <p:cNvPicPr>
            <a:picLocks noChangeAspect="1"/>
          </p:cNvPicPr>
          <p:nvPr/>
        </p:nvPicPr>
        <p:blipFill>
          <a:blip r:embed="rId1"/>
          <a:srcRect l="-20" r="-20" t="0" b="0"/>
          <a:stretch/>
        </p:blipFill>
        <p:spPr>
          <a:xfrm>
            <a:off x="1670050" y="495300"/>
            <a:ext cx="4222750" cy="5461000"/>
          </a:xfrm>
          <a:prstGeom prst="rect">
            <a:avLst/>
          </a:prstGeom>
          <a:effectLst>
            <a:outerShdw sx="100000" sy="100000" kx="0" ky="0" algn="bl" rotWithShape="0" blurRad="254000" dist="76200" dir="5400000">
              <a:srgbClr val="14213D">
                <a:alpha val="25000"/>
              </a:srgbClr>
            </a:outerShdw>
          </a:effectLst>
        </p:spPr>
      </p:pic>
      <p:pic>
        <p:nvPicPr>
          <p:cNvPr id="3" name="Image 1" descr="Paper page 2: introduction, contributions and scope">    </p:cNvPr>
          <p:cNvPicPr>
            <a:picLocks noChangeAspect="1"/>
          </p:cNvPicPr>
          <p:nvPr/>
        </p:nvPicPr>
        <p:blipFill>
          <a:blip r:embed="rId2"/>
          <a:srcRect l="-20" r="-20" t="0" b="0"/>
          <a:stretch/>
        </p:blipFill>
        <p:spPr>
          <a:xfrm>
            <a:off x="6299200" y="495300"/>
            <a:ext cx="4222750" cy="5461000"/>
          </a:xfrm>
          <a:prstGeom prst="rect">
            <a:avLst/>
          </a:prstGeom>
          <a:effectLst>
            <a:outerShdw sx="100000" sy="100000" kx="0" ky="0" algn="bl" rotWithShape="0" blurRad="254000" dist="76200" dir="5400000">
              <a:srgbClr val="14213D">
                <a:alpha val="25000"/>
              </a:srgbClr>
            </a:outerShdw>
          </a:effectLst>
        </p:spPr>
      </p:pic>
      <p:sp>
        <p:nvSpPr>
          <p:cNvPr id="4" name="Text 0"/>
          <p:cNvSpPr/>
          <p:nvPr/>
        </p:nvSpPr>
        <p:spPr>
          <a:xfrm>
            <a:off x="654304" y="6289080"/>
            <a:ext cx="108833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55B"/>
                </a:solidFill>
                <a:latin typeface="IBM Plex Sans" pitchFamily="34" charset="0"/>
                <a:ea typeface="IBM Plex Sans" pitchFamily="34" charset="-122"/>
                <a:cs typeface="IBM Plex Sans" pitchFamily="34" charset="-120"/>
              </a:rPr>
              <a:t>Pages 1–2 of 13</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CE0E2"/>
        </a:solidFill>
      </p:bgPr>
    </p:bg>
    <p:spTree>
      <p:nvGrpSpPr>
        <p:cNvPr id="1" name=""/>
        <p:cNvGrpSpPr/>
        <p:nvPr/>
      </p:nvGrpSpPr>
      <p:grpSpPr>
        <a:xfrm>
          <a:off x="0" y="0"/>
          <a:ext cx="0" cy="0"/>
          <a:chOff x="0" y="0"/>
          <a:chExt cx="0" cy="0"/>
        </a:xfrm>
      </p:grpSpPr>
      <p:pic>
        <p:nvPicPr>
          <p:cNvPr id="2" name="Image 0" descr="Paper page 3">    </p:cNvPr>
          <p:cNvPicPr>
            <a:picLocks noChangeAspect="1"/>
          </p:cNvPicPr>
          <p:nvPr/>
        </p:nvPicPr>
        <p:blipFill>
          <a:blip r:embed="rId1"/>
          <a:srcRect l="-20" r="-20" t="0" b="0"/>
          <a:stretch/>
        </p:blipFill>
        <p:spPr>
          <a:xfrm>
            <a:off x="1670050" y="495300"/>
            <a:ext cx="4222750" cy="5461000"/>
          </a:xfrm>
          <a:prstGeom prst="rect">
            <a:avLst/>
          </a:prstGeom>
          <a:effectLst>
            <a:outerShdw sx="100000" sy="100000" kx="0" ky="0" algn="bl" rotWithShape="0" blurRad="254000" dist="76200" dir="5400000">
              <a:srgbClr val="14213D">
                <a:alpha val="25000"/>
              </a:srgbClr>
            </a:outerShdw>
          </a:effectLst>
        </p:spPr>
      </p:pic>
      <p:pic>
        <p:nvPicPr>
          <p:cNvPr id="3" name="Image 1" descr="Paper page 4">    </p:cNvPr>
          <p:cNvPicPr>
            <a:picLocks noChangeAspect="1"/>
          </p:cNvPicPr>
          <p:nvPr/>
        </p:nvPicPr>
        <p:blipFill>
          <a:blip r:embed="rId2"/>
          <a:srcRect l="-20" r="-20" t="0" b="0"/>
          <a:stretch/>
        </p:blipFill>
        <p:spPr>
          <a:xfrm>
            <a:off x="6299200" y="495300"/>
            <a:ext cx="4222750" cy="5461000"/>
          </a:xfrm>
          <a:prstGeom prst="rect">
            <a:avLst/>
          </a:prstGeom>
          <a:effectLst>
            <a:outerShdw sx="100000" sy="100000" kx="0" ky="0" algn="bl" rotWithShape="0" blurRad="254000" dist="76200" dir="5400000">
              <a:srgbClr val="14213D">
                <a:alpha val="25000"/>
              </a:srgbClr>
            </a:outerShdw>
          </a:effectLst>
        </p:spPr>
      </p:pic>
      <p:sp>
        <p:nvSpPr>
          <p:cNvPr id="4" name="Text 0"/>
          <p:cNvSpPr/>
          <p:nvPr/>
        </p:nvSpPr>
        <p:spPr>
          <a:xfrm>
            <a:off x="654304" y="6289080"/>
            <a:ext cx="108833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55B"/>
                </a:solidFill>
                <a:latin typeface="IBM Plex Sans" pitchFamily="34" charset="0"/>
                <a:ea typeface="IBM Plex Sans" pitchFamily="34" charset="-122"/>
                <a:cs typeface="IBM Plex Sans" pitchFamily="34" charset="-120"/>
              </a:rPr>
              <a:t>Pages 3–4 of 13</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DCE0E2"/>
        </a:solidFill>
      </p:bgPr>
    </p:bg>
    <p:spTree>
      <p:nvGrpSpPr>
        <p:cNvPr id="1" name=""/>
        <p:cNvGrpSpPr/>
        <p:nvPr/>
      </p:nvGrpSpPr>
      <p:grpSpPr>
        <a:xfrm>
          <a:off x="0" y="0"/>
          <a:ext cx="0" cy="0"/>
          <a:chOff x="0" y="0"/>
          <a:chExt cx="0" cy="0"/>
        </a:xfrm>
      </p:grpSpPr>
      <p:pic>
        <p:nvPicPr>
          <p:cNvPr id="2" name="Image 0" descr="Paper page 5">    </p:cNvPr>
          <p:cNvPicPr>
            <a:picLocks noChangeAspect="1"/>
          </p:cNvPicPr>
          <p:nvPr/>
        </p:nvPicPr>
        <p:blipFill>
          <a:blip r:embed="rId1"/>
          <a:srcRect l="-20" r="-20" t="0" b="0"/>
          <a:stretch/>
        </p:blipFill>
        <p:spPr>
          <a:xfrm>
            <a:off x="1670050" y="495300"/>
            <a:ext cx="4222750" cy="5461000"/>
          </a:xfrm>
          <a:prstGeom prst="rect">
            <a:avLst/>
          </a:prstGeom>
          <a:effectLst>
            <a:outerShdw sx="100000" sy="100000" kx="0" ky="0" algn="bl" rotWithShape="0" blurRad="254000" dist="76200" dir="5400000">
              <a:srgbClr val="14213D">
                <a:alpha val="25000"/>
              </a:srgbClr>
            </a:outerShdw>
          </a:effectLst>
        </p:spPr>
      </p:pic>
      <p:pic>
        <p:nvPicPr>
          <p:cNvPr id="3" name="Image 1" descr="Paper page 6">    </p:cNvPr>
          <p:cNvPicPr>
            <a:picLocks noChangeAspect="1"/>
          </p:cNvPicPr>
          <p:nvPr/>
        </p:nvPicPr>
        <p:blipFill>
          <a:blip r:embed="rId2"/>
          <a:srcRect l="-20" r="-20" t="0" b="0"/>
          <a:stretch/>
        </p:blipFill>
        <p:spPr>
          <a:xfrm>
            <a:off x="6299200" y="495300"/>
            <a:ext cx="4222750" cy="5461000"/>
          </a:xfrm>
          <a:prstGeom prst="rect">
            <a:avLst/>
          </a:prstGeom>
          <a:effectLst>
            <a:outerShdw sx="100000" sy="100000" kx="0" ky="0" algn="bl" rotWithShape="0" blurRad="254000" dist="76200" dir="5400000">
              <a:srgbClr val="14213D">
                <a:alpha val="25000"/>
              </a:srgbClr>
            </a:outerShdw>
          </a:effectLst>
        </p:spPr>
      </p:pic>
      <p:sp>
        <p:nvSpPr>
          <p:cNvPr id="4" name="Text 0"/>
          <p:cNvSpPr/>
          <p:nvPr/>
        </p:nvSpPr>
        <p:spPr>
          <a:xfrm>
            <a:off x="654304" y="6289080"/>
            <a:ext cx="108833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55B"/>
                </a:solidFill>
                <a:latin typeface="IBM Plex Sans" pitchFamily="34" charset="0"/>
                <a:ea typeface="IBM Plex Sans" pitchFamily="34" charset="-122"/>
                <a:cs typeface="IBM Plex Sans" pitchFamily="34" charset="-120"/>
              </a:rPr>
              <a:t>Pages 5–6 of 13</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DCE0E2"/>
        </a:solidFill>
      </p:bgPr>
    </p:bg>
    <p:spTree>
      <p:nvGrpSpPr>
        <p:cNvPr id="1" name=""/>
        <p:cNvGrpSpPr/>
        <p:nvPr/>
      </p:nvGrpSpPr>
      <p:grpSpPr>
        <a:xfrm>
          <a:off x="0" y="0"/>
          <a:ext cx="0" cy="0"/>
          <a:chOff x="0" y="0"/>
          <a:chExt cx="0" cy="0"/>
        </a:xfrm>
      </p:grpSpPr>
      <p:pic>
        <p:nvPicPr>
          <p:cNvPr id="2" name="Image 0" descr="Paper page 7">    </p:cNvPr>
          <p:cNvPicPr>
            <a:picLocks noChangeAspect="1"/>
          </p:cNvPicPr>
          <p:nvPr/>
        </p:nvPicPr>
        <p:blipFill>
          <a:blip r:embed="rId1"/>
          <a:srcRect l="-20" r="-20" t="0" b="0"/>
          <a:stretch/>
        </p:blipFill>
        <p:spPr>
          <a:xfrm>
            <a:off x="1670050" y="495300"/>
            <a:ext cx="4222750" cy="5461000"/>
          </a:xfrm>
          <a:prstGeom prst="rect">
            <a:avLst/>
          </a:prstGeom>
          <a:effectLst>
            <a:outerShdw sx="100000" sy="100000" kx="0" ky="0" algn="bl" rotWithShape="0" blurRad="254000" dist="76200" dir="5400000">
              <a:srgbClr val="14213D">
                <a:alpha val="25000"/>
              </a:srgbClr>
            </a:outerShdw>
          </a:effectLst>
        </p:spPr>
      </p:pic>
      <p:pic>
        <p:nvPicPr>
          <p:cNvPr id="3" name="Image 1" descr="Paper page 8">    </p:cNvPr>
          <p:cNvPicPr>
            <a:picLocks noChangeAspect="1"/>
          </p:cNvPicPr>
          <p:nvPr/>
        </p:nvPicPr>
        <p:blipFill>
          <a:blip r:embed="rId2"/>
          <a:srcRect l="-20" r="-20" t="0" b="0"/>
          <a:stretch/>
        </p:blipFill>
        <p:spPr>
          <a:xfrm>
            <a:off x="6299200" y="495300"/>
            <a:ext cx="4222750" cy="5461000"/>
          </a:xfrm>
          <a:prstGeom prst="rect">
            <a:avLst/>
          </a:prstGeom>
          <a:effectLst>
            <a:outerShdw sx="100000" sy="100000" kx="0" ky="0" algn="bl" rotWithShape="0" blurRad="254000" dist="76200" dir="5400000">
              <a:srgbClr val="14213D">
                <a:alpha val="25000"/>
              </a:srgbClr>
            </a:outerShdw>
          </a:effectLst>
        </p:spPr>
      </p:pic>
      <p:sp>
        <p:nvSpPr>
          <p:cNvPr id="4" name="Text 0"/>
          <p:cNvSpPr/>
          <p:nvPr/>
        </p:nvSpPr>
        <p:spPr>
          <a:xfrm>
            <a:off x="654304" y="6289080"/>
            <a:ext cx="108833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55B"/>
                </a:solidFill>
                <a:latin typeface="IBM Plex Sans" pitchFamily="34" charset="0"/>
                <a:ea typeface="IBM Plex Sans" pitchFamily="34" charset="-122"/>
                <a:cs typeface="IBM Plex Sans" pitchFamily="34" charset="-120"/>
              </a:rPr>
              <a:t>Pages 7–8 of 13</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DCE0E2"/>
        </a:solidFill>
      </p:bgPr>
    </p:bg>
    <p:spTree>
      <p:nvGrpSpPr>
        <p:cNvPr id="1" name=""/>
        <p:cNvGrpSpPr/>
        <p:nvPr/>
      </p:nvGrpSpPr>
      <p:grpSpPr>
        <a:xfrm>
          <a:off x="0" y="0"/>
          <a:ext cx="0" cy="0"/>
          <a:chOff x="0" y="0"/>
          <a:chExt cx="0" cy="0"/>
        </a:xfrm>
      </p:grpSpPr>
      <p:pic>
        <p:nvPicPr>
          <p:cNvPr id="2" name="Image 0" descr="Paper page 9">    </p:cNvPr>
          <p:cNvPicPr>
            <a:picLocks noChangeAspect="1"/>
          </p:cNvPicPr>
          <p:nvPr/>
        </p:nvPicPr>
        <p:blipFill>
          <a:blip r:embed="rId1"/>
          <a:srcRect l="-20" r="-20" t="0" b="0"/>
          <a:stretch/>
        </p:blipFill>
        <p:spPr>
          <a:xfrm>
            <a:off x="1670050" y="495300"/>
            <a:ext cx="4222750" cy="5461000"/>
          </a:xfrm>
          <a:prstGeom prst="rect">
            <a:avLst/>
          </a:prstGeom>
          <a:effectLst>
            <a:outerShdw sx="100000" sy="100000" kx="0" ky="0" algn="bl" rotWithShape="0" blurRad="254000" dist="76200" dir="5400000">
              <a:srgbClr val="14213D">
                <a:alpha val="25000"/>
              </a:srgbClr>
            </a:outerShdw>
          </a:effectLst>
        </p:spPr>
      </p:pic>
      <p:pic>
        <p:nvPicPr>
          <p:cNvPr id="3" name="Image 1" descr="Paper page 10">    </p:cNvPr>
          <p:cNvPicPr>
            <a:picLocks noChangeAspect="1"/>
          </p:cNvPicPr>
          <p:nvPr/>
        </p:nvPicPr>
        <p:blipFill>
          <a:blip r:embed="rId2"/>
          <a:srcRect l="-20" r="-20" t="0" b="0"/>
          <a:stretch/>
        </p:blipFill>
        <p:spPr>
          <a:xfrm>
            <a:off x="6299200" y="495300"/>
            <a:ext cx="4222750" cy="5461000"/>
          </a:xfrm>
          <a:prstGeom prst="rect">
            <a:avLst/>
          </a:prstGeom>
          <a:effectLst>
            <a:outerShdw sx="100000" sy="100000" kx="0" ky="0" algn="bl" rotWithShape="0" blurRad="254000" dist="76200" dir="5400000">
              <a:srgbClr val="14213D">
                <a:alpha val="25000"/>
              </a:srgbClr>
            </a:outerShdw>
          </a:effectLst>
        </p:spPr>
      </p:pic>
      <p:sp>
        <p:nvSpPr>
          <p:cNvPr id="4" name="Text 0"/>
          <p:cNvSpPr/>
          <p:nvPr/>
        </p:nvSpPr>
        <p:spPr>
          <a:xfrm>
            <a:off x="654304" y="6289080"/>
            <a:ext cx="108833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55B"/>
                </a:solidFill>
                <a:latin typeface="IBM Plex Sans" pitchFamily="34" charset="0"/>
                <a:ea typeface="IBM Plex Sans" pitchFamily="34" charset="-122"/>
                <a:cs typeface="IBM Plex Sans" pitchFamily="34" charset="-120"/>
              </a:rPr>
              <a:t>Pages 9–10 of 13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DCE0E2"/>
        </a:solidFill>
      </p:bgPr>
    </p:bg>
    <p:spTree>
      <p:nvGrpSpPr>
        <p:cNvPr id="1" name=""/>
        <p:cNvGrpSpPr/>
        <p:nvPr/>
      </p:nvGrpSpPr>
      <p:grpSpPr>
        <a:xfrm>
          <a:off x="0" y="0"/>
          <a:ext cx="0" cy="0"/>
          <a:chOff x="0" y="0"/>
          <a:chExt cx="0" cy="0"/>
        </a:xfrm>
      </p:grpSpPr>
      <p:pic>
        <p:nvPicPr>
          <p:cNvPr id="2" name="Image 0" descr="Paper page 11">    </p:cNvPr>
          <p:cNvPicPr>
            <a:picLocks noChangeAspect="1"/>
          </p:cNvPicPr>
          <p:nvPr/>
        </p:nvPicPr>
        <p:blipFill>
          <a:blip r:embed="rId1"/>
          <a:srcRect l="-20" r="-20" t="0" b="0"/>
          <a:stretch/>
        </p:blipFill>
        <p:spPr>
          <a:xfrm>
            <a:off x="1670050" y="495300"/>
            <a:ext cx="4222750" cy="5461000"/>
          </a:xfrm>
          <a:prstGeom prst="rect">
            <a:avLst/>
          </a:prstGeom>
          <a:effectLst>
            <a:outerShdw sx="100000" sy="100000" kx="0" ky="0" algn="bl" rotWithShape="0" blurRad="254000" dist="76200" dir="5400000">
              <a:srgbClr val="14213D">
                <a:alpha val="25000"/>
              </a:srgbClr>
            </a:outerShdw>
          </a:effectLst>
        </p:spPr>
      </p:pic>
      <p:pic>
        <p:nvPicPr>
          <p:cNvPr id="3" name="Image 1" descr="Paper page 12">    </p:cNvPr>
          <p:cNvPicPr>
            <a:picLocks noChangeAspect="1"/>
          </p:cNvPicPr>
          <p:nvPr/>
        </p:nvPicPr>
        <p:blipFill>
          <a:blip r:embed="rId2"/>
          <a:srcRect l="-20" r="-20" t="0" b="0"/>
          <a:stretch/>
        </p:blipFill>
        <p:spPr>
          <a:xfrm>
            <a:off x="6299200" y="495300"/>
            <a:ext cx="4222750" cy="5461000"/>
          </a:xfrm>
          <a:prstGeom prst="rect">
            <a:avLst/>
          </a:prstGeom>
          <a:effectLst>
            <a:outerShdw sx="100000" sy="100000" kx="0" ky="0" algn="bl" rotWithShape="0" blurRad="254000" dist="76200" dir="5400000">
              <a:srgbClr val="14213D">
                <a:alpha val="25000"/>
              </a:srgbClr>
            </a:outerShdw>
          </a:effectLst>
        </p:spPr>
      </p:pic>
      <p:sp>
        <p:nvSpPr>
          <p:cNvPr id="4" name="Text 0"/>
          <p:cNvSpPr/>
          <p:nvPr/>
        </p:nvSpPr>
        <p:spPr>
          <a:xfrm>
            <a:off x="654304" y="6289080"/>
            <a:ext cx="108833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55B"/>
                </a:solidFill>
                <a:latin typeface="IBM Plex Sans" pitchFamily="34" charset="0"/>
                <a:ea typeface="IBM Plex Sans" pitchFamily="34" charset="-122"/>
                <a:cs typeface="IBM Plex Sans" pitchFamily="34" charset="-120"/>
              </a:rPr>
              <a:t>Pages 11–12 of 13</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DCE0E2"/>
        </a:solidFill>
      </p:bgPr>
    </p:bg>
    <p:spTree>
      <p:nvGrpSpPr>
        <p:cNvPr id="1" name=""/>
        <p:cNvGrpSpPr/>
        <p:nvPr/>
      </p:nvGrpSpPr>
      <p:grpSpPr>
        <a:xfrm>
          <a:off x="0" y="0"/>
          <a:ext cx="0" cy="0"/>
          <a:chOff x="0" y="0"/>
          <a:chExt cx="0" cy="0"/>
        </a:xfrm>
      </p:grpSpPr>
      <p:pic>
        <p:nvPicPr>
          <p:cNvPr id="2" name="Image 0" descr="Paper page 13: references">    </p:cNvPr>
          <p:cNvPicPr>
            <a:picLocks noChangeAspect="1"/>
          </p:cNvPicPr>
          <p:nvPr/>
        </p:nvPicPr>
        <p:blipFill>
          <a:blip r:embed="rId1"/>
          <a:srcRect l="-20" r="-20" t="0" b="0"/>
          <a:stretch/>
        </p:blipFill>
        <p:spPr>
          <a:xfrm>
            <a:off x="3984625" y="495300"/>
            <a:ext cx="4222750" cy="5461000"/>
          </a:xfrm>
          <a:prstGeom prst="rect">
            <a:avLst/>
          </a:prstGeom>
          <a:effectLst>
            <a:outerShdw sx="100000" sy="100000" kx="0" ky="0" algn="bl" rotWithShape="0" blurRad="254000" dist="76200" dir="5400000">
              <a:srgbClr val="14213D">
                <a:alpha val="25000"/>
              </a:srgbClr>
            </a:outerShdw>
          </a:effectLst>
        </p:spPr>
      </p:pic>
      <p:sp>
        <p:nvSpPr>
          <p:cNvPr id="3" name="Text 0"/>
          <p:cNvSpPr/>
          <p:nvPr/>
        </p:nvSpPr>
        <p:spPr>
          <a:xfrm>
            <a:off x="654304" y="6289080"/>
            <a:ext cx="108833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55B"/>
                </a:solidFill>
                <a:latin typeface="IBM Plex Sans" pitchFamily="34" charset="0"/>
                <a:ea typeface="IBM Plex Sans" pitchFamily="34" charset="-122"/>
                <a:cs typeface="IBM Plex Sans" pitchFamily="34" charset="-120"/>
              </a:rPr>
              <a:t>Page 13 of 13</a:t>
            </a:r>
            <a:endParaRPr lang="en-US" sz="1200" dirty="0"/>
          </a:p>
        </p:txBody>
      </p:sp>
    </p:spTree>
  </p:cSld>
  <p:clrMapOvr>
    <a:masterClrMapping/>
  </p:clrMapOvr>
</p:sld>
</file>

<file path=ppt/theme/theme1.xml><?xml version="1.0" encoding="utf-8"?>
<a:theme xmlns:a="http://schemas.openxmlformats.org/drawingml/2006/main" name="AQE vs Salting in Apache Spark">
  <a:themeElements>
    <a:clrScheme name="AQE vs Salting in Apache Spark">
      <a:dk1>
        <a:srgbClr val="1B3139"/>
      </a:dk1>
      <a:lt1>
        <a:srgbClr val="F9F7F4"/>
      </a:lt1>
      <a:dk2>
        <a:srgbClr val="536368"/>
      </a:dk2>
      <a:lt2>
        <a:srgbClr val="E3E3E1"/>
      </a:lt2>
      <a:accent1>
        <a:srgbClr val="C8240F"/>
      </a:accent1>
      <a:accent2>
        <a:srgbClr val="FF5F46"/>
      </a:accent2>
      <a:accent3>
        <a:srgbClr val="FF3621"/>
      </a:accent3>
      <a:accent4>
        <a:srgbClr val="0078D4"/>
      </a:accent4>
      <a:accent5>
        <a:srgbClr val="50A0E6"/>
      </a:accent5>
      <a:accent6>
        <a:srgbClr val="44555B"/>
      </a:accent6>
      <a:hlink>
        <a:srgbClr val="0563C1"/>
      </a:hlink>
      <a:folHlink>
        <a:srgbClr val="954F72"/>
      </a:folHlink>
    </a:clrScheme>
    <a:fontScheme name="AQE vs Salting in Apache Spark">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AQE vs Salting in Apache Spark</dc:title>
  <dc:subject/>
  <dc:creator/>
  <cp:lastModifiedBy/>
  <cp:revision>1</cp:revision>
  <dcterms:created xsi:type="dcterms:W3CDTF">2026-10-16T05:18:32Z</dcterms:created>
  <dcterms:modified xsi:type="dcterms:W3CDTF">2026-10-16T05:18:32Z</dcterms:modified>
</cp:coreProperties>
</file>